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first. Verdict: Ship. The primary metric improved significantly and no guardrail was breached. For every 1,000 users, about 11 more achieved checkout conversion with treatment than with control. A difference this large is unlikely to be down to chance. Caveats: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storyline: what we were asked, how we answered it, what we found, what it is worth, and what we recommend.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Restate the question and the decision before any result, so the audience judges the answer against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the answer was produced and why it can be trusted: data, checks, method, independent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point: Conversion +3.2% (p = 0.001).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point: Conversion rises from 34.25% to 35.34%.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point: Treatment led on cumulative conversion throughout the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point: Revenue per user is non-inferior (+2.2%).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Guardrails protect against wins on the primary metric that cost something elsewhere.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point: The lift is largest on iOS; differences between platforms are not significant.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Translate the statistics into business terms: what the change is worth.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what could make the conclusion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decision, then who does what by when.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used per analysis step and the scripts that produced each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list of validation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table of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097280" cy="50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1737360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Arial"/>
              </a:rPr>
              <a:t>Single-button checkout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>
                <a:solidFill>
                  <a:srgbClr val="8C8C8C"/>
                </a:solidFill>
                <a:latin typeface="Arial"/>
              </a:rPr>
              <a:t>Treatment raises checkout conversion by 3.2% vs control (statistically significant)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  <a:latin typeface="Arial"/>
              </a:rPr>
              <a:t>01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36576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2251FF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Treatment raises checkout conversion by 3.2% vs control (statistically significant)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017520" cy="4754880"/>
          </a:xfrm>
          <a:prstGeom prst="rect">
            <a:avLst/>
          </a:prstGeom>
          <a:solidFill>
            <a:srgbClr val="1B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RECOMMENDATION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SHIP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The primary metric improved significantly and no guardrail was breached.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417320"/>
            <a:ext cx="780257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691640"/>
            <a:ext cx="7802575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Should we ship the single-button checkout?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286000"/>
            <a:ext cx="780257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WHAT WE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560320"/>
            <a:ext cx="7802575" cy="1737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251FF"/>
                </a:solidFill>
                <a:latin typeface="Arial"/>
              </a:rPr>
              <a:t>•  </a:t>
            </a:r>
            <a:r>
              <a:rPr sz="1300" b="1">
                <a:solidFill>
                  <a:srgbClr val="1A1A1A"/>
                </a:solidFill>
                <a:latin typeface="Arial"/>
              </a:rPr>
              <a:t>Relative lift in checkout conversion: </a:t>
            </a:r>
            <a:r>
              <a:rPr sz="1300">
                <a:solidFill>
                  <a:srgbClr val="1A1A1A"/>
                </a:solidFill>
                <a:latin typeface="Arial"/>
              </a:rPr>
              <a:t>+3.2% (95% CI [+1.2%, +5.2%])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51FF"/>
                </a:solidFill>
                <a:latin typeface="Arial"/>
              </a:rPr>
              <a:t>•  </a:t>
            </a:r>
            <a:r>
              <a:rPr sz="1300" b="1">
                <a:solidFill>
                  <a:srgbClr val="1A1A1A"/>
                </a:solidFill>
                <a:latin typeface="Arial"/>
              </a:rPr>
              <a:t>Evidence: </a:t>
            </a:r>
            <a:r>
              <a:rPr sz="1300">
                <a:solidFill>
                  <a:srgbClr val="1A1A1A"/>
                </a:solidFill>
                <a:latin typeface="Arial"/>
              </a:rPr>
              <a:t>p = 0.001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51FF"/>
                </a:solidFill>
                <a:latin typeface="Arial"/>
              </a:rPr>
              <a:t>•  </a:t>
            </a:r>
            <a:r>
              <a:rPr sz="1300" b="1">
                <a:solidFill>
                  <a:srgbClr val="1A1A1A"/>
                </a:solidFill>
                <a:latin typeface="Arial"/>
              </a:rPr>
              <a:t>Checkout conversion: </a:t>
            </a:r>
            <a:r>
              <a:rPr sz="1300">
                <a:solidFill>
                  <a:srgbClr val="1A1A1A"/>
                </a:solidFill>
                <a:latin typeface="Arial"/>
              </a:rPr>
              <a:t>control vs treatment: 34.25% vs 35.34%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51FF"/>
                </a:solidFill>
                <a:latin typeface="Arial"/>
              </a:rPr>
              <a:t>•  </a:t>
            </a:r>
            <a:r>
              <a:rPr sz="1300" b="1">
                <a:solidFill>
                  <a:srgbClr val="1A1A1A"/>
                </a:solidFill>
                <a:latin typeface="Arial"/>
              </a:rPr>
              <a:t>Units analysed: </a:t>
            </a:r>
            <a:r>
              <a:rPr sz="1300">
                <a:solidFill>
                  <a:srgbClr val="1A1A1A"/>
                </a:solidFill>
                <a:latin typeface="Arial"/>
              </a:rPr>
              <a:t>control: 40,183 / treatment: 39,817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251FF"/>
                </a:solidFill>
                <a:latin typeface="Arial"/>
              </a:rPr>
              <a:t>•  </a:t>
            </a:r>
            <a:r>
              <a:rPr sz="1300" b="1">
                <a:solidFill>
                  <a:srgbClr val="1A1A1A"/>
                </a:solidFill>
                <a:latin typeface="Arial"/>
              </a:rPr>
              <a:t>Guardrail revenue: </a:t>
            </a:r>
            <a:r>
              <a:rPr sz="1300">
                <a:solidFill>
                  <a:srgbClr val="1A1A1A"/>
                </a:solidFill>
                <a:latin typeface="Arial"/>
              </a:rPr>
              <a:t>pass (+2.2%)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4251960"/>
            <a:ext cx="780257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WHAT IT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526280"/>
            <a:ext cx="7802575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Arial"/>
              </a:rPr>
              <a:t>For every 1,000 users, about 11 more achieved checkout conversion with treatment than with control. A difference this large is unlikely to be down to chance.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5212080"/>
            <a:ext cx="780257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WHAT WE RECOMMEND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5486400"/>
            <a:ext cx="7802575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Roll out the single-button checkout to 100% of 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2026-10-01_checkout-sample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1615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0"/>
            <a:ext cx="502920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19072"/>
            <a:ext cx="914400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Arial"/>
              </a:rPr>
              <a:t>The ask: what we were asked to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77440"/>
            <a:ext cx="502920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450592"/>
            <a:ext cx="914400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Arial"/>
              </a:rPr>
              <a:t>Approach: how we answered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502920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82112"/>
            <a:ext cx="914400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Arial"/>
              </a:rPr>
              <a:t>Findings: what the data shows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40480"/>
            <a:ext cx="502920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13632"/>
            <a:ext cx="914400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Arial"/>
              </a:rPr>
              <a:t>Impact: what it means for the business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572000"/>
            <a:ext cx="502920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645152"/>
            <a:ext cx="914400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Arial"/>
              </a:rPr>
              <a:t>Recommendation: risks, decision and next steps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303520"/>
            <a:ext cx="502920" cy="50292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376672"/>
            <a:ext cx="914400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Arial"/>
              </a:rPr>
              <a:t>Appendix: methodology, validation and full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1118585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2251FF"/>
                </a:solidFill>
                <a:latin typeface="Arial"/>
              </a:rPr>
              <a:t>1  THE ASK      </a:t>
            </a:r>
            <a:r>
              <a:rPr sz="900" b="0">
                <a:solidFill>
                  <a:srgbClr val="8C8C8C"/>
                </a:solidFill>
                <a:latin typeface="Arial"/>
              </a:rPr>
              <a:t>2  APPROACH      </a:t>
            </a:r>
            <a:r>
              <a:rPr sz="900" b="0">
                <a:solidFill>
                  <a:srgbClr val="8C8C8C"/>
                </a:solidFill>
                <a:latin typeface="Arial"/>
              </a:rPr>
              <a:t>3  FINDINGS      </a:t>
            </a:r>
            <a:r>
              <a:rPr sz="900" b="0">
                <a:solidFill>
                  <a:srgbClr val="8C8C8C"/>
                </a:solidFill>
                <a:latin typeface="Arial"/>
              </a:rPr>
              <a:t>4  IMPACT      </a:t>
            </a:r>
            <a:r>
              <a:rPr sz="900" b="0">
                <a:solidFill>
                  <a:srgbClr val="8C8C8C"/>
                </a:solidFill>
                <a:latin typeface="Arial"/>
              </a:rPr>
              <a:t>5 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The ask: Should we ship the single-button checkout?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94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THE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3949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Decide whether to roll out the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5394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OUR 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3949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A single 'Pay now' button raises checkout conversion without lowering revenue per user.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86200"/>
            <a:ext cx="5394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WHAT SUCCESS LOOKS LIKE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60520"/>
            <a:ext cx="53949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Converted must rise by at least 2% (relative) without breaching a guardrail.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08760"/>
            <a:ext cx="524225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WHAT WAS TESTED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46520" y="1828800"/>
          <a:ext cx="524225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211"/>
                <a:gridCol w="3355044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545"/>
                          </a:solidFill>
                          <a:latin typeface="Arial"/>
                        </a:rPr>
                        <a:t>Groups</a:t>
                      </a:r>
                    </a:p>
                  </a:txBody>
                  <a:tcPr marL="91440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control: 40,183, treatment: 39,817</a:t>
                      </a:r>
                    </a:p>
                  </a:txBody>
                  <a:tcPr marL="91440" anchor="ctr">
                    <a:solidFill>
                      <a:srgbClr val="E3E3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545"/>
                          </a:solidFill>
                          <a:latin typeface="Arial"/>
                        </a:rPr>
                        <a:t>Unit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users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545"/>
                          </a:solidFill>
                          <a:latin typeface="Arial"/>
                        </a:rPr>
                        <a:t>Period</a:t>
                      </a:r>
                    </a:p>
                  </a:txBody>
                  <a:tcPr marL="91440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2026-09-01 to 2026-09-14</a:t>
                      </a:r>
                    </a:p>
                  </a:txBody>
                  <a:tcPr marL="91440" anchor="ctr">
                    <a:solidFill>
                      <a:srgbClr val="E3E3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545"/>
                          </a:solidFill>
                          <a:latin typeface="Arial"/>
                        </a:rPr>
                        <a:t>Primary metric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545"/>
                          </a:solidFill>
                          <a:latin typeface="Arial"/>
                        </a:rPr>
                        <a:t>Guardrails</a:t>
                      </a:r>
                    </a:p>
                  </a:txBody>
                  <a:tcPr marL="91440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91440" anchor="ctr">
                    <a:solidFill>
                      <a:srgbClr val="E3E3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2545"/>
                          </a:solidFill>
                          <a:latin typeface="Arial"/>
                        </a:rPr>
                        <a:t>Practical threshold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+2% relative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1118585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Arial"/>
              </a:rPr>
              <a:t>1  THE ASK      </a:t>
            </a:r>
            <a:r>
              <a:rPr sz="900" b="1">
                <a:solidFill>
                  <a:srgbClr val="2251FF"/>
                </a:solidFill>
                <a:latin typeface="Arial"/>
              </a:rPr>
              <a:t>2  APPROACH      </a:t>
            </a:r>
            <a:r>
              <a:rPr sz="900" b="0">
                <a:solidFill>
                  <a:srgbClr val="8C8C8C"/>
                </a:solidFill>
                <a:latin typeface="Arial"/>
              </a:rPr>
              <a:t>3  FINDINGS      </a:t>
            </a:r>
            <a:r>
              <a:rPr sz="900" b="0">
                <a:solidFill>
                  <a:srgbClr val="8C8C8C"/>
                </a:solidFill>
                <a:latin typeface="Arial"/>
              </a:rPr>
              <a:t>4  IMPACT      </a:t>
            </a:r>
            <a:r>
              <a:rPr sz="900" b="0">
                <a:solidFill>
                  <a:srgbClr val="8C8C8C"/>
                </a:solidFill>
                <a:latin typeface="Arial"/>
              </a:rPr>
              <a:t>5 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We answered it with a randomised comparison of 80,000 users, quality checks and an independent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5</a:t>
            </a:r>
          </a:p>
        </p:txBody>
      </p:sp>
      <p:sp>
        <p:nvSpPr>
          <p:cNvPr id="8" name="Pentagon 7"/>
          <p:cNvSpPr/>
          <p:nvPr/>
        </p:nvSpPr>
        <p:spPr>
          <a:xfrm>
            <a:off x="502920" y="1737360"/>
            <a:ext cx="2762173" cy="731520"/>
          </a:xfrm>
          <a:prstGeom prst="homePlat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1.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2487853" cy="2926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Arial"/>
              </a:rPr>
              <a:t>80,000 users in 2 groups (control, treatment). Period: 2026-09-01 to 2026-09-14.</a:t>
            </a:r>
          </a:p>
        </p:txBody>
      </p:sp>
      <p:sp>
        <p:nvSpPr>
          <p:cNvPr id="10" name="Chevron 9"/>
          <p:cNvSpPr/>
          <p:nvPr/>
        </p:nvSpPr>
        <p:spPr>
          <a:xfrm>
            <a:off x="3310813" y="1737360"/>
            <a:ext cx="2762173" cy="731520"/>
          </a:xfrm>
          <a:prstGeom prst="chevron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2. Quality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973" y="2697480"/>
            <a:ext cx="2487853" cy="2926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Arial"/>
              </a:rPr>
              <a:t>12 data checks: overall PASS. Traffic split as intended (p = 0.196).</a:t>
            </a:r>
          </a:p>
        </p:txBody>
      </p:sp>
      <p:sp>
        <p:nvSpPr>
          <p:cNvPr id="12" name="Chevron 11"/>
          <p:cNvSpPr/>
          <p:nvPr/>
        </p:nvSpPr>
        <p:spPr>
          <a:xfrm>
            <a:off x="6118706" y="1737360"/>
            <a:ext cx="2762173" cy="731520"/>
          </a:xfrm>
          <a:prstGeom prst="chevron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3.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5866" y="2697480"/>
            <a:ext cx="2487853" cy="2926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Arial"/>
              </a:rPr>
              <a:t>Two-proportion z-test, plus non-inferiority test, interaction test, effect over time. Judged against a 2% practical threshold.</a:t>
            </a:r>
          </a:p>
        </p:txBody>
      </p:sp>
      <p:sp>
        <p:nvSpPr>
          <p:cNvPr id="14" name="Chevron 13"/>
          <p:cNvSpPr/>
          <p:nvPr/>
        </p:nvSpPr>
        <p:spPr>
          <a:xfrm>
            <a:off x="8926599" y="1737360"/>
            <a:ext cx="2762173" cy="731520"/>
          </a:xfrm>
          <a:prstGeom prst="chevron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4.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3759" y="2697480"/>
            <a:ext cx="2487853" cy="2926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Arial"/>
              </a:rPr>
              <a:t>Independent reviewer re-checked the numbers from the raw data: 1 round, passed.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1118585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Arial"/>
              </a:rPr>
              <a:t>1  THE ASK      </a:t>
            </a:r>
            <a:r>
              <a:rPr sz="900" b="0">
                <a:solidFill>
                  <a:srgbClr val="8C8C8C"/>
                </a:solidFill>
                <a:latin typeface="Arial"/>
              </a:rPr>
              <a:t>2  APPROACH      </a:t>
            </a:r>
            <a:r>
              <a:rPr sz="900" b="1">
                <a:solidFill>
                  <a:srgbClr val="2251FF"/>
                </a:solidFill>
                <a:latin typeface="Arial"/>
              </a:rPr>
              <a:t>3  FINDINGS      </a:t>
            </a:r>
            <a:r>
              <a:rPr sz="900" b="0">
                <a:solidFill>
                  <a:srgbClr val="8C8C8C"/>
                </a:solidFill>
                <a:latin typeface="Arial"/>
              </a:rPr>
              <a:t>4  IMPACT      </a:t>
            </a:r>
            <a:r>
              <a:rPr sz="900" b="0">
                <a:solidFill>
                  <a:srgbClr val="8C8C8C"/>
                </a:solidFill>
                <a:latin typeface="Arial"/>
              </a:rPr>
              <a:t>5 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Treatment lifts checkout conversion by +3.2%, statistically significant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6</a:t>
            </a:r>
          </a:p>
        </p:txBody>
      </p:sp>
      <p:pic>
        <p:nvPicPr>
          <p:cNvPr id="8" name="Picture 7" descr="lift_ci.png"/>
          <p:cNvPicPr>
            <a:picLocks noChangeAspect="1"/>
          </p:cNvPicPr>
          <p:nvPr/>
        </p:nvPicPr>
        <p:blipFill>
          <a:blip r:embed="rId3"/>
          <a:srcRect t="11100"/>
          <a:stretch>
            <a:fillRect/>
          </a:stretch>
        </p:blipFill>
        <p:spPr>
          <a:xfrm>
            <a:off x="502920" y="1463040"/>
            <a:ext cx="7589520" cy="37952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1508760"/>
            <a:ext cx="327629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20240"/>
            <a:ext cx="3276295" cy="4114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 b="1">
                <a:solidFill>
                  <a:srgbClr val="1A1A1A"/>
                </a:solidFill>
                <a:latin typeface="Arial"/>
              </a:rPr>
              <a:t>Conversion: </a:t>
            </a:r>
            <a:r>
              <a:rPr sz="1400">
                <a:solidFill>
                  <a:srgbClr val="1A1A1A"/>
                </a:solidFill>
                <a:latin typeface="Arial"/>
              </a:rPr>
              <a:t>+3.2% relative, CI [+1.2%, +5.2%]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 b="1">
                <a:solidFill>
                  <a:srgbClr val="1A1A1A"/>
                </a:solidFill>
                <a:latin typeface="Arial"/>
              </a:rPr>
              <a:t>Evidence: </a:t>
            </a:r>
            <a:r>
              <a:rPr sz="1400">
                <a:solidFill>
                  <a:srgbClr val="1A1A1A"/>
                </a:solidFill>
                <a:latin typeface="Arial"/>
              </a:rPr>
              <a:t>p = 0.001, above the 2% practical threshold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 b="1">
                <a:solidFill>
                  <a:srgbClr val="1A1A1A"/>
                </a:solidFill>
                <a:latin typeface="Arial"/>
              </a:rPr>
              <a:t>Revenue per user: </a:t>
            </a:r>
            <a:r>
              <a:rPr sz="1400">
                <a:solidFill>
                  <a:srgbClr val="1A1A1A"/>
                </a:solidFill>
                <a:latin typeface="Arial"/>
              </a:rPr>
              <a:t>+2.2%, non-inferiority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1118585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Arial"/>
              </a:rPr>
              <a:t>1  THE ASK      </a:t>
            </a:r>
            <a:r>
              <a:rPr sz="900" b="0">
                <a:solidFill>
                  <a:srgbClr val="8C8C8C"/>
                </a:solidFill>
                <a:latin typeface="Arial"/>
              </a:rPr>
              <a:t>2  APPROACH      </a:t>
            </a:r>
            <a:r>
              <a:rPr sz="900" b="1">
                <a:solidFill>
                  <a:srgbClr val="2251FF"/>
                </a:solidFill>
                <a:latin typeface="Arial"/>
              </a:rPr>
              <a:t>3  FINDINGS      </a:t>
            </a:r>
            <a:r>
              <a:rPr sz="900" b="0">
                <a:solidFill>
                  <a:srgbClr val="8C8C8C"/>
                </a:solidFill>
                <a:latin typeface="Arial"/>
              </a:rPr>
              <a:t>4  IMPACT      </a:t>
            </a:r>
            <a:r>
              <a:rPr sz="900" b="0">
                <a:solidFill>
                  <a:srgbClr val="8C8C8C"/>
                </a:solidFill>
                <a:latin typeface="Arial"/>
              </a:rPr>
              <a:t>5 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Conversion rises from 34.25% to 35.34%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7</a:t>
            </a:r>
          </a:p>
        </p:txBody>
      </p:sp>
      <p:pic>
        <p:nvPicPr>
          <p:cNvPr id="8" name="Picture 7" descr="metric_by_variant.png"/>
          <p:cNvPicPr>
            <a:picLocks noChangeAspect="1"/>
          </p:cNvPicPr>
          <p:nvPr/>
        </p:nvPicPr>
        <p:blipFill>
          <a:blip r:embed="rId3"/>
          <a:srcRect t="11100"/>
          <a:stretch>
            <a:fillRect/>
          </a:stretch>
        </p:blipFill>
        <p:spPr>
          <a:xfrm>
            <a:off x="502920" y="1463040"/>
            <a:ext cx="7589520" cy="37952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1508760"/>
            <a:ext cx="327629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20240"/>
            <a:ext cx="3276295" cy="4114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 b="1">
                <a:solidFill>
                  <a:srgbClr val="1A1A1A"/>
                </a:solidFill>
                <a:latin typeface="Arial"/>
              </a:rPr>
              <a:t>Control: </a:t>
            </a:r>
            <a:r>
              <a:rPr sz="1400">
                <a:solidFill>
                  <a:srgbClr val="1A1A1A"/>
                </a:solidFill>
                <a:latin typeface="Arial"/>
              </a:rPr>
              <a:t>34.25%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 b="1">
                <a:solidFill>
                  <a:srgbClr val="1A1A1A"/>
                </a:solidFill>
                <a:latin typeface="Arial"/>
              </a:rPr>
              <a:t>Treatment: </a:t>
            </a:r>
            <a:r>
              <a:rPr sz="1400">
                <a:solidFill>
                  <a:srgbClr val="1A1A1A"/>
                </a:solidFill>
                <a:latin typeface="Arial"/>
              </a:rPr>
              <a:t>35.34%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 b="1">
                <a:solidFill>
                  <a:srgbClr val="1A1A1A"/>
                </a:solidFill>
                <a:latin typeface="Arial"/>
              </a:rPr>
              <a:t>Absolute change: </a:t>
            </a:r>
            <a:r>
              <a:rPr sz="1400">
                <a:solidFill>
                  <a:srgbClr val="1A1A1A"/>
                </a:solidFill>
                <a:latin typeface="Arial"/>
              </a:rPr>
              <a:t>+1.09 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1118585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Arial"/>
              </a:rPr>
              <a:t>1  THE ASK      </a:t>
            </a:r>
            <a:r>
              <a:rPr sz="900" b="0">
                <a:solidFill>
                  <a:srgbClr val="8C8C8C"/>
                </a:solidFill>
                <a:latin typeface="Arial"/>
              </a:rPr>
              <a:t>2  APPROACH      </a:t>
            </a:r>
            <a:r>
              <a:rPr sz="900" b="1">
                <a:solidFill>
                  <a:srgbClr val="2251FF"/>
                </a:solidFill>
                <a:latin typeface="Arial"/>
              </a:rPr>
              <a:t>3  FINDINGS      </a:t>
            </a:r>
            <a:r>
              <a:rPr sz="900" b="0">
                <a:solidFill>
                  <a:srgbClr val="8C8C8C"/>
                </a:solidFill>
                <a:latin typeface="Arial"/>
              </a:rPr>
              <a:t>4  IMPACT      </a:t>
            </a:r>
            <a:r>
              <a:rPr sz="900" b="0">
                <a:solidFill>
                  <a:srgbClr val="8C8C8C"/>
                </a:solidFill>
                <a:latin typeface="Arial"/>
              </a:rPr>
              <a:t>5 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Treatment led on cumulative conversion throughout the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8</a:t>
            </a:r>
          </a:p>
        </p:txBody>
      </p:sp>
      <p:pic>
        <p:nvPicPr>
          <p:cNvPr id="8" name="Picture 7" descr="cumulative_daily.png"/>
          <p:cNvPicPr>
            <a:picLocks noChangeAspect="1"/>
          </p:cNvPicPr>
          <p:nvPr/>
        </p:nvPicPr>
        <p:blipFill>
          <a:blip r:embed="rId3"/>
          <a:srcRect t="11100"/>
          <a:stretch>
            <a:fillRect/>
          </a:stretch>
        </p:blipFill>
        <p:spPr>
          <a:xfrm>
            <a:off x="502920" y="1463040"/>
            <a:ext cx="7589520" cy="37952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1508760"/>
            <a:ext cx="327629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20240"/>
            <a:ext cx="3276295" cy="4114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>
                <a:solidFill>
                  <a:srgbClr val="1A1A1A"/>
                </a:solidFill>
                <a:latin typeface="Arial"/>
              </a:rPr>
              <a:t>No reversal over the 14 days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>
                <a:solidFill>
                  <a:srgbClr val="1A1A1A"/>
                </a:solidFill>
                <a:latin typeface="Arial"/>
              </a:rPr>
              <a:t>Gap stable after the first week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>
                <a:solidFill>
                  <a:srgbClr val="1A1A1A"/>
                </a:solidFill>
                <a:latin typeface="Arial"/>
              </a:rPr>
              <a:t>No sign of a novelty spike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1118585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Arial"/>
              </a:rPr>
              <a:t>1  THE ASK      </a:t>
            </a:r>
            <a:r>
              <a:rPr sz="900" b="0">
                <a:solidFill>
                  <a:srgbClr val="8C8C8C"/>
                </a:solidFill>
                <a:latin typeface="Arial"/>
              </a:rPr>
              <a:t>2  APPROACH      </a:t>
            </a:r>
            <a:r>
              <a:rPr sz="900" b="1">
                <a:solidFill>
                  <a:srgbClr val="2251FF"/>
                </a:solidFill>
                <a:latin typeface="Arial"/>
              </a:rPr>
              <a:t>3  FINDINGS      </a:t>
            </a:r>
            <a:r>
              <a:rPr sz="900" b="0">
                <a:solidFill>
                  <a:srgbClr val="8C8C8C"/>
                </a:solidFill>
                <a:latin typeface="Arial"/>
              </a:rPr>
              <a:t>4  IMPACT      </a:t>
            </a:r>
            <a:r>
              <a:rPr sz="900" b="0">
                <a:solidFill>
                  <a:srgbClr val="8C8C8C"/>
                </a:solidFill>
                <a:latin typeface="Arial"/>
              </a:rPr>
              <a:t>5 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Revenue per user is non-inferior (+2.2%)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9</a:t>
            </a:r>
          </a:p>
        </p:txBody>
      </p:sp>
      <p:pic>
        <p:nvPicPr>
          <p:cNvPr id="8" name="Picture 7" descr="guardrail_scorecard.png"/>
          <p:cNvPicPr>
            <a:picLocks noChangeAspect="1"/>
          </p:cNvPicPr>
          <p:nvPr/>
        </p:nvPicPr>
        <p:blipFill>
          <a:blip r:embed="rId3"/>
          <a:srcRect t="11100"/>
          <a:stretch>
            <a:fillRect/>
          </a:stretch>
        </p:blipFill>
        <p:spPr>
          <a:xfrm>
            <a:off x="502920" y="1463040"/>
            <a:ext cx="7589520" cy="37952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1508760"/>
            <a:ext cx="327629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20240"/>
            <a:ext cx="3276295" cy="4114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>
                <a:solidFill>
                  <a:srgbClr val="1A1A1A"/>
                </a:solidFill>
                <a:latin typeface="Arial"/>
              </a:rPr>
              <a:t>Change +2.2%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>
                <a:solidFill>
                  <a:srgbClr val="1A1A1A"/>
                </a:solidFill>
                <a:latin typeface="Arial"/>
              </a:rPr>
              <a:t>Margin 1%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 b="1">
                <a:solidFill>
                  <a:srgbClr val="1A1A1A"/>
                </a:solidFill>
                <a:latin typeface="Arial"/>
              </a:rPr>
              <a:t>Status: </a:t>
            </a:r>
            <a:r>
              <a:rPr sz="1400">
                <a:solidFill>
                  <a:srgbClr val="1A1A1A"/>
                </a:solidFill>
                <a:latin typeface="Arial"/>
              </a:rPr>
              <a:t>pass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1118585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Arial"/>
              </a:rPr>
              <a:t>1  THE ASK      </a:t>
            </a:r>
            <a:r>
              <a:rPr sz="900" b="0">
                <a:solidFill>
                  <a:srgbClr val="8C8C8C"/>
                </a:solidFill>
                <a:latin typeface="Arial"/>
              </a:rPr>
              <a:t>2  APPROACH      </a:t>
            </a:r>
            <a:r>
              <a:rPr sz="900" b="1">
                <a:solidFill>
                  <a:srgbClr val="2251FF"/>
                </a:solidFill>
                <a:latin typeface="Arial"/>
              </a:rPr>
              <a:t>3  FINDINGS      </a:t>
            </a:r>
            <a:r>
              <a:rPr sz="900" b="0">
                <a:solidFill>
                  <a:srgbClr val="8C8C8C"/>
                </a:solidFill>
                <a:latin typeface="Arial"/>
              </a:rPr>
              <a:t>4  IMPACT      </a:t>
            </a:r>
            <a:r>
              <a:rPr sz="900" b="0">
                <a:solidFill>
                  <a:srgbClr val="8C8C8C"/>
                </a:solidFill>
                <a:latin typeface="Arial"/>
              </a:rPr>
              <a:t>5 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Guardrail checks: each tested for non-inferiority against its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08760"/>
          <a:ext cx="11185855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9"/>
              </a:tblGrid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Comparison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Rel. lift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CI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 / P(beat)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22.73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23.23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+2.2%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[+0.1%, +4.3%]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0.005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noninferiority 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1118585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Arial"/>
              </a:rPr>
              <a:t>1  THE ASK      </a:t>
            </a:r>
            <a:r>
              <a:rPr sz="900" b="0">
                <a:solidFill>
                  <a:srgbClr val="8C8C8C"/>
                </a:solidFill>
                <a:latin typeface="Arial"/>
              </a:rPr>
              <a:t>2  APPROACH      </a:t>
            </a:r>
            <a:r>
              <a:rPr sz="900" b="1">
                <a:solidFill>
                  <a:srgbClr val="2251FF"/>
                </a:solidFill>
                <a:latin typeface="Arial"/>
              </a:rPr>
              <a:t>3  FINDINGS      </a:t>
            </a:r>
            <a:r>
              <a:rPr sz="900" b="0">
                <a:solidFill>
                  <a:srgbClr val="8C8C8C"/>
                </a:solidFill>
                <a:latin typeface="Arial"/>
              </a:rPr>
              <a:t>4  IMPACT      </a:t>
            </a:r>
            <a:r>
              <a:rPr sz="900" b="0">
                <a:solidFill>
                  <a:srgbClr val="8C8C8C"/>
                </a:solidFill>
                <a:latin typeface="Arial"/>
              </a:rPr>
              <a:t>5 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The lift is largest on iOS; differences between platforms are not significant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11</a:t>
            </a:r>
          </a:p>
        </p:txBody>
      </p:sp>
      <p:pic>
        <p:nvPicPr>
          <p:cNvPr id="8" name="Picture 7" descr="segment_forest.png"/>
          <p:cNvPicPr>
            <a:picLocks noChangeAspect="1"/>
          </p:cNvPicPr>
          <p:nvPr/>
        </p:nvPicPr>
        <p:blipFill>
          <a:blip r:embed="rId3"/>
          <a:srcRect t="11100"/>
          <a:stretch>
            <a:fillRect/>
          </a:stretch>
        </p:blipFill>
        <p:spPr>
          <a:xfrm>
            <a:off x="502920" y="1463040"/>
            <a:ext cx="7589520" cy="37952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1508760"/>
            <a:ext cx="327629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20240"/>
            <a:ext cx="3276295" cy="4114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 b="1">
                <a:solidFill>
                  <a:srgbClr val="1A1A1A"/>
                </a:solidFill>
                <a:latin typeface="Arial"/>
              </a:rPr>
              <a:t>Interaction test: </a:t>
            </a:r>
            <a:r>
              <a:rPr sz="1400">
                <a:solidFill>
                  <a:srgbClr val="1A1A1A"/>
                </a:solidFill>
                <a:latin typeface="Arial"/>
              </a:rPr>
              <a:t>p = 0.168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>
                <a:solidFill>
                  <a:srgbClr val="1A1A1A"/>
                </a:solidFill>
                <a:latin typeface="Arial"/>
              </a:rPr>
              <a:t>Treat platform differences as exploratory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>
                <a:solidFill>
                  <a:srgbClr val="1A1A1A"/>
                </a:solidFill>
                <a:latin typeface="Arial"/>
              </a:rPr>
              <a:t>Direction is positive on every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1118585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Arial"/>
              </a:rPr>
              <a:t>1  THE ASK      </a:t>
            </a:r>
            <a:r>
              <a:rPr sz="900" b="0">
                <a:solidFill>
                  <a:srgbClr val="8C8C8C"/>
                </a:solidFill>
                <a:latin typeface="Arial"/>
              </a:rPr>
              <a:t>2  APPROACH      </a:t>
            </a:r>
            <a:r>
              <a:rPr sz="900" b="0">
                <a:solidFill>
                  <a:srgbClr val="8C8C8C"/>
                </a:solidFill>
                <a:latin typeface="Arial"/>
              </a:rPr>
              <a:t>3  FINDINGS      </a:t>
            </a:r>
            <a:r>
              <a:rPr sz="900" b="1">
                <a:solidFill>
                  <a:srgbClr val="2251FF"/>
                </a:solidFill>
                <a:latin typeface="Arial"/>
              </a:rPr>
              <a:t>4  IMPACT      </a:t>
            </a:r>
            <a:r>
              <a:rPr sz="900" b="0">
                <a:solidFill>
                  <a:srgbClr val="8C8C8C"/>
                </a:solidFill>
                <a:latin typeface="Arial"/>
              </a:rPr>
              <a:t>5 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For every 1,000 users, about 11 more achieved checkout conversion with treatment than with control.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3545738" cy="50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74520"/>
            <a:ext cx="3545738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400" b="1">
                <a:solidFill>
                  <a:srgbClr val="2251FF"/>
                </a:solidFill>
                <a:latin typeface="Arial"/>
              </a:rPr>
              <a:t>+3.2%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3545738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Relative change in the primary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83280"/>
            <a:ext cx="3545738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  <a:latin typeface="Arial"/>
              </a:rPr>
              <a:t>95% CI [+1.2%, +5.2%]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2978" y="1691640"/>
            <a:ext cx="3545738" cy="508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2978" y="1874520"/>
            <a:ext cx="3545738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400" b="1">
                <a:solidFill>
                  <a:srgbClr val="0B2545"/>
                </a:solidFill>
                <a:latin typeface="Arial"/>
              </a:rPr>
              <a:t>+10.9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2978" y="2743200"/>
            <a:ext cx="3545738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Change per 1,000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2978" y="3383280"/>
            <a:ext cx="3545738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  <a:latin typeface="Arial"/>
              </a:rPr>
              <a:t>34.25% → 35.34%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3036" y="1691640"/>
            <a:ext cx="3545738" cy="508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3036" y="1874520"/>
            <a:ext cx="3545738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400" b="1">
                <a:solidFill>
                  <a:srgbClr val="0B2545"/>
                </a:solidFill>
                <a:latin typeface="Arial"/>
              </a:rPr>
              <a:t>80,000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3036" y="2743200"/>
            <a:ext cx="3545738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Units analysed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3036" y="3383280"/>
            <a:ext cx="3545738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  <a:latin typeface="Arial"/>
              </a:rPr>
              <a:t>control: 40,183 / treatment: 39,817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89120"/>
            <a:ext cx="11185855" cy="9144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SO WHAT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Arial"/>
              </a:rPr>
              <a:t>The primary metric improved significantly and no guardrail was breached.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1118585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Arial"/>
              </a:rPr>
              <a:t>1  THE ASK      </a:t>
            </a:r>
            <a:r>
              <a:rPr sz="900" b="0">
                <a:solidFill>
                  <a:srgbClr val="8C8C8C"/>
                </a:solidFill>
                <a:latin typeface="Arial"/>
              </a:rPr>
              <a:t>2  APPROACH      </a:t>
            </a:r>
            <a:r>
              <a:rPr sz="900" b="0">
                <a:solidFill>
                  <a:srgbClr val="8C8C8C"/>
                </a:solidFill>
                <a:latin typeface="Arial"/>
              </a:rPr>
              <a:t>3  FINDINGS      </a:t>
            </a:r>
            <a:r>
              <a:rPr sz="900" b="0">
                <a:solidFill>
                  <a:srgbClr val="8C8C8C"/>
                </a:solidFill>
                <a:latin typeface="Arial"/>
              </a:rPr>
              <a:t>4  IMPACT      </a:t>
            </a:r>
            <a:r>
              <a:rPr sz="900" b="1">
                <a:solidFill>
                  <a:srgbClr val="2251FF"/>
                </a:solidFill>
                <a:latin typeface="Arial"/>
              </a:rPr>
              <a:t>5 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No material risks identified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1185855" cy="45720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>
                <a:solidFill>
                  <a:srgbClr val="1A1A1A"/>
                </a:solidFill>
                <a:latin typeface="Arial"/>
              </a:rPr>
              <a:t>No material risks identified by the analysis or the review.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"/>
            <a:ext cx="1118585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Arial"/>
              </a:rPr>
              <a:t>1  THE ASK      </a:t>
            </a:r>
            <a:r>
              <a:rPr sz="900" b="0">
                <a:solidFill>
                  <a:srgbClr val="8C8C8C"/>
                </a:solidFill>
                <a:latin typeface="Arial"/>
              </a:rPr>
              <a:t>2  APPROACH      </a:t>
            </a:r>
            <a:r>
              <a:rPr sz="900" b="0">
                <a:solidFill>
                  <a:srgbClr val="8C8C8C"/>
                </a:solidFill>
                <a:latin typeface="Arial"/>
              </a:rPr>
              <a:t>3  FINDINGS      </a:t>
            </a:r>
            <a:r>
              <a:rPr sz="900" b="0">
                <a:solidFill>
                  <a:srgbClr val="8C8C8C"/>
                </a:solidFill>
                <a:latin typeface="Arial"/>
              </a:rPr>
              <a:t>4  IMPACT      </a:t>
            </a:r>
            <a:r>
              <a:rPr sz="900" b="1">
                <a:solidFill>
                  <a:srgbClr val="2251FF"/>
                </a:solidFill>
                <a:latin typeface="Arial"/>
              </a:rPr>
              <a:t>5 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Recommendation: Ship, with 3 next steps to act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1615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11185855" cy="777240"/>
          </a:xfrm>
          <a:prstGeom prst="rect">
            <a:avLst/>
          </a:prstGeom>
          <a:solidFill>
            <a:srgbClr val="1B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DECISION: 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11185855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The primary metric improved significantly and no guardrail was breached.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2608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NEXT STEPS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3246119"/>
          <a:ext cx="11185853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"/>
                <a:gridCol w="7270805"/>
                <a:gridCol w="1901595"/>
                <a:gridCol w="1454161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9144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9144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9144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91440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51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Roll out the single-button checkout to 100% of users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To agree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To agree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51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Keep monitoring revenue per user for four weeks after rollout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To agree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To agree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51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Investigate why the Web lift is smaller before the next checkout test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To agree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To agree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566160"/>
            <a:ext cx="1097280" cy="50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1371600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9DB4FF"/>
                </a:solidFill>
                <a:latin typeface="Arial"/>
              </a:rPr>
              <a:t>Methodology, validation and full results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Methodology: tests used and the scripts that produced each number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1615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1185855" cy="45720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primary test: </a:t>
            </a:r>
            <a:r>
              <a:rPr sz="1600">
                <a:solidFill>
                  <a:srgbClr val="1A1A1A"/>
                </a:solidFill>
                <a:latin typeface="Arial"/>
              </a:rPr>
              <a:t>two proportion ztest (code/20_analysis_sample.py)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guardrails: </a:t>
            </a:r>
            <a:r>
              <a:rPr sz="1600">
                <a:solidFill>
                  <a:srgbClr val="1A1A1A"/>
                </a:solidFill>
                <a:latin typeface="Arial"/>
              </a:rPr>
              <a:t>noninferiority test (code/20_analysis_sample.py)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segments: </a:t>
            </a:r>
            <a:r>
              <a:rPr sz="1600">
                <a:solidFill>
                  <a:srgbClr val="1A1A1A"/>
                </a:solidFill>
                <a:latin typeface="Arial"/>
              </a:rPr>
              <a:t>two proportion ztest, interaction test (code/20_analysis_sample.py)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time trends: </a:t>
            </a:r>
            <a:r>
              <a:rPr sz="1600">
                <a:solidFill>
                  <a:srgbClr val="1A1A1A"/>
                </a:solidFill>
                <a:latin typeface="Arial"/>
              </a:rPr>
              <a:t>cumulative effects (code/20_analysis_sample.py)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Settings: </a:t>
            </a:r>
            <a:r>
              <a:rPr sz="1600">
                <a:solidFill>
                  <a:srgbClr val="1A1A1A"/>
                </a:solidFill>
                <a:latin typeface="Arial"/>
              </a:rPr>
              <a:t>alpha 0.05 (two-sided), power 0.8, SRM threshold 0.001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Data validation: overall verdict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1615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08760"/>
          <a:ext cx="11185854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575"/>
                <a:gridCol w="1278383"/>
                <a:gridCol w="7989896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Detail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schema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7 columns, 80,000 rows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dtypes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All metric columns numeric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missing values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 missing values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duplicates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80,000 units, one row each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contamination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 unit appears in more than one variant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variants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Counts {'control': 40183, 'treatment': 39817}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SRM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p = 0.196 (threshold 0.001)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dates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2026-09-01 to 2026-09-14 (14 days)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outliers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 extreme outliers in continuous metrics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impossible values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Metric values within valid ranges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pre-period data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None described (CUPED not possible)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covariate balance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Segment mix similar across variants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Full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1615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08760"/>
          <a:ext cx="1118585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9"/>
              </a:tblGrid>
              <a:tr h="38404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Comparison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Rel. lift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CI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 / P(beat)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34.25%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35.34%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+3.2%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[+1.2%, +5.2%]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0.001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22.73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23.23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+2.2%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[+0.1%, +4.3%]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0.005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noninferiority 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Android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33.53%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34.24%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+2.1%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[−1.2%, +5.5%]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0.306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Web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32.63%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33.02%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+1.2%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[−2.8%, +5.2%]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0.561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iOS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35.93%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37.79%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+5.2%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[+2.1%, +8.2%]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0.002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