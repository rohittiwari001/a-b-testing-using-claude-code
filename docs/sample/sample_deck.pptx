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Verdict: Ship. The primary metric improved significantly and no guardrail was breached. For every 1,000 users, about 11 more achieved checkout conversion with treatment than with control. A difference this large is unlikely to be down to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what was tested, on whom, for how long, and how success was defined before looking at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Conversion +3.2% (p = 0.001).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Conversion rises from 34.25% to 35.34%.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Treatment led on cumulative conversion throughout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Revenue per user is non-inferior (+2.2%).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guardrail is tested for non-inferiority against its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lift is largest on iOS; differences between platforms are not significant.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could make this conclusion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decision and owners. The primary metric improved significantly and no guardrail was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Tests used per analysis step and the scripts that produced each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list of validation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table of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173736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Arial"/>
              </a:rPr>
              <a:t>Single-button checkout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8C8C8C"/>
                </a:solidFill>
                <a:latin typeface="Arial"/>
              </a:rPr>
              <a:t>Treatment raises checkout conversion by 3.2% vs control (statistically significant)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01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raises checkout conversion by 3.2% vs control (statistically significant)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85855" cy="91440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Recommendation: SHIP</a:t>
            </a:r>
            <a:r>
              <a:rPr sz="1300">
                <a:solidFill>
                  <a:srgbClr val="FFFFFF"/>
                </a:solidFill>
                <a:latin typeface="Arial"/>
              </a:rPr>
              <a:t>   The primary metric improved significantly and no guardrail was breached.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51760"/>
            <a:ext cx="1118585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Relative lift in checkout conversion: </a:t>
            </a:r>
            <a:r>
              <a:rPr sz="1700">
                <a:solidFill>
                  <a:srgbClr val="1A1A1A"/>
                </a:solidFill>
                <a:latin typeface="Arial"/>
              </a:rPr>
              <a:t>+3.2% (95% CI [+1.2%, +5.2%])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700">
                <a:solidFill>
                  <a:srgbClr val="1A1A1A"/>
                </a:solidFill>
                <a:latin typeface="Arial"/>
              </a:rPr>
              <a:t>p = 0.001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Checkout conversion: </a:t>
            </a:r>
            <a:r>
              <a:rPr sz="1700">
                <a:solidFill>
                  <a:srgbClr val="1A1A1A"/>
                </a:solidFill>
                <a:latin typeface="Arial"/>
              </a:rPr>
              <a:t>control vs treatment: 34.25% vs 35.34%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Units analysed: </a:t>
            </a:r>
            <a:r>
              <a:rPr sz="1700">
                <a:solidFill>
                  <a:srgbClr val="1A1A1A"/>
                </a:solidFill>
                <a:latin typeface="Arial"/>
              </a:rPr>
              <a:t>control: 40,183 / treatment: 39,817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Guardrail revenue: </a:t>
            </a:r>
            <a:r>
              <a:rPr sz="1700">
                <a:solidFill>
                  <a:srgbClr val="1A1A1A"/>
                </a:solidFill>
                <a:latin typeface="Arial"/>
              </a:rPr>
              <a:t>pass (+2.2%)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How the experiment was set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1858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8389391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Variants (units)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control: 40,183, treatment: 39,817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Test period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2026-09-01 to 2026-09-14 (14 days)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Primary metric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converted (binary, goal: increase)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Guardrail metric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revenue (continuous, goal: no decrease)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Statistical settings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alpha 0.05, two-sided, power 0.8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Multiple-testing correction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secondary: holm; segments: benjamini-hochberg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Analysis type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post test readout, heterogeneous effects, guardrail check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lifts checkout conversion by +3.2%, statistically significant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ft_ci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Conversion: </a:t>
            </a:r>
            <a:r>
              <a:rPr sz="1400">
                <a:solidFill>
                  <a:srgbClr val="1A1A1A"/>
                </a:solidFill>
                <a:latin typeface="Arial"/>
              </a:rPr>
              <a:t>+3.2% relative, CI [+1.2%, +5.2%]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400">
                <a:solidFill>
                  <a:srgbClr val="1A1A1A"/>
                </a:solidFill>
                <a:latin typeface="Arial"/>
              </a:rPr>
              <a:t>p = 0.001, above the 2% practical threshold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Revenue per user: </a:t>
            </a:r>
            <a:r>
              <a:rPr sz="1400">
                <a:solidFill>
                  <a:srgbClr val="1A1A1A"/>
                </a:solidFill>
                <a:latin typeface="Arial"/>
              </a:rPr>
              <a:t>+2.2%, non-inferiority 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Conversion rises from 34.25% to 35.34%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ric_by_variant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Control: </a:t>
            </a:r>
            <a:r>
              <a:rPr sz="1400">
                <a:solidFill>
                  <a:srgbClr val="1A1A1A"/>
                </a:solidFill>
                <a:latin typeface="Arial"/>
              </a:rPr>
              <a:t>34.25%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Treatment: </a:t>
            </a:r>
            <a:r>
              <a:rPr sz="1400">
                <a:solidFill>
                  <a:srgbClr val="1A1A1A"/>
                </a:solidFill>
                <a:latin typeface="Arial"/>
              </a:rPr>
              <a:t>35.34%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Absolute change: </a:t>
            </a:r>
            <a:r>
              <a:rPr sz="1400">
                <a:solidFill>
                  <a:srgbClr val="1A1A1A"/>
                </a:solidFill>
                <a:latin typeface="Arial"/>
              </a:rPr>
              <a:t>+1.09 pp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led on cumulative conversion throughout the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mulative_daily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No reversal over the 14 days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Gap stable after the first week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No sign of a novelty spike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Revenue per user is non-inferior (+2.2%)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uardrail_scorecard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Change +2.2%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Margin 1%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Status: </a:t>
            </a:r>
            <a:r>
              <a:rPr sz="1400">
                <a:solidFill>
                  <a:srgbClr val="1A1A1A"/>
                </a:solidFill>
                <a:latin typeface="Arial"/>
              </a:rPr>
              <a:t>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Guardrail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185855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[+0.1%, +4.3%]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noninferiority 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lift is largest on iOS; differences between platforms are not significant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gment_forest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Interaction test: </a:t>
            </a:r>
            <a:r>
              <a:rPr sz="1400">
                <a:solidFill>
                  <a:srgbClr val="1A1A1A"/>
                </a:solidFill>
                <a:latin typeface="Arial"/>
              </a:rPr>
              <a:t>p = 0.168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Treat platform differences as exploratory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Direction is positive on every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Risks and caveats to keep in mind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58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No material risks identified by the analysis or the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Recommendation: Ship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111858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1.  </a:t>
            </a:r>
            <a:r>
              <a:rPr sz="1600">
                <a:solidFill>
                  <a:srgbClr val="1A1A1A"/>
                </a:solidFill>
                <a:latin typeface="Arial"/>
              </a:rPr>
              <a:t>Roll out the single-button checkout to 100% of users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2.  </a:t>
            </a:r>
            <a:r>
              <a:rPr sz="1600">
                <a:solidFill>
                  <a:srgbClr val="1A1A1A"/>
                </a:solidFill>
                <a:latin typeface="Arial"/>
              </a:rPr>
              <a:t>Keep monitoring revenue per user for four weeks after rollout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3.  </a:t>
            </a:r>
            <a:r>
              <a:rPr sz="1600">
                <a:solidFill>
                  <a:srgbClr val="1A1A1A"/>
                </a:solidFill>
                <a:latin typeface="Arial"/>
              </a:rPr>
              <a:t>Investigate why the Web lift is smaller before the next checkout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56616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9DB4FF"/>
                </a:solidFill>
                <a:latin typeface="Arial"/>
              </a:rPr>
              <a:t>Methodology, validation and full results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58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primary test: </a:t>
            </a:r>
            <a:r>
              <a:rPr sz="1600">
                <a:solidFill>
                  <a:srgbClr val="1A1A1A"/>
                </a:solidFill>
                <a:latin typeface="Arial"/>
              </a:rPr>
              <a:t>two proportion ztest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guardrails: </a:t>
            </a:r>
            <a:r>
              <a:rPr sz="1600">
                <a:solidFill>
                  <a:srgbClr val="1A1A1A"/>
                </a:solidFill>
                <a:latin typeface="Arial"/>
              </a:rPr>
              <a:t>noninferiority test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segments: </a:t>
            </a:r>
            <a:r>
              <a:rPr sz="1600">
                <a:solidFill>
                  <a:srgbClr val="1A1A1A"/>
                </a:solidFill>
                <a:latin typeface="Arial"/>
              </a:rPr>
              <a:t>two proportion ztest, interaction test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time trends: </a:t>
            </a:r>
            <a:r>
              <a:rPr sz="1600">
                <a:solidFill>
                  <a:srgbClr val="1A1A1A"/>
                </a:solidFill>
                <a:latin typeface="Arial"/>
              </a:rPr>
              <a:t>cumulative effects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Settings: </a:t>
            </a:r>
            <a:r>
              <a:rPr sz="1600">
                <a:solidFill>
                  <a:srgbClr val="1A1A1A"/>
                </a:solidFill>
                <a:latin typeface="Arial"/>
              </a:rPr>
              <a:t>alpha 0.05 (two-sided), power 0.8, SRM threshold 0.001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Data validation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18585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7575"/>
                <a:gridCol w="1278383"/>
                <a:gridCol w="7989896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schema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7 columns, 80,000 rows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dtypes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All metric columns numeric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duplicates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80,000 units, one row each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contamination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unit appears in more than one variant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Counts {'control': 40183, 'treatment': 39817}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SRM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 = 0.196 (threshold 0.001)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2026-09-01 to 2026-09-14 (14 days)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outliers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extreme outliers in continuous metrics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impossible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Metric values within valid ranges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pre-period data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None described (CUPED not possible)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covariate balance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Segment mix similar across 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Full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18585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8404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34.25%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35.34%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+3.2%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[+1.2%, +5.2%]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[+0.1%, +4.3%]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noninferiority 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Android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33.53%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34.24%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[−1.2%, +5.5%]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0.306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Web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32.63%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33.02%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+1.2%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[−2.8%, +5.2%]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0.561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iOS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35.93%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37.79%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+5.2%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[+2.1%, +8.2%]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0.002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