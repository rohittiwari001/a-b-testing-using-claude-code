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first. Verdict: Ship. The primary metric improved significantly and no guardrail was breached. For every 1,000 users, about 11 more achieved checkout conversion with treatment than with control. A difference this large is unlikely to be down to chance. Caveats: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storyline: what we were asked, how we answered it, what we found, what it is worth, and what we recommend.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Restate the question and the decision before any result, so the audience judges the answer against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answer was produced and why it can be trusted: data, checks, method, independent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Conversion +3.2% (p = 0.001).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Conversion rises from 34.25% to 35.34%.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Treatment led on cumulative conversion throughout the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Revenue per user is non-inferior (+2.2%).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Guardrails protect against wins on the primary metric that cost something elsewhere.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The lift is largest on iOS; differences between platforms are not significant.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Translate the statistics into business terms: what the change is worth.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could make the conclusion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decision, then who does what by when.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Tests used per analysis step and the scripts that produced each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list of validation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table of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097280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058400" cy="1737360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Arial"/>
              </a:rPr>
              <a:t>Single-button checkout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8C8C8C"/>
                </a:solidFill>
                <a:latin typeface="Arial"/>
              </a:rPr>
              <a:t>Treatment raises checkout conversion by 3.2% vs control (statistically significant)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01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36576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2251FF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raises checkout conversion by 3.2% vs control (statistically significant)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3017520" cy="4754880"/>
          </a:xfrm>
          <a:prstGeom prst="rect">
            <a:avLst/>
          </a:prstGeom>
          <a:solidFill>
            <a:srgbClr val="1B7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74320"/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RECOMMENDATION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SHIP</a:t>
            </a:r>
          </a:p>
          <a:p>
            <a:pPr algn="l"/>
            <a:r>
              <a:rPr sz="6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The primary metric improved significantly and no guardrail was breached.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141732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1691640"/>
            <a:ext cx="7802575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Should we ship the single-button checkout?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28600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2560320"/>
            <a:ext cx="7802575" cy="17373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Relative lift in checkout conversion: </a:t>
            </a:r>
            <a:r>
              <a:rPr sz="1300">
                <a:solidFill>
                  <a:srgbClr val="1A1A1A"/>
                </a:solidFill>
                <a:latin typeface="Arial"/>
              </a:rPr>
              <a:t>+3.2% (95% CI [+1.2%, +5.2%])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Evidence: </a:t>
            </a:r>
            <a:r>
              <a:rPr sz="1300">
                <a:solidFill>
                  <a:srgbClr val="1A1A1A"/>
                </a:solidFill>
                <a:latin typeface="Arial"/>
              </a:rPr>
              <a:t>p = 0.001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Checkout conversion: </a:t>
            </a:r>
            <a:r>
              <a:rPr sz="1300">
                <a:solidFill>
                  <a:srgbClr val="1A1A1A"/>
                </a:solidFill>
                <a:latin typeface="Arial"/>
              </a:rPr>
              <a:t>control vs treatment: 34.25% vs 35.34%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Units analysed: </a:t>
            </a:r>
            <a:r>
              <a:rPr sz="1300">
                <a:solidFill>
                  <a:srgbClr val="1A1A1A"/>
                </a:solidFill>
                <a:latin typeface="Arial"/>
              </a:rPr>
              <a:t>control: 40,183 / treatment: 39,817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Guardrail revenue: </a:t>
            </a:r>
            <a:r>
              <a:rPr sz="1300">
                <a:solidFill>
                  <a:srgbClr val="1A1A1A"/>
                </a:solidFill>
                <a:latin typeface="Arial"/>
              </a:rPr>
              <a:t>pass (+2.2%)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425196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IT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4526280"/>
            <a:ext cx="780257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For every 1,000 users, about 11 more achieved checkout conversion with treatment than with control. A difference this large is unlikely to be down to chance.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521208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WE RECOMMEND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5486400"/>
            <a:ext cx="7802575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rial"/>
              </a:rPr>
              <a:t>Roll out the single-button checkout to 100% of users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1907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The ask: what we were asked to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7744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45059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Approach: how we answered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8211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Findings: what the data shows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4048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1363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Impact: what it means for the business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4515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Recommendation: risks, decision and next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303520"/>
            <a:ext cx="502920" cy="502920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Appendix: methodology, validation and full results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2251FF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The ask: Should we ship the single-button checkout?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THE 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3949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Decide whether to roll out the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OUR HYPOTHESIS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53949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A single 'Pay now' button raises checkout conversion without lowering revenue per user.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SUCCESS LOOKS LIKE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60520"/>
            <a:ext cx="53949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Converted must rise by at least 2% (relative) without breaching a guardrail.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08760"/>
            <a:ext cx="524225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WAS TESTED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46520" y="1828800"/>
          <a:ext cx="524225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211"/>
                <a:gridCol w="335504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Groups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control: 40,183, treatment: 39,817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users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Period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2026-09-01 to 2026-09-14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Primary metric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Guardrails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Practical threshold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+2% relative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1">
                <a:solidFill>
                  <a:srgbClr val="2251FF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We answered it with a randomised comparison of 80,000 users, quality checks and an independent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5</a:t>
            </a:r>
          </a:p>
        </p:txBody>
      </p:sp>
      <p:sp>
        <p:nvSpPr>
          <p:cNvPr id="8" name="Pentagon 7"/>
          <p:cNvSpPr/>
          <p:nvPr/>
        </p:nvSpPr>
        <p:spPr>
          <a:xfrm>
            <a:off x="502920" y="1737360"/>
            <a:ext cx="2762173" cy="731520"/>
          </a:xfrm>
          <a:prstGeom prst="homePlat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1.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80,000 users in 2 groups (control, treatment). Period: 2026-09-01 to 2026-09-14.</a:t>
            </a:r>
          </a:p>
        </p:txBody>
      </p:sp>
      <p:sp>
        <p:nvSpPr>
          <p:cNvPr id="10" name="Chevron 9"/>
          <p:cNvSpPr/>
          <p:nvPr/>
        </p:nvSpPr>
        <p:spPr>
          <a:xfrm>
            <a:off x="3310813" y="1737360"/>
            <a:ext cx="2762173" cy="731520"/>
          </a:xfrm>
          <a:prstGeom prst="chevron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2. Quality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973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12 data checks: overall PASS. Traffic split as intended (p = 0.196).</a:t>
            </a:r>
          </a:p>
        </p:txBody>
      </p:sp>
      <p:sp>
        <p:nvSpPr>
          <p:cNvPr id="12" name="Chevron 11"/>
          <p:cNvSpPr/>
          <p:nvPr/>
        </p:nvSpPr>
        <p:spPr>
          <a:xfrm>
            <a:off x="6118706" y="1737360"/>
            <a:ext cx="2762173" cy="731520"/>
          </a:xfrm>
          <a:prstGeom prst="chevron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3.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5866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Two-proportion z-test, plus non-inferiority test, interaction test, effect over time. Judged against a 2% practical threshold.</a:t>
            </a:r>
          </a:p>
        </p:txBody>
      </p:sp>
      <p:sp>
        <p:nvSpPr>
          <p:cNvPr id="14" name="Chevron 13"/>
          <p:cNvSpPr/>
          <p:nvPr/>
        </p:nvSpPr>
        <p:spPr>
          <a:xfrm>
            <a:off x="8926599" y="1737360"/>
            <a:ext cx="2762173" cy="731520"/>
          </a:xfrm>
          <a:prstGeom prst="chevron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4.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3759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Independent reviewer re-checked the numbers from the raw data: 1 round, passed.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lifts checkout conversion by +3.2%, statistically significant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6</a:t>
            </a:r>
          </a:p>
        </p:txBody>
      </p:sp>
      <p:pic>
        <p:nvPicPr>
          <p:cNvPr id="8" name="Picture 7" descr="lift_ci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Conversion: </a:t>
            </a:r>
            <a:r>
              <a:rPr sz="1400">
                <a:solidFill>
                  <a:srgbClr val="1A1A1A"/>
                </a:solidFill>
                <a:latin typeface="Arial"/>
              </a:rPr>
              <a:t>+3.2% relative, CI [+1.2%, +5.2%]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Evidence: </a:t>
            </a:r>
            <a:r>
              <a:rPr sz="1400">
                <a:solidFill>
                  <a:srgbClr val="1A1A1A"/>
                </a:solidFill>
                <a:latin typeface="Arial"/>
              </a:rPr>
              <a:t>p = 0.001, above the 2% practical threshold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Revenue per user: </a:t>
            </a:r>
            <a:r>
              <a:rPr sz="1400">
                <a:solidFill>
                  <a:srgbClr val="1A1A1A"/>
                </a:solidFill>
                <a:latin typeface="Arial"/>
              </a:rPr>
              <a:t>+2.2%, non-inferiority pass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Conversion rises from 34.25% to 35.34%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7</a:t>
            </a:r>
          </a:p>
        </p:txBody>
      </p:sp>
      <p:pic>
        <p:nvPicPr>
          <p:cNvPr id="8" name="Picture 7" descr="metric_by_variant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Control: </a:t>
            </a:r>
            <a:r>
              <a:rPr sz="1400">
                <a:solidFill>
                  <a:srgbClr val="1A1A1A"/>
                </a:solidFill>
                <a:latin typeface="Arial"/>
              </a:rPr>
              <a:t>34.25%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Treatment: </a:t>
            </a:r>
            <a:r>
              <a:rPr sz="1400">
                <a:solidFill>
                  <a:srgbClr val="1A1A1A"/>
                </a:solidFill>
                <a:latin typeface="Arial"/>
              </a:rPr>
              <a:t>35.34%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Absolute change: </a:t>
            </a:r>
            <a:r>
              <a:rPr sz="1400">
                <a:solidFill>
                  <a:srgbClr val="1A1A1A"/>
                </a:solidFill>
                <a:latin typeface="Arial"/>
              </a:rPr>
              <a:t>+1.09 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led on cumulative conversion throughout the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8</a:t>
            </a:r>
          </a:p>
        </p:txBody>
      </p:sp>
      <p:pic>
        <p:nvPicPr>
          <p:cNvPr id="8" name="Picture 7" descr="cumulative_daily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No reversal over the 14 days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Gap stable after the first week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No sign of a novelty spike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Revenue per user is non-inferior (+2.2%)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9</a:t>
            </a:r>
          </a:p>
        </p:txBody>
      </p:sp>
      <p:pic>
        <p:nvPicPr>
          <p:cNvPr id="8" name="Picture 7" descr="guardrail_scorecard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Change +2.2%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Margin 1%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Status: </a:t>
            </a:r>
            <a:r>
              <a:rPr sz="1400">
                <a:solidFill>
                  <a:srgbClr val="1A1A1A"/>
                </a:solidFill>
                <a:latin typeface="Arial"/>
              </a:rPr>
              <a:t>pass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Guardrail checks: each tested for non-inferiority against its margin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508760"/>
          <a:ext cx="11185855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9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Treatment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Rel. lift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CI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 / P(beat)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23.23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+2.2%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[+0.1%, +4.3%]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0.005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noninferiority 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The lift is largest on iOS; differences between platforms are not significant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11</a:t>
            </a:r>
          </a:p>
        </p:txBody>
      </p:sp>
      <p:pic>
        <p:nvPicPr>
          <p:cNvPr id="8" name="Picture 7" descr="segment_forest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Interaction test: </a:t>
            </a:r>
            <a:r>
              <a:rPr sz="1400">
                <a:solidFill>
                  <a:srgbClr val="1A1A1A"/>
                </a:solidFill>
                <a:latin typeface="Arial"/>
              </a:rPr>
              <a:t>p = 0.168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Treat platform differences as exploratory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Direction is positive on every platform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1">
                <a:solidFill>
                  <a:srgbClr val="2251FF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For every 1,000 users, about 11 more achieved checkout conversion with treatment than with control.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3545738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74520"/>
            <a:ext cx="3545738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2251FF"/>
                </a:solidFill>
                <a:latin typeface="Arial"/>
              </a:rPr>
              <a:t>+3.2%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743200"/>
            <a:ext cx="3545738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Relative change in the primary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354573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95% CI [+1.2%, +5.2%]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691640"/>
            <a:ext cx="3545738" cy="50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874520"/>
            <a:ext cx="3545738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0B2545"/>
                </a:solidFill>
                <a:latin typeface="Arial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2978" y="2743200"/>
            <a:ext cx="3545738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Change per 1,000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2978" y="3383280"/>
            <a:ext cx="354573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34.25% → 35.34%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3036" y="1691640"/>
            <a:ext cx="3545738" cy="50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3036" y="1874520"/>
            <a:ext cx="3545738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0B2545"/>
                </a:solidFill>
                <a:latin typeface="Arial"/>
              </a:rPr>
              <a:t>80,000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3036" y="2743200"/>
            <a:ext cx="3545738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Units analysed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3036" y="3383280"/>
            <a:ext cx="354573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control: 40,183 / treatment: 39,817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89120"/>
            <a:ext cx="11185855" cy="91440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SO WHAT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rial"/>
              </a:rPr>
              <a:t>The primary metric improved significantly and no guardrail was breached.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1">
                <a:solidFill>
                  <a:srgbClr val="2251FF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No material risks identified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11185855" cy="45720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>
                <a:solidFill>
                  <a:srgbClr val="1A1A1A"/>
                </a:solidFill>
                <a:latin typeface="Arial"/>
              </a:rPr>
              <a:t>No material risks identified by the analysis or the review.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1">
                <a:solidFill>
                  <a:srgbClr val="2251FF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Recommendation: Ship, with 3 next steps to act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11185855" cy="777240"/>
          </a:xfrm>
          <a:prstGeom prst="rect">
            <a:avLst/>
          </a:prstGeom>
          <a:solidFill>
            <a:srgbClr val="1B7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DECISION: 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77440"/>
            <a:ext cx="1118585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The primary metric improved significantly and no guardrail was breached.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26080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NEXT STEPS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3246119"/>
          <a:ext cx="11185853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"/>
                <a:gridCol w="7270805"/>
                <a:gridCol w="1901595"/>
                <a:gridCol w="1454161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Roll out the single-button checkout to 100% of users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Keep monitoring revenue per user for four weeks after rollout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Investigate why the Web lift is smaller before the next checkout test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566160"/>
            <a:ext cx="1097280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058400" cy="1371600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9DB4FF"/>
                </a:solidFill>
                <a:latin typeface="Arial"/>
              </a:rPr>
              <a:t>Methodology, validation and full results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Methodology: tests used and the scripts that produced each number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11185855" cy="45720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primary test: </a:t>
            </a:r>
            <a:r>
              <a:rPr sz="1600">
                <a:solidFill>
                  <a:srgbClr val="1A1A1A"/>
                </a:solidFill>
                <a:latin typeface="Arial"/>
              </a:rPr>
              <a:t>two proportion ztest (code/20_analysis_sample.py)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guardrails: </a:t>
            </a:r>
            <a:r>
              <a:rPr sz="1600">
                <a:solidFill>
                  <a:srgbClr val="1A1A1A"/>
                </a:solidFill>
                <a:latin typeface="Arial"/>
              </a:rPr>
              <a:t>noninferiority test (code/20_analysis_sample.py)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segments: </a:t>
            </a:r>
            <a:r>
              <a:rPr sz="1600">
                <a:solidFill>
                  <a:srgbClr val="1A1A1A"/>
                </a:solidFill>
                <a:latin typeface="Arial"/>
              </a:rPr>
              <a:t>two proportion ztest, interaction test (code/20_analysis_sample.py)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time trends: </a:t>
            </a:r>
            <a:r>
              <a:rPr sz="1600">
                <a:solidFill>
                  <a:srgbClr val="1A1A1A"/>
                </a:solidFill>
                <a:latin typeface="Arial"/>
              </a:rPr>
              <a:t>cumulative effects (code/20_analysis_sample.py)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Settings: </a:t>
            </a:r>
            <a:r>
              <a:rPr sz="1600">
                <a:solidFill>
                  <a:srgbClr val="1A1A1A"/>
                </a:solidFill>
                <a:latin typeface="Arial"/>
              </a:rPr>
              <a:t>alpha 0.05 (two-sided), power 0.8, SRM threshold 0.001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Data validation: overall verdict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85854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7575"/>
                <a:gridCol w="1278383"/>
                <a:gridCol w="7989896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Detail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schema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7 columns, 80,000 rows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dtypes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All metric columns numeric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missing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missing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duplicates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80,000 units, one row each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contamination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unit appears in more than one variant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variants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Counts {'control': 40183, 'treatment': 39817}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SRM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 = 0.196 (threshold 0.001)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dates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2026-09-01 to 2026-09-14 (14 days)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outliers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extreme outliers in continuous metrics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impossible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Metric values within valid ranges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pre-period data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None described (CUPED not possible)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covariate balance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Segment mix similar across variants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Full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8585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9"/>
              </a:tblGrid>
              <a:tr h="384048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Treatment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Rel. lift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CI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 / P(beat)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34.25%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35.34%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+3.2%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[+1.2%, +5.2%]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23.23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[+0.1%, +4.3%]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noninferiority 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Android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33.53%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34.24%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+2.1%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[−1.2%, +5.5%]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0.306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Web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32.63%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33.02%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+1.2%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[−2.8%, +5.2%]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0.561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iOS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35.93%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37.79%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+5.2%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[+2.1%, +8.2%]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0.002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