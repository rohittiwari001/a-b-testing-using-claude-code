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Verdict: Ship. The primary metric improved significantly and no guardrail was breached. For every 1,000 users, about 11 more achieved checkout conversion with treatment than with control. A difference this large is unlikely to be down to chance. CI lower bound +0.6% is below the 2% threshold: the true lift may be smaller than needed (review finding 1). Platforms: iOS +5.2%, Web +1.2%; interaction p = 0.168, no evidence they differ. Revenue is heavy-tailed; bootstrap CI [−1.0%, +5.4%] agrees with the guardrail pass. Daily lift: stable (no significant trend) (p = 0.794).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what was tested, on whom, for how long, and how success was defined before looking at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split is as intended, so the comparison between groups is trustworthy.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Summarise data quality: anything flagged here limits how far the results can be trusted.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 chart: the conversion lift is real; the lower end of its CI is below the practical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Absolute levels: about one extra purchase per hundred checkout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guardrail is a positive statement: a revenue drop larger than the margin is ruled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guardrail is tested for non-inferiority against its margin.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Differences between platforms are exploratory; the interaction test is what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Stability check: the gap opened early and held.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Novelty check for a visible UI change: nothing suggests the effect is fading.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 about what could make this conclusion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decision and owners. The primary metric improved significantly and no guardrail was breached.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Tests used per analysis step and the scripts that produced each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table of estimates.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the bootstrap check was run for revenue.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46120"/>
            <a:ext cx="1097280" cy="508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058400" cy="1737360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Arial"/>
              </a:rPr>
              <a:t>Single-button checkout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0584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800" b="0">
                <a:solidFill>
                  <a:srgbClr val="8C8C8C"/>
                </a:solidFill>
                <a:latin typeface="Arial"/>
              </a:rPr>
              <a:t>Treatment raises checkout conversion by 3.2% vs control (statistically significant)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8C8C8C"/>
                </a:solidFill>
                <a:latin typeface="Arial"/>
              </a:rPr>
              <a:t>01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Treatment raises checkout conversion by 3.2% vs control (statistically significant)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11185855" cy="914400"/>
          </a:xfrm>
          <a:prstGeom prst="rect">
            <a:avLst/>
          </a:prstGeom>
          <a:solidFill>
            <a:srgbClr val="1B7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Recommendation: SHIP</a:t>
            </a:r>
            <a:r>
              <a:rPr sz="1300">
                <a:solidFill>
                  <a:srgbClr val="FFFFFF"/>
                </a:solidFill>
                <a:latin typeface="Arial"/>
              </a:rPr>
              <a:t>   The primary metric improved significantly and no guardrail was breached.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651760"/>
            <a:ext cx="1118585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251FF"/>
                </a:solidFill>
                <a:latin typeface="Arial"/>
              </a:rPr>
              <a:t>•  </a:t>
            </a:r>
            <a:r>
              <a:rPr sz="1700" b="1">
                <a:solidFill>
                  <a:srgbClr val="1A1A1A"/>
                </a:solidFill>
                <a:latin typeface="Arial"/>
              </a:rPr>
              <a:t>Relative lift in checkout conversion: </a:t>
            </a:r>
            <a:r>
              <a:rPr sz="1700">
                <a:solidFill>
                  <a:srgbClr val="1A1A1A"/>
                </a:solidFill>
                <a:latin typeface="Arial"/>
              </a:rPr>
              <a:t>+3.2% (99% CI [+0.6%, +5.8%])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251FF"/>
                </a:solidFill>
                <a:latin typeface="Arial"/>
              </a:rPr>
              <a:t>•  </a:t>
            </a:r>
            <a:r>
              <a:rPr sz="1700" b="1">
                <a:solidFill>
                  <a:srgbClr val="1A1A1A"/>
                </a:solidFill>
                <a:latin typeface="Arial"/>
              </a:rPr>
              <a:t>Evidence: </a:t>
            </a:r>
            <a:r>
              <a:rPr sz="1700">
                <a:solidFill>
                  <a:srgbClr val="1A1A1A"/>
                </a:solidFill>
                <a:latin typeface="Arial"/>
              </a:rPr>
              <a:t>p = 0.001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251FF"/>
                </a:solidFill>
                <a:latin typeface="Arial"/>
              </a:rPr>
              <a:t>•  </a:t>
            </a:r>
            <a:r>
              <a:rPr sz="1700" b="1">
                <a:solidFill>
                  <a:srgbClr val="1A1A1A"/>
                </a:solidFill>
                <a:latin typeface="Arial"/>
              </a:rPr>
              <a:t>Checkout conversion: </a:t>
            </a:r>
            <a:r>
              <a:rPr sz="1700">
                <a:solidFill>
                  <a:srgbClr val="1A1A1A"/>
                </a:solidFill>
                <a:latin typeface="Arial"/>
              </a:rPr>
              <a:t>control vs treatment: 34.25% vs 35.34%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251FF"/>
                </a:solidFill>
                <a:latin typeface="Arial"/>
              </a:rPr>
              <a:t>•  </a:t>
            </a:r>
            <a:r>
              <a:rPr sz="1700" b="1">
                <a:solidFill>
                  <a:srgbClr val="1A1A1A"/>
                </a:solidFill>
                <a:latin typeface="Arial"/>
              </a:rPr>
              <a:t>Units analysed: </a:t>
            </a:r>
            <a:r>
              <a:rPr sz="1700">
                <a:solidFill>
                  <a:srgbClr val="1A1A1A"/>
                </a:solidFill>
                <a:latin typeface="Arial"/>
              </a:rPr>
              <a:t>control: 40,183 / treatment: 39,817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251FF"/>
                </a:solidFill>
                <a:latin typeface="Arial"/>
              </a:rPr>
              <a:t>•  </a:t>
            </a:r>
            <a:r>
              <a:rPr sz="1700" b="1">
                <a:solidFill>
                  <a:srgbClr val="1A1A1A"/>
                </a:solidFill>
                <a:latin typeface="Arial"/>
              </a:rPr>
              <a:t>Guardrail revenue: </a:t>
            </a:r>
            <a:r>
              <a:rPr sz="1700">
                <a:solidFill>
                  <a:srgbClr val="1A1A1A"/>
                </a:solidFill>
                <a:latin typeface="Arial"/>
              </a:rPr>
              <a:t>pass (+2.2%)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checkout_ab.csv, 2026-09-01 to 2026-09-14; run 2026-10-01_checkout-button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How the experiment was set 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63040"/>
          <a:ext cx="1118585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8389391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Detail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Variants (units)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control: 40,183, treatment: 39,817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Test period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2026-09-01 to 2026-09-14 (14 days)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Primary metric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converted (binary, goal: increase)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Guardrail metric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revenue (continuous, goal: no decrease)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Statistical settings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alpha 0.01, two-sided, power 0.8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Multiple-testing correction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secondary: holm; segments: benjamini-hochberg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Analysis type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post test readout, guardrail check, heterogeneous effects, novelty check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checkout_ab.csv, 2026-09-01 to 2026-09-14; run 2026-10-01_checkout-button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Traffic split matches the intended 50/50 (treatment 49.8%; no sample ratio mismatch)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rm_bar.png"/>
          <p:cNvPicPr>
            <a:picLocks noChangeAspect="1"/>
          </p:cNvPicPr>
          <p:nvPr/>
        </p:nvPicPr>
        <p:blipFill>
          <a:blip r:embed="rId2"/>
          <a:srcRect t="11100"/>
          <a:stretch>
            <a:fillRect/>
          </a:stretch>
        </p:blipFill>
        <p:spPr>
          <a:xfrm>
            <a:off x="502920" y="1417320"/>
            <a:ext cx="7589520" cy="37952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463040"/>
            <a:ext cx="3276295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8C8C8C"/>
                </a:solidFill>
                <a:latin typeface="Arial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874520"/>
            <a:ext cx="3276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1.  </a:t>
            </a:r>
            <a:r>
              <a:rPr sz="1400">
                <a:solidFill>
                  <a:srgbClr val="1A1A1A"/>
                </a:solidFill>
                <a:latin typeface="Arial"/>
              </a:rPr>
              <a:t>Control 50.2%, treatment 49.8%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2.  </a:t>
            </a:r>
            <a:r>
              <a:rPr sz="1400">
                <a:solidFill>
                  <a:srgbClr val="1A1A1A"/>
                </a:solidFill>
                <a:latin typeface="Arial"/>
              </a:rPr>
              <a:t>Chi-square p = 0.196 vs threshold 0.001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3.  </a:t>
            </a:r>
            <a:r>
              <a:rPr sz="1400">
                <a:solidFill>
                  <a:srgbClr val="1A1A1A"/>
                </a:solidFill>
                <a:latin typeface="Arial"/>
              </a:rPr>
              <a:t>Groups are comparable by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checkout_ab.csv, 2026-09-01 to 2026-09-14; n = 80,000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Data validation: overall verdict PASS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63040"/>
          <a:ext cx="11185854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7575"/>
                <a:gridCol w="1278383"/>
                <a:gridCol w="7989896"/>
              </a:tblGrid>
              <a:tr h="29260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Check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Verdict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Detail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schema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7 columns, 80,000 rows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dtypes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All metric columns numeric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missing values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No missing values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duplicates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80,000 units, one row each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contamination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No unit appears in more than one variant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variants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Counts {'control': 40183, 'treatment': 39817}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SRM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p = 0.196 (threshold 0.001)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dates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2026-09-01 to 2026-09-14 (14 days)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outliers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No extreme outliers in continuous metrics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impossible values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Metric values within valid ranges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pre-period data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None described (CUPED not possible)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covariate balance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Segment mix similar across variants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checkout_ab.csv, 2026-09-01 to 2026-09-14; run 2026-10-01_checkout-button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Treatment lifts checkout conversion by +3.2%, statistically significant, with revenue per user holding 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ift_ci.png"/>
          <p:cNvPicPr>
            <a:picLocks noChangeAspect="1"/>
          </p:cNvPicPr>
          <p:nvPr/>
        </p:nvPicPr>
        <p:blipFill>
          <a:blip r:embed="rId2"/>
          <a:srcRect t="16900"/>
          <a:stretch>
            <a:fillRect/>
          </a:stretch>
        </p:blipFill>
        <p:spPr>
          <a:xfrm>
            <a:off x="502920" y="1417320"/>
            <a:ext cx="7589520" cy="35476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463040"/>
            <a:ext cx="3276295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8C8C8C"/>
                </a:solidFill>
                <a:latin typeface="Arial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874520"/>
            <a:ext cx="3276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1.  </a:t>
            </a:r>
            <a:r>
              <a:rPr sz="1400" b="1">
                <a:solidFill>
                  <a:srgbClr val="1A1A1A"/>
                </a:solidFill>
                <a:latin typeface="Arial"/>
              </a:rPr>
              <a:t>Conversion: </a:t>
            </a:r>
            <a:r>
              <a:rPr sz="1400">
                <a:solidFill>
                  <a:srgbClr val="1A1A1A"/>
                </a:solidFill>
                <a:latin typeface="Arial"/>
              </a:rPr>
              <a:t>+3.2%, CI [+0.6%, +5.8%]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2.  </a:t>
            </a:r>
            <a:r>
              <a:rPr sz="1400" b="1">
                <a:solidFill>
                  <a:srgbClr val="1A1A1A"/>
                </a:solidFill>
                <a:latin typeface="Arial"/>
              </a:rPr>
              <a:t>Evidence: </a:t>
            </a:r>
            <a:r>
              <a:rPr sz="1400">
                <a:solidFill>
                  <a:srgbClr val="1A1A1A"/>
                </a:solidFill>
                <a:latin typeface="Arial"/>
              </a:rPr>
              <a:t>p = 0.001; point estimate above the 2% threshold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3.  </a:t>
            </a:r>
            <a:r>
              <a:rPr sz="1400" b="1">
                <a:solidFill>
                  <a:srgbClr val="1A1A1A"/>
                </a:solidFill>
                <a:latin typeface="Arial"/>
              </a:rPr>
              <a:t>Revenue per user: </a:t>
            </a:r>
            <a:r>
              <a:rPr sz="1400">
                <a:solidFill>
                  <a:srgbClr val="1A1A1A"/>
                </a:solidFill>
                <a:latin typeface="Arial"/>
              </a:rPr>
              <a:t>+2.2%, guardrail pass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checkout_ab.csv, 2026-09-01 to 2026-09-14; n = 80,000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Checkout conversion rises from 34.25% to 35.34%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etric_by_variant.png"/>
          <p:cNvPicPr>
            <a:picLocks noChangeAspect="1"/>
          </p:cNvPicPr>
          <p:nvPr/>
        </p:nvPicPr>
        <p:blipFill>
          <a:blip r:embed="rId2"/>
          <a:srcRect t="11100"/>
          <a:stretch>
            <a:fillRect/>
          </a:stretch>
        </p:blipFill>
        <p:spPr>
          <a:xfrm>
            <a:off x="502920" y="1417320"/>
            <a:ext cx="7589520" cy="37952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463040"/>
            <a:ext cx="3276295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8C8C8C"/>
                </a:solidFill>
                <a:latin typeface="Arial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874520"/>
            <a:ext cx="3276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1.  </a:t>
            </a:r>
            <a:r>
              <a:rPr sz="1400" b="1">
                <a:solidFill>
                  <a:srgbClr val="1A1A1A"/>
                </a:solidFill>
                <a:latin typeface="Arial"/>
              </a:rPr>
              <a:t>Control: </a:t>
            </a:r>
            <a:r>
              <a:rPr sz="1400">
                <a:solidFill>
                  <a:srgbClr val="1A1A1A"/>
                </a:solidFill>
                <a:latin typeface="Arial"/>
              </a:rPr>
              <a:t>34.25%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2.  </a:t>
            </a:r>
            <a:r>
              <a:rPr sz="1400" b="1">
                <a:solidFill>
                  <a:srgbClr val="1A1A1A"/>
                </a:solidFill>
                <a:latin typeface="Arial"/>
              </a:rPr>
              <a:t>Treatment: </a:t>
            </a:r>
            <a:r>
              <a:rPr sz="1400">
                <a:solidFill>
                  <a:srgbClr val="1A1A1A"/>
                </a:solidFill>
                <a:latin typeface="Arial"/>
              </a:rPr>
              <a:t>35.34%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3.  </a:t>
            </a:r>
            <a:r>
              <a:rPr sz="1400" b="1">
                <a:solidFill>
                  <a:srgbClr val="1A1A1A"/>
                </a:solidFill>
                <a:latin typeface="Arial"/>
              </a:rPr>
              <a:t>Absolute change: </a:t>
            </a:r>
            <a:r>
              <a:rPr sz="1400">
                <a:solidFill>
                  <a:srgbClr val="1A1A1A"/>
                </a:solidFill>
                <a:latin typeface="Arial"/>
              </a:rPr>
              <a:t>+1.09 pp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checkout_ab.csv, 2026-09-01 to 2026-09-14; n = 80,000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Revenue per user is non-inferior (+2.2%); the 1% margin is ruled 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uardrail_scorecard.png"/>
          <p:cNvPicPr>
            <a:picLocks noChangeAspect="1"/>
          </p:cNvPicPr>
          <p:nvPr/>
        </p:nvPicPr>
        <p:blipFill>
          <a:blip r:embed="rId2"/>
          <a:srcRect t="11100"/>
          <a:stretch>
            <a:fillRect/>
          </a:stretch>
        </p:blipFill>
        <p:spPr>
          <a:xfrm>
            <a:off x="502920" y="1417320"/>
            <a:ext cx="7589520" cy="37952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463040"/>
            <a:ext cx="3276295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8C8C8C"/>
                </a:solidFill>
                <a:latin typeface="Arial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874520"/>
            <a:ext cx="3276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1.  </a:t>
            </a:r>
            <a:r>
              <a:rPr sz="1400">
                <a:solidFill>
                  <a:srgbClr val="1A1A1A"/>
                </a:solidFill>
                <a:latin typeface="Arial"/>
              </a:rPr>
              <a:t>Change +2.2%, 98% CI [−0.8%, +5.2%]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2.  </a:t>
            </a:r>
            <a:r>
              <a:rPr sz="1400" b="1">
                <a:solidFill>
                  <a:srgbClr val="1A1A1A"/>
                </a:solidFill>
                <a:latin typeface="Arial"/>
              </a:rPr>
              <a:t>Margin −1.0%: </a:t>
            </a:r>
            <a:r>
              <a:rPr sz="1400">
                <a:solidFill>
                  <a:srgbClr val="1A1A1A"/>
                </a:solidFill>
                <a:latin typeface="Arial"/>
              </a:rPr>
              <a:t>harm beyond it is ruled out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3.  </a:t>
            </a:r>
            <a:r>
              <a:rPr sz="1400" b="1">
                <a:solidFill>
                  <a:srgbClr val="1A1A1A"/>
                </a:solidFill>
                <a:latin typeface="Arial"/>
              </a:rPr>
              <a:t>Status: </a:t>
            </a:r>
            <a:r>
              <a:rPr sz="1400">
                <a:solidFill>
                  <a:srgbClr val="1A1A1A"/>
                </a:solidFill>
                <a:latin typeface="Arial"/>
              </a:rPr>
              <a:t>PASS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checkout_ab.csv, 2026-09-01 to 2026-09-14; n = 80,000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Guardrail checks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63040"/>
          <a:ext cx="11185855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872"/>
                <a:gridCol w="1242872"/>
                <a:gridCol w="1242872"/>
                <a:gridCol w="1242872"/>
                <a:gridCol w="1242872"/>
                <a:gridCol w="1242872"/>
                <a:gridCol w="1242872"/>
                <a:gridCol w="1242872"/>
                <a:gridCol w="1242879"/>
              </a:tblGrid>
              <a:tr h="3840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Comparison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Treatment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Rel. lift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CI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 / P(beat)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Method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revenue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treatment vs control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22.73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23.23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+2.2%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[−0.8%, +5.2%]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0.005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noninferiority test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checkout_ab.csv, 2026-09-01 to 2026-09-14; run 2026-10-01_checkout-button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The lift is largest on iOS (+5.2%), but platforms do not differ significantly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gment_forest.png"/>
          <p:cNvPicPr>
            <a:picLocks noChangeAspect="1"/>
          </p:cNvPicPr>
          <p:nvPr/>
        </p:nvPicPr>
        <p:blipFill>
          <a:blip r:embed="rId2"/>
          <a:srcRect t="11100"/>
          <a:stretch>
            <a:fillRect/>
          </a:stretch>
        </p:blipFill>
        <p:spPr>
          <a:xfrm>
            <a:off x="502920" y="1417320"/>
            <a:ext cx="7589520" cy="37952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463040"/>
            <a:ext cx="3276295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8C8C8C"/>
                </a:solidFill>
                <a:latin typeface="Arial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874520"/>
            <a:ext cx="3276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1.  </a:t>
            </a:r>
            <a:r>
              <a:rPr sz="1400" b="1">
                <a:solidFill>
                  <a:srgbClr val="1A1A1A"/>
                </a:solidFill>
                <a:latin typeface="Arial"/>
              </a:rPr>
              <a:t>Interaction test p = 0.168: </a:t>
            </a:r>
            <a:r>
              <a:rPr sz="1400">
                <a:solidFill>
                  <a:srgbClr val="1A1A1A"/>
                </a:solidFill>
                <a:latin typeface="Arial"/>
              </a:rPr>
              <a:t>one rollout decision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2.  </a:t>
            </a:r>
            <a:r>
              <a:rPr sz="1400" b="1">
                <a:solidFill>
                  <a:srgbClr val="1A1A1A"/>
                </a:solidFill>
                <a:latin typeface="Arial"/>
              </a:rPr>
              <a:t>iOS: </a:t>
            </a:r>
            <a:r>
              <a:rPr sz="1400">
                <a:solidFill>
                  <a:srgbClr val="1A1A1A"/>
                </a:solidFill>
                <a:latin typeface="Arial"/>
              </a:rPr>
              <a:t>+5.2% (significant after BH)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3.  </a:t>
            </a:r>
            <a:r>
              <a:rPr sz="1400">
                <a:solidFill>
                  <a:srgbClr val="1A1A1A"/>
                </a:solidFill>
                <a:latin typeface="Arial"/>
              </a:rPr>
              <a:t>All platforms point in the same direction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checkout_ab.csv, 2026-09-01 to 2026-09-14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Treatment led on cumulative conversion on all 14 days of the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mulative_daily.png"/>
          <p:cNvPicPr>
            <a:picLocks noChangeAspect="1"/>
          </p:cNvPicPr>
          <p:nvPr/>
        </p:nvPicPr>
        <p:blipFill>
          <a:blip r:embed="rId2"/>
          <a:srcRect t="11100"/>
          <a:stretch>
            <a:fillRect/>
          </a:stretch>
        </p:blipFill>
        <p:spPr>
          <a:xfrm>
            <a:off x="502920" y="1417320"/>
            <a:ext cx="7589520" cy="37952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463040"/>
            <a:ext cx="3276295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8C8C8C"/>
                </a:solidFill>
                <a:latin typeface="Arial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874520"/>
            <a:ext cx="3276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1.  </a:t>
            </a:r>
            <a:r>
              <a:rPr sz="1400" b="1">
                <a:solidFill>
                  <a:srgbClr val="1A1A1A"/>
                </a:solidFill>
                <a:latin typeface="Arial"/>
              </a:rPr>
              <a:t>Final: </a:t>
            </a:r>
            <a:r>
              <a:rPr sz="1400">
                <a:solidFill>
                  <a:srgbClr val="1A1A1A"/>
                </a:solidFill>
                <a:latin typeface="Arial"/>
              </a:rPr>
              <a:t>34.25% vs 35.34%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2.  </a:t>
            </a:r>
            <a:r>
              <a:rPr sz="1400" b="1">
                <a:solidFill>
                  <a:srgbClr val="1A1A1A"/>
                </a:solidFill>
                <a:latin typeface="Arial"/>
              </a:rPr>
              <a:t>Cumulative lift at the end: </a:t>
            </a:r>
            <a:r>
              <a:rPr sz="1400">
                <a:solidFill>
                  <a:srgbClr val="1A1A1A"/>
                </a:solidFill>
                <a:latin typeface="Arial"/>
              </a:rPr>
              <a:t>+3.2%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3.  </a:t>
            </a:r>
            <a:r>
              <a:rPr sz="1400">
                <a:solidFill>
                  <a:srgbClr val="1A1A1A"/>
                </a:solidFill>
                <a:latin typeface="Arial"/>
              </a:rPr>
              <a:t>No reversal at any point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checkout_ab.csv, 2026-09-01 to 2026-09-14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Daily lift is noisy but shows no trend over the test (p = 0.794 for the slope)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ily_lift.png"/>
          <p:cNvPicPr>
            <a:picLocks noChangeAspect="1"/>
          </p:cNvPicPr>
          <p:nvPr/>
        </p:nvPicPr>
        <p:blipFill>
          <a:blip r:embed="rId2"/>
          <a:srcRect t="11100"/>
          <a:stretch>
            <a:fillRect/>
          </a:stretch>
        </p:blipFill>
        <p:spPr>
          <a:xfrm>
            <a:off x="502920" y="1417320"/>
            <a:ext cx="7589520" cy="37952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463040"/>
            <a:ext cx="3276295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8C8C8C"/>
                </a:solidFill>
                <a:latin typeface="Arial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874520"/>
            <a:ext cx="3276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1.  </a:t>
            </a:r>
            <a:r>
              <a:rPr sz="1400">
                <a:solidFill>
                  <a:srgbClr val="1A1A1A"/>
                </a:solidFill>
                <a:latin typeface="Arial"/>
              </a:rPr>
              <a:t>Trend slope −0.07% per day, p = 0.794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2.  </a:t>
            </a:r>
            <a:r>
              <a:rPr sz="1400">
                <a:solidFill>
                  <a:srgbClr val="1A1A1A"/>
                </a:solidFill>
                <a:latin typeface="Arial"/>
              </a:rPr>
              <a:t>First third +5.3% vs last third +5.0%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3.  </a:t>
            </a:r>
            <a:r>
              <a:rPr sz="1400">
                <a:solidFill>
                  <a:srgbClr val="1A1A1A"/>
                </a:solidFill>
                <a:latin typeface="Arial"/>
              </a:rPr>
              <a:t>No novelty decay to adjust for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checkout_ab.csv, 2026-09-01 to 2026-09-14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Risks and caveats to keep in mind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111858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CI lower bound +0.6% is below the 2% threshold: </a:t>
            </a:r>
            <a:r>
              <a:rPr sz="1600">
                <a:solidFill>
                  <a:srgbClr val="1A1A1A"/>
                </a:solidFill>
                <a:latin typeface="Arial"/>
              </a:rPr>
              <a:t>the true lift may be smaller than needed (review finding 1).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Platforms: </a:t>
            </a:r>
            <a:r>
              <a:rPr sz="1600">
                <a:solidFill>
                  <a:srgbClr val="1A1A1A"/>
                </a:solidFill>
                <a:latin typeface="Arial"/>
              </a:rPr>
              <a:t>iOS +5.2%, Web +1.2%; interaction p = 0.168, no evidence they differ.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•  </a:t>
            </a:r>
            <a:r>
              <a:rPr sz="1600">
                <a:solidFill>
                  <a:srgbClr val="1A1A1A"/>
                </a:solidFill>
                <a:latin typeface="Arial"/>
              </a:rPr>
              <a:t>Revenue is heavy-tailed; bootstrap CI [−1.0%, +5.4%] agrees with the guardrail pass.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Daily lift: </a:t>
            </a:r>
            <a:r>
              <a:rPr sz="1600">
                <a:solidFill>
                  <a:srgbClr val="1A1A1A"/>
                </a:solidFill>
                <a:latin typeface="Arial"/>
              </a:rPr>
              <a:t>stable (no significant trend) (p = 0.794).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checkout_ab.csv, 2026-09-01 to 2026-09-14; run 2026-10-01_checkout-button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Recommendation: Ship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8C8C8C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1.  </a:t>
            </a:r>
            <a:r>
              <a:rPr sz="1600">
                <a:solidFill>
                  <a:srgbClr val="1A1A1A"/>
                </a:solidFill>
                <a:latin typeface="Arial"/>
              </a:rPr>
              <a:t>Roll out the single-button checkout to all users on every platform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2.  </a:t>
            </a:r>
            <a:r>
              <a:rPr sz="1600">
                <a:solidFill>
                  <a:srgbClr val="1A1A1A"/>
                </a:solidFill>
                <a:latin typeface="Arial"/>
              </a:rPr>
              <a:t>Track conversion and revenue per user for four weeks after rollout against this test's estimates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3.  </a:t>
            </a:r>
            <a:r>
              <a:rPr sz="1600">
                <a:solidFill>
                  <a:srgbClr val="1A1A1A"/>
                </a:solidFill>
                <a:latin typeface="Arial"/>
              </a:rPr>
              <a:t>Use a follow-up test if a platform-specific design is wanted (Web shows the smallest lift)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checkout_ab.csv, 2026-09-01 to 2026-09-14; run 2026-10-01_checkout-button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566160"/>
            <a:ext cx="1097280" cy="508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058400" cy="1371600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100584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0">
                <a:solidFill>
                  <a:srgbClr val="9DB4FF"/>
                </a:solidFill>
                <a:latin typeface="Arial"/>
              </a:rPr>
              <a:t>Methodology, validation and full results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111858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srm: </a:t>
            </a:r>
            <a:r>
              <a:rPr sz="1600">
                <a:solidFill>
                  <a:srgbClr val="1A1A1A"/>
                </a:solidFill>
                <a:latin typeface="Arial"/>
              </a:rPr>
              <a:t>srm check (code/10_validate_profile.py)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primary test: </a:t>
            </a:r>
            <a:r>
              <a:rPr sz="1600">
                <a:solidFill>
                  <a:srgbClr val="1A1A1A"/>
                </a:solidFill>
                <a:latin typeface="Arial"/>
              </a:rPr>
              <a:t>two proportion ztest (code/20_analysis_primary_test.py)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guardrail revenue: </a:t>
            </a:r>
            <a:r>
              <a:rPr sz="1600">
                <a:solidFill>
                  <a:srgbClr val="1A1A1A"/>
                </a:solidFill>
                <a:latin typeface="Arial"/>
              </a:rPr>
              <a:t>noninferiority test (code/20_analysis_guardrail_revenue.py)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revenue sensitivity: </a:t>
            </a:r>
            <a:r>
              <a:rPr sz="1600">
                <a:solidFill>
                  <a:srgbClr val="1A1A1A"/>
                </a:solidFill>
                <a:latin typeface="Arial"/>
              </a:rPr>
              <a:t>welch ttest, bootstrap mean diff (code/20_analysis_revenue_sensitivity.py)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segments platform: </a:t>
            </a:r>
            <a:r>
              <a:rPr sz="1600">
                <a:solidFill>
                  <a:srgbClr val="1A1A1A"/>
                </a:solidFill>
                <a:latin typeface="Arial"/>
              </a:rPr>
              <a:t>segment effects, two proportion ztest, interaction test, simpsons check (code/20_analysis_segments_platform.py)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time trends: </a:t>
            </a:r>
            <a:r>
              <a:rPr sz="1600">
                <a:solidFill>
                  <a:srgbClr val="1A1A1A"/>
                </a:solidFill>
                <a:latin typeface="Arial"/>
              </a:rPr>
              <a:t>cumulative effects, trend test (code/20_analysis_time_trends.py)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Settings: </a:t>
            </a:r>
            <a:r>
              <a:rPr sz="1600">
                <a:solidFill>
                  <a:srgbClr val="1A1A1A"/>
                </a:solidFill>
                <a:latin typeface="Arial"/>
              </a:rPr>
              <a:t>alpha 0.01 (two-sided), power 0.8, SRM threshold 0.001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checkout_ab.csv, 2026-09-01 to 2026-09-14; run 2026-10-01_checkout-button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Full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63040"/>
          <a:ext cx="1118585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872"/>
                <a:gridCol w="1242872"/>
                <a:gridCol w="1242872"/>
                <a:gridCol w="1242872"/>
                <a:gridCol w="1242872"/>
                <a:gridCol w="1242872"/>
                <a:gridCol w="1242872"/>
                <a:gridCol w="1242872"/>
                <a:gridCol w="1242879"/>
              </a:tblGrid>
              <a:tr h="384048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Segment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Comparison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Treatment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Rel. lift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CI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 / P(beat)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Method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converted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treatment vs control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34.25%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35.34%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+3.2%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[+0.6%, +5.8%]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0.001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two proportion ztest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revenue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treatment vs control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22.73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23.23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+2.2%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[−0.8%, +5.2%]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0.005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noninferiority test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revenue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treatment vs control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22.73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23.23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+2.2%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[−1.1%, +5.5%]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0.079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welch ttest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revenue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treatment vs control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22.73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23.23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+2.2%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[−1.0%, +5.4%]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0.082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bootstrap mean diff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converted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Android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treatment vs control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33.53%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34.24%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+2.1%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[−2.2%, +6.5%]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0.306 (adj.)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two proportion ztest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converted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Web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treatment vs control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32.63%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33.02%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+1.2%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[−4.1%, +6.4%]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0.561 (adj.)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two proportion ztest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converted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iOS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treatment vs control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35.93%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37.79%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+5.2%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[+1.2%, +9.2%]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0.002 (adj.)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two proportion ztest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checkout_ab.csv, 2026-09-01 to 2026-09-14; run 2026-10-01_checkout-button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Revenue per buyer has a long right tail in both variants; the shapes are similar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stribution_compare.png"/>
          <p:cNvPicPr>
            <a:picLocks noChangeAspect="1"/>
          </p:cNvPicPr>
          <p:nvPr/>
        </p:nvPicPr>
        <p:blipFill>
          <a:blip r:embed="rId2"/>
          <a:srcRect t="11100"/>
          <a:stretch>
            <a:fillRect/>
          </a:stretch>
        </p:blipFill>
        <p:spPr>
          <a:xfrm>
            <a:off x="502920" y="1417320"/>
            <a:ext cx="7589520" cy="37952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463040"/>
            <a:ext cx="3276295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8C8C8C"/>
                </a:solidFill>
                <a:latin typeface="Arial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874520"/>
            <a:ext cx="3276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1.  </a:t>
            </a:r>
            <a:r>
              <a:rPr sz="1400">
                <a:solidFill>
                  <a:srgbClr val="1A1A1A"/>
                </a:solidFill>
                <a:latin typeface="Arial"/>
              </a:rPr>
              <a:t>Long right tail in both arms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2.  </a:t>
            </a:r>
            <a:r>
              <a:rPr sz="1400">
                <a:solidFill>
                  <a:srgbClr val="1A1A1A"/>
                </a:solidFill>
                <a:latin typeface="Arial"/>
              </a:rPr>
              <a:t>Bootstrap used as a sensitivity check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3.  </a:t>
            </a:r>
            <a:r>
              <a:rPr sz="1400">
                <a:solidFill>
                  <a:srgbClr val="1A1A1A"/>
                </a:solidFill>
                <a:latin typeface="Arial"/>
              </a:rPr>
              <a:t>No capping applied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checkout_ab.csv, 2026-09-01 to 2026-09-14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