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first. Verdict: Ship. The primary metric improved significantly and no guardrail was breached. For every 1,000 users, about 11 more achieved checkout conversion with treatment than with control. A difference this large is unlikely to be down to chance. Caveats: CI lower bound +0.6% is below the 2% threshold: the true lift may be smaller than needed (review finding 1). Platforms: iOS +5.2%, Web +1.2%; interaction p = 0.168, no evidence they differ. Revenue is heavy-tailed; bootstrap CI [−1.0%, +5.4%] agrees with the guardrail pass. Daily lift: stable (no significant trend) (p = 0.794).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storyline: what we were asked, how we answered it, what we found, what it is worth, and what we recommend.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Restate the question and the decision before any result, so the audience judges the answer against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the answer was produced and why it can be trusted: data, checks, method, independent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chart: the conversion lift is real; the lower end of its CI is below the practical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Absolute levels: about one extra purchase per hundred checkout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guardrail is a positive statement: a revenue drop larger than the margin is ruled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Guardrails protect against wins on the primary metric that cost something elsewhere.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Differences between platforms are exploratory; the interaction test is what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Stability check: the gap opened early and held.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Novelty check for a visible UI change: nothing suggests the effect is fading.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Translate the statistics into business terms: what the change is worth.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could make the conclusion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decision, then who does what by when.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Tests used per analysis step and the scripts that produced each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 is as intended, so the comparison between groups is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list of validation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table of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bootstrap check was run for revenue.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097280" cy="508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058400" cy="1737360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l"/>
            <a:r>
              <a:rPr sz="3600" b="1">
                <a:solidFill>
                  <a:srgbClr val="1A1A1A"/>
                </a:solidFill>
                <a:latin typeface="Arial"/>
              </a:rPr>
              <a:t>Single-button checkout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8C8C8C"/>
                </a:solidFill>
                <a:latin typeface="Arial"/>
              </a:rPr>
              <a:t>Treatment raises checkout conversion by 3.2% vs control (statistically significant)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01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365760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2251FF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Treatment raises checkout conversion by 3.2% vs control (statistically significant)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3017520" cy="4754880"/>
          </a:xfrm>
          <a:prstGeom prst="rect">
            <a:avLst/>
          </a:prstGeom>
          <a:solidFill>
            <a:srgbClr val="1B7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74320"/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RECOMMENDATION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SHIP</a:t>
            </a:r>
          </a:p>
          <a:p>
            <a:pPr algn="l"/>
            <a:r>
              <a:rPr sz="6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The primary metric improved significantly and no guardrail was breached.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141732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THE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1691640"/>
            <a:ext cx="7802575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Should we ship the single-button ("Pay now") checkout to all users?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28600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WE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2560320"/>
            <a:ext cx="7802575" cy="17373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Relative lift in checkout conversion: </a:t>
            </a:r>
            <a:r>
              <a:rPr sz="1300">
                <a:solidFill>
                  <a:srgbClr val="1A1A1A"/>
                </a:solidFill>
                <a:latin typeface="Arial"/>
              </a:rPr>
              <a:t>+3.2% (99% CI [+0.6%, +5.8%])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Evidence: </a:t>
            </a:r>
            <a:r>
              <a:rPr sz="1300">
                <a:solidFill>
                  <a:srgbClr val="1A1A1A"/>
                </a:solidFill>
                <a:latin typeface="Arial"/>
              </a:rPr>
              <a:t>p = 0.001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Checkout conversion: </a:t>
            </a:r>
            <a:r>
              <a:rPr sz="1300">
                <a:solidFill>
                  <a:srgbClr val="1A1A1A"/>
                </a:solidFill>
                <a:latin typeface="Arial"/>
              </a:rPr>
              <a:t>control vs treatment: 34.25% vs 35.34%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Units analysed: </a:t>
            </a:r>
            <a:r>
              <a:rPr sz="1300">
                <a:solidFill>
                  <a:srgbClr val="1A1A1A"/>
                </a:solidFill>
                <a:latin typeface="Arial"/>
              </a:rPr>
              <a:t>control: 40,183 / treatment: 39,817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51FF"/>
                </a:solidFill>
                <a:latin typeface="Arial"/>
              </a:rPr>
              <a:t>•  </a:t>
            </a:r>
            <a:r>
              <a:rPr sz="1300" b="1">
                <a:solidFill>
                  <a:srgbClr val="1A1A1A"/>
                </a:solidFill>
                <a:latin typeface="Arial"/>
              </a:rPr>
              <a:t>Guardrail revenue: </a:t>
            </a:r>
            <a:r>
              <a:rPr sz="1300">
                <a:solidFill>
                  <a:srgbClr val="1A1A1A"/>
                </a:solidFill>
                <a:latin typeface="Arial"/>
              </a:rPr>
              <a:t>pass (+2.2%)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425196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IT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4526280"/>
            <a:ext cx="7802575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For every 1,000 users, about 11 more achieved checkout conversion with treatment than with control. A difference this large is unlikely to be down to chance.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521208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WE RECOMMEND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5486400"/>
            <a:ext cx="7802575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rial"/>
              </a:rPr>
              <a:t>Roll out the single-button checkout to all users on every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5989320"/>
            <a:ext cx="780257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MAIN CAVEAT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6263640"/>
            <a:ext cx="7802575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C0392B"/>
                </a:solidFill>
                <a:latin typeface="Arial"/>
              </a:rPr>
              <a:t>CI lower bound +0.6% is below the 2% threshold: the true lift may be smaller than needed (review finding 1).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2026-10-01_checkout-button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1907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The ask: what we were asked to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37744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45059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Approach: how we answered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0896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18211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Findings: what the data shows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84048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1363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Impact: what it means for the business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502920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64515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Recommendation: risks, decision and next steps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303520"/>
            <a:ext cx="502920" cy="502920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376672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Arial"/>
              </a:rPr>
              <a:t>Appendix: methodology, validation and full results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2026-10-01_checkout-button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1">
                <a:solidFill>
                  <a:srgbClr val="2251FF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The ask: Should we ship the single-button ("Pay now") checkout to all users?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2026-10-01_checkout-button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08760"/>
            <a:ext cx="5394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THE DECISION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3949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Ship / don't ship the single-button checkout; whether a platform-specific rollout is needed.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5394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OUR HYPOTHESIS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71800"/>
            <a:ext cx="53949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Replacing the multi-step checkout with a single "Pay now" button increases checkout conversion without lowering revenue per user.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5394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SUCCESS LOOKS LIKE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60520"/>
            <a:ext cx="53949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Checkout conversion must rise by at least 2% (relative) without breaching a guardrail.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08760"/>
            <a:ext cx="524225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WHAT WAS TESTED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46520" y="1828800"/>
          <a:ext cx="524225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211"/>
                <a:gridCol w="3355044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Groups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control: 40,183, treatment: 39,817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Unit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users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Period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2026-09-01 to 2026-09-14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Primary metric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checkout conversion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Guardrails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revenue per user</a:t>
                      </a:r>
                    </a:p>
                  </a:txBody>
                  <a:tcPr marL="91440" anchor="ctr">
                    <a:solidFill>
                      <a:srgbClr val="E3E3E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545"/>
                          </a:solidFill>
                          <a:latin typeface="Arial"/>
                        </a:rPr>
                        <a:t>Practical threshold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+2% relative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1">
                <a:solidFill>
                  <a:srgbClr val="2251FF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We answered it with a randomised comparison of 80,000 users, quality checks and an independent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2026-10-01_checkout-button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5</a:t>
            </a:r>
          </a:p>
        </p:txBody>
      </p:sp>
      <p:sp>
        <p:nvSpPr>
          <p:cNvPr id="8" name="Pentagon 7"/>
          <p:cNvSpPr/>
          <p:nvPr/>
        </p:nvSpPr>
        <p:spPr>
          <a:xfrm>
            <a:off x="502920" y="1737360"/>
            <a:ext cx="2762173" cy="731520"/>
          </a:xfrm>
          <a:prstGeom prst="homePlat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1.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2487853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80,000 users in 2 groups (control, treatment). Period: 2026-09-01 to 2026-09-14.</a:t>
            </a:r>
          </a:p>
        </p:txBody>
      </p:sp>
      <p:sp>
        <p:nvSpPr>
          <p:cNvPr id="10" name="Chevron 9"/>
          <p:cNvSpPr/>
          <p:nvPr/>
        </p:nvSpPr>
        <p:spPr>
          <a:xfrm>
            <a:off x="3310813" y="1737360"/>
            <a:ext cx="2762173" cy="731520"/>
          </a:xfrm>
          <a:prstGeom prst="chevron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2. Quality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973" y="2697480"/>
            <a:ext cx="2487853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12 data checks: overall PASS. Traffic split as intended (p = 0.196).</a:t>
            </a:r>
          </a:p>
        </p:txBody>
      </p:sp>
      <p:sp>
        <p:nvSpPr>
          <p:cNvPr id="12" name="Chevron 11"/>
          <p:cNvSpPr/>
          <p:nvPr/>
        </p:nvSpPr>
        <p:spPr>
          <a:xfrm>
            <a:off x="6118706" y="1737360"/>
            <a:ext cx="2762173" cy="731520"/>
          </a:xfrm>
          <a:prstGeom prst="chevron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3.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5866" y="2697480"/>
            <a:ext cx="2487853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Two-proportion z-test, plus non-inferiority test, Welch t-test, bootstrap. Judged against a 2% practical threshold.</a:t>
            </a:r>
          </a:p>
        </p:txBody>
      </p:sp>
      <p:sp>
        <p:nvSpPr>
          <p:cNvPr id="14" name="Chevron 13"/>
          <p:cNvSpPr/>
          <p:nvPr/>
        </p:nvSpPr>
        <p:spPr>
          <a:xfrm>
            <a:off x="8926599" y="1737360"/>
            <a:ext cx="2762173" cy="731520"/>
          </a:xfrm>
          <a:prstGeom prst="chevron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4.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3759" y="2697480"/>
            <a:ext cx="2487853" cy="2926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Arial"/>
              </a:rPr>
              <a:t>Independent reviewer re-checked the numbers from the raw data: 3 rounds, passed.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Treatment lifts checkout conversion by +3.2%, statistically significant, with revenue per user holding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n = 80,000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6</a:t>
            </a:r>
          </a:p>
        </p:txBody>
      </p:sp>
      <p:pic>
        <p:nvPicPr>
          <p:cNvPr id="8" name="Picture 7" descr="lift_ci.png"/>
          <p:cNvPicPr>
            <a:picLocks noChangeAspect="1"/>
          </p:cNvPicPr>
          <p:nvPr/>
        </p:nvPicPr>
        <p:blipFill>
          <a:blip r:embed="rId3"/>
          <a:srcRect t="16900"/>
          <a:stretch>
            <a:fillRect/>
          </a:stretch>
        </p:blipFill>
        <p:spPr>
          <a:xfrm>
            <a:off x="502920" y="1463040"/>
            <a:ext cx="7589520" cy="35476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Conversion: </a:t>
            </a:r>
            <a:r>
              <a:rPr sz="1400">
                <a:solidFill>
                  <a:srgbClr val="1A1A1A"/>
                </a:solidFill>
                <a:latin typeface="Arial"/>
              </a:rPr>
              <a:t>+3.2%, CI [+0.6%, +5.8%]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Evidence: </a:t>
            </a:r>
            <a:r>
              <a:rPr sz="1400">
                <a:solidFill>
                  <a:srgbClr val="1A1A1A"/>
                </a:solidFill>
                <a:latin typeface="Arial"/>
              </a:rPr>
              <a:t>p = 0.001; point estimate above the 2% threshold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 b="1">
                <a:solidFill>
                  <a:srgbClr val="1A1A1A"/>
                </a:solidFill>
                <a:latin typeface="Arial"/>
              </a:rPr>
              <a:t>Revenue per user: </a:t>
            </a:r>
            <a:r>
              <a:rPr sz="1400">
                <a:solidFill>
                  <a:srgbClr val="1A1A1A"/>
                </a:solidFill>
                <a:latin typeface="Arial"/>
              </a:rPr>
              <a:t>+2.2%, guardrail pass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Checkout conversion rises from 34.25% to 35.34%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n = 80,000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7</a:t>
            </a:r>
          </a:p>
        </p:txBody>
      </p:sp>
      <p:pic>
        <p:nvPicPr>
          <p:cNvPr id="8" name="Picture 7" descr="metric_by_variant.png"/>
          <p:cNvPicPr>
            <a:picLocks noChangeAspect="1"/>
          </p:cNvPicPr>
          <p:nvPr/>
        </p:nvPicPr>
        <p:blipFill>
          <a:blip r:embed="rId3"/>
          <a:srcRect t="11100"/>
          <a:stretch>
            <a:fillRect/>
          </a:stretch>
        </p:blipFill>
        <p:spPr>
          <a:xfrm>
            <a:off x="502920" y="1463040"/>
            <a:ext cx="7589520" cy="37952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Control: </a:t>
            </a:r>
            <a:r>
              <a:rPr sz="1400">
                <a:solidFill>
                  <a:srgbClr val="1A1A1A"/>
                </a:solidFill>
                <a:latin typeface="Arial"/>
              </a:rPr>
              <a:t>34.25%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Treatment: </a:t>
            </a:r>
            <a:r>
              <a:rPr sz="1400">
                <a:solidFill>
                  <a:srgbClr val="1A1A1A"/>
                </a:solidFill>
                <a:latin typeface="Arial"/>
              </a:rPr>
              <a:t>35.34%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 b="1">
                <a:solidFill>
                  <a:srgbClr val="1A1A1A"/>
                </a:solidFill>
                <a:latin typeface="Arial"/>
              </a:rPr>
              <a:t>Absolute change: </a:t>
            </a:r>
            <a:r>
              <a:rPr sz="1400">
                <a:solidFill>
                  <a:srgbClr val="1A1A1A"/>
                </a:solidFill>
                <a:latin typeface="Arial"/>
              </a:rPr>
              <a:t>+1.09 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Revenue per user is non-inferior (+2.2%); the 1% margin is ruled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n = 80,000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8</a:t>
            </a:r>
          </a:p>
        </p:txBody>
      </p:sp>
      <p:pic>
        <p:nvPicPr>
          <p:cNvPr id="8" name="Picture 7" descr="guardrail_scorecard.png"/>
          <p:cNvPicPr>
            <a:picLocks noChangeAspect="1"/>
          </p:cNvPicPr>
          <p:nvPr/>
        </p:nvPicPr>
        <p:blipFill>
          <a:blip r:embed="rId3"/>
          <a:srcRect t="11100"/>
          <a:stretch>
            <a:fillRect/>
          </a:stretch>
        </p:blipFill>
        <p:spPr>
          <a:xfrm>
            <a:off x="502920" y="1463040"/>
            <a:ext cx="7589520" cy="37952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>
                <a:solidFill>
                  <a:srgbClr val="1A1A1A"/>
                </a:solidFill>
                <a:latin typeface="Arial"/>
              </a:rPr>
              <a:t>Change +2.2%, 98% CI [−0.8%, +5.2%]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Margin −1.0%: </a:t>
            </a:r>
            <a:r>
              <a:rPr sz="1400">
                <a:solidFill>
                  <a:srgbClr val="1A1A1A"/>
                </a:solidFill>
                <a:latin typeface="Arial"/>
              </a:rPr>
              <a:t>harm beyond it is ruled out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 b="1">
                <a:solidFill>
                  <a:srgbClr val="1A1A1A"/>
                </a:solidFill>
                <a:latin typeface="Arial"/>
              </a:rPr>
              <a:t>Status: </a:t>
            </a:r>
            <a:r>
              <a:rPr sz="1400">
                <a:solidFill>
                  <a:srgbClr val="1A1A1A"/>
                </a:solidFill>
                <a:latin typeface="Arial"/>
              </a:rPr>
              <a:t>PASS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Guardrail checks: each tested for non-inferiority against its margin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2026-10-01_checkout-button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508760"/>
          <a:ext cx="11185855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9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Comparison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Treatment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Rel. lift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CI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 / P(beat)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23.23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+2.2%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[−0.8%, +5.2%]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0.005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noninferiority 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The lift is largest on iOS (+5.2%), but platforms do not differ significantly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10</a:t>
            </a:r>
          </a:p>
        </p:txBody>
      </p:sp>
      <p:pic>
        <p:nvPicPr>
          <p:cNvPr id="8" name="Picture 7" descr="segment_forest.png"/>
          <p:cNvPicPr>
            <a:picLocks noChangeAspect="1"/>
          </p:cNvPicPr>
          <p:nvPr/>
        </p:nvPicPr>
        <p:blipFill>
          <a:blip r:embed="rId3"/>
          <a:srcRect t="11100"/>
          <a:stretch>
            <a:fillRect/>
          </a:stretch>
        </p:blipFill>
        <p:spPr>
          <a:xfrm>
            <a:off x="502920" y="1463040"/>
            <a:ext cx="7589520" cy="37952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Interaction test p = 0.168: </a:t>
            </a:r>
            <a:r>
              <a:rPr sz="1400">
                <a:solidFill>
                  <a:srgbClr val="1A1A1A"/>
                </a:solidFill>
                <a:latin typeface="Arial"/>
              </a:rPr>
              <a:t>one rollout decision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iOS: </a:t>
            </a:r>
            <a:r>
              <a:rPr sz="1400">
                <a:solidFill>
                  <a:srgbClr val="1A1A1A"/>
                </a:solidFill>
                <a:latin typeface="Arial"/>
              </a:rPr>
              <a:t>+5.2% (significant after BH)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All platforms point in the same direction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Treatment led on cumulative conversion on all 14 days of the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11</a:t>
            </a:r>
          </a:p>
        </p:txBody>
      </p:sp>
      <p:pic>
        <p:nvPicPr>
          <p:cNvPr id="8" name="Picture 7" descr="cumulative_daily.png"/>
          <p:cNvPicPr>
            <a:picLocks noChangeAspect="1"/>
          </p:cNvPicPr>
          <p:nvPr/>
        </p:nvPicPr>
        <p:blipFill>
          <a:blip r:embed="rId3"/>
          <a:srcRect t="11100"/>
          <a:stretch>
            <a:fillRect/>
          </a:stretch>
        </p:blipFill>
        <p:spPr>
          <a:xfrm>
            <a:off x="502920" y="1463040"/>
            <a:ext cx="7589520" cy="37952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 b="1">
                <a:solidFill>
                  <a:srgbClr val="1A1A1A"/>
                </a:solidFill>
                <a:latin typeface="Arial"/>
              </a:rPr>
              <a:t>Final: </a:t>
            </a:r>
            <a:r>
              <a:rPr sz="1400">
                <a:solidFill>
                  <a:srgbClr val="1A1A1A"/>
                </a:solidFill>
                <a:latin typeface="Arial"/>
              </a:rPr>
              <a:t>34.25% vs 35.34%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 b="1">
                <a:solidFill>
                  <a:srgbClr val="1A1A1A"/>
                </a:solidFill>
                <a:latin typeface="Arial"/>
              </a:rPr>
              <a:t>Cumulative lift at the end: </a:t>
            </a:r>
            <a:r>
              <a:rPr sz="1400">
                <a:solidFill>
                  <a:srgbClr val="1A1A1A"/>
                </a:solidFill>
                <a:latin typeface="Arial"/>
              </a:rPr>
              <a:t>+3.2%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No reversal at any point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1">
                <a:solidFill>
                  <a:srgbClr val="2251FF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Daily lift is noisy but shows no trend over the test (p = 0.794 for the slope)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12</a:t>
            </a:r>
          </a:p>
        </p:txBody>
      </p:sp>
      <p:pic>
        <p:nvPicPr>
          <p:cNvPr id="8" name="Picture 7" descr="daily_lift.png"/>
          <p:cNvPicPr>
            <a:picLocks noChangeAspect="1"/>
          </p:cNvPicPr>
          <p:nvPr/>
        </p:nvPicPr>
        <p:blipFill>
          <a:blip r:embed="rId3"/>
          <a:srcRect t="11100"/>
          <a:stretch>
            <a:fillRect/>
          </a:stretch>
        </p:blipFill>
        <p:spPr>
          <a:xfrm>
            <a:off x="502920" y="1463040"/>
            <a:ext cx="7589520" cy="37952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>
                <a:solidFill>
                  <a:srgbClr val="1A1A1A"/>
                </a:solidFill>
                <a:latin typeface="Arial"/>
              </a:rPr>
              <a:t>Trend slope −0.07% per day, p = 0.794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>
                <a:solidFill>
                  <a:srgbClr val="1A1A1A"/>
                </a:solidFill>
                <a:latin typeface="Arial"/>
              </a:rPr>
              <a:t>First third +5.3% vs last third +5.0%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No novelty decay to adjust for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1">
                <a:solidFill>
                  <a:srgbClr val="2251FF"/>
                </a:solidFill>
                <a:latin typeface="Arial"/>
              </a:rPr>
              <a:t>4  IMPACT      </a:t>
            </a:r>
            <a:r>
              <a:rPr sz="900" b="0">
                <a:solidFill>
                  <a:srgbClr val="8C8C8C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For every 1,000 users, about 11 more achieved checkout conversion with treatment than with control.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2026-10-01_checkout-button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3545738" cy="508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74520"/>
            <a:ext cx="3545738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2251FF"/>
                </a:solidFill>
                <a:latin typeface="Arial"/>
              </a:rPr>
              <a:t>+3.2%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743200"/>
            <a:ext cx="3545738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Relative change in the primary 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83280"/>
            <a:ext cx="354573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99% CI [+0.6%, +5.8%]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691640"/>
            <a:ext cx="3545738" cy="508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978" y="1874520"/>
            <a:ext cx="3545738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0B2545"/>
                </a:solidFill>
                <a:latin typeface="Arial"/>
              </a:rPr>
              <a:t>+10.9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2978" y="2743200"/>
            <a:ext cx="3545738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Change per 1,000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2978" y="3383280"/>
            <a:ext cx="354573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34.25% → 35.34%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3036" y="1691640"/>
            <a:ext cx="3545738" cy="508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3036" y="1874520"/>
            <a:ext cx="3545738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0B2545"/>
                </a:solidFill>
                <a:latin typeface="Arial"/>
              </a:rPr>
              <a:t>80,000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3036" y="2743200"/>
            <a:ext cx="3545738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Units analysed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3036" y="3383280"/>
            <a:ext cx="3545738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8C8C8C"/>
                </a:solidFill>
                <a:latin typeface="Arial"/>
              </a:rPr>
              <a:t>control: 40,183 / treatment: 39,817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89120"/>
            <a:ext cx="11185855" cy="91440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SO WHAT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Arial"/>
              </a:rPr>
              <a:t>The primary metric improved significantly and no guardrail was breached.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440679"/>
            <a:ext cx="1118585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Arial"/>
              </a:rPr>
              <a:t>Read with the 4 caveats on the next slide.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1">
                <a:solidFill>
                  <a:srgbClr val="2251FF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4 caveats could change or qualify this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2026-10-01_checkout-button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11185855" cy="45720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CI lower bound +0.6% is below the 2% threshold: </a:t>
            </a:r>
            <a:r>
              <a:rPr sz="1600">
                <a:solidFill>
                  <a:srgbClr val="1A1A1A"/>
                </a:solidFill>
                <a:latin typeface="Arial"/>
              </a:rPr>
              <a:t>the true lift may be smaller than needed (review finding 1).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Platforms: </a:t>
            </a:r>
            <a:r>
              <a:rPr sz="1600">
                <a:solidFill>
                  <a:srgbClr val="1A1A1A"/>
                </a:solidFill>
                <a:latin typeface="Arial"/>
              </a:rPr>
              <a:t>iOS +5.2%, Web +1.2%; interaction p = 0.168, no evidence they differ.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>
                <a:solidFill>
                  <a:srgbClr val="1A1A1A"/>
                </a:solidFill>
                <a:latin typeface="Arial"/>
              </a:rPr>
              <a:t>Revenue is heavy-tailed; bootstrap CI [−1.0%, +5.4%] agrees with the guardrail pass.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Daily lift: </a:t>
            </a:r>
            <a:r>
              <a:rPr sz="1600">
                <a:solidFill>
                  <a:srgbClr val="1A1A1A"/>
                </a:solidFill>
                <a:latin typeface="Arial"/>
              </a:rPr>
              <a:t>stable (no significant trend) (p = 0.794).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"/>
            <a:ext cx="11185855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>
                <a:solidFill>
                  <a:srgbClr val="8C8C8C"/>
                </a:solidFill>
                <a:latin typeface="Arial"/>
              </a:rPr>
              <a:t>1  THE ASK      </a:t>
            </a:r>
            <a:r>
              <a:rPr sz="900" b="0">
                <a:solidFill>
                  <a:srgbClr val="8C8C8C"/>
                </a:solidFill>
                <a:latin typeface="Arial"/>
              </a:rPr>
              <a:t>2  APPROACH      </a:t>
            </a:r>
            <a:r>
              <a:rPr sz="900" b="0">
                <a:solidFill>
                  <a:srgbClr val="8C8C8C"/>
                </a:solidFill>
                <a:latin typeface="Arial"/>
              </a:rPr>
              <a:t>3  FINDINGS      </a:t>
            </a:r>
            <a:r>
              <a:rPr sz="900" b="0">
                <a:solidFill>
                  <a:srgbClr val="8C8C8C"/>
                </a:solidFill>
                <a:latin typeface="Arial"/>
              </a:rPr>
              <a:t>4  IMPACT      </a:t>
            </a:r>
            <a:r>
              <a:rPr sz="900" b="1">
                <a:solidFill>
                  <a:srgbClr val="2251FF"/>
                </a:solidFill>
                <a:latin typeface="Arial"/>
              </a:rPr>
              <a:t>5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Recommendation: Ship, with 3 next steps to act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2026-10-01_checkout-button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11185855" cy="777240"/>
          </a:xfrm>
          <a:prstGeom prst="rect">
            <a:avLst/>
          </a:prstGeom>
          <a:solidFill>
            <a:srgbClr val="1B7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DECISION: 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77440"/>
            <a:ext cx="11185855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The primary metric improved significantly and no guardrail was breached.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26080"/>
            <a:ext cx="3657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NEXT STEPS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3246119"/>
          <a:ext cx="11185853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"/>
                <a:gridCol w="7270805"/>
                <a:gridCol w="1901595"/>
                <a:gridCol w="1454161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91440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91440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91440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Timing</a:t>
                      </a:r>
                    </a:p>
                  </a:txBody>
                  <a:tcPr marL="91440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51FF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Roll out the single-button checkout to all users on every platform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51FF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Track conversion and revenue per user for four weeks after rollout against this test's estimates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51FF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Use a follow-up test if a platform-specific design is wanted (Web shows the smallest lift)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 agree</a:t>
                      </a:r>
                    </a:p>
                  </a:txBody>
                  <a:tcPr marL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566160"/>
            <a:ext cx="1097280" cy="508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058400" cy="1371600"/>
          </a:xfrm>
          <a:prstGeom prst="rect">
            <a:avLst/>
          </a:prstGeom>
          <a:noFill/>
        </p:spPr>
        <p:txBody>
          <a:bodyPr wrap="square" anchor="b" lIns="18288" rIns="18288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0">
                <a:solidFill>
                  <a:srgbClr val="9DB4FF"/>
                </a:solidFill>
                <a:latin typeface="Arial"/>
              </a:rPr>
              <a:t>Methodology, validation and full results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Methodology: tests used and the scripts that produced each number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2026-10-01_checkout-button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11185855" cy="45720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srm: </a:t>
            </a:r>
            <a:r>
              <a:rPr sz="1600">
                <a:solidFill>
                  <a:srgbClr val="1A1A1A"/>
                </a:solidFill>
                <a:latin typeface="Arial"/>
              </a:rPr>
              <a:t>srm check (code/10_validate_profile.py)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primary test: </a:t>
            </a:r>
            <a:r>
              <a:rPr sz="1600">
                <a:solidFill>
                  <a:srgbClr val="1A1A1A"/>
                </a:solidFill>
                <a:latin typeface="Arial"/>
              </a:rPr>
              <a:t>two proportion ztest (code/20_analysis_primary_test.py)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guardrail revenue: </a:t>
            </a:r>
            <a:r>
              <a:rPr sz="1600">
                <a:solidFill>
                  <a:srgbClr val="1A1A1A"/>
                </a:solidFill>
                <a:latin typeface="Arial"/>
              </a:rPr>
              <a:t>noninferiority test (code/20_analysis_guardrail_revenue.py)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revenue sensitivity: </a:t>
            </a:r>
            <a:r>
              <a:rPr sz="1600">
                <a:solidFill>
                  <a:srgbClr val="1A1A1A"/>
                </a:solidFill>
                <a:latin typeface="Arial"/>
              </a:rPr>
              <a:t>welch ttest, bootstrap mean diff (code/20_analysis_revenue_sensitivity.py)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segments platform: </a:t>
            </a:r>
            <a:r>
              <a:rPr sz="1600">
                <a:solidFill>
                  <a:srgbClr val="1A1A1A"/>
                </a:solidFill>
                <a:latin typeface="Arial"/>
              </a:rPr>
              <a:t>segment effects, two proportion ztest, interaction test, simpsons check (code/20_analysis_segments_platform.py)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time trends: </a:t>
            </a:r>
            <a:r>
              <a:rPr sz="1600">
                <a:solidFill>
                  <a:srgbClr val="1A1A1A"/>
                </a:solidFill>
                <a:latin typeface="Arial"/>
              </a:rPr>
              <a:t>cumulative effects, trend test (code/20_analysis_time_trends.py)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251FF"/>
                </a:solidFill>
                <a:latin typeface="Arial"/>
              </a:rPr>
              <a:t>•  </a:t>
            </a:r>
            <a:r>
              <a:rPr sz="1600" b="1">
                <a:solidFill>
                  <a:srgbClr val="1A1A1A"/>
                </a:solidFill>
                <a:latin typeface="Arial"/>
              </a:rPr>
              <a:t>Settings: </a:t>
            </a:r>
            <a:r>
              <a:rPr sz="1600">
                <a:solidFill>
                  <a:srgbClr val="1A1A1A"/>
                </a:solidFill>
                <a:latin typeface="Arial"/>
              </a:rPr>
              <a:t>alpha 0.01 (two-sided), power 0.8, SRM threshold 0.001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Traffic split matches the intended 50/50 (treatment 49.8%; no sample ratio mismatch)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n = 80,000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18</a:t>
            </a:r>
          </a:p>
        </p:txBody>
      </p:sp>
      <p:pic>
        <p:nvPicPr>
          <p:cNvPr id="7" name="Picture 6" descr="srm_bar.png"/>
          <p:cNvPicPr>
            <a:picLocks noChangeAspect="1"/>
          </p:cNvPicPr>
          <p:nvPr/>
        </p:nvPicPr>
        <p:blipFill>
          <a:blip r:embed="rId3"/>
          <a:srcRect t="11100"/>
          <a:stretch>
            <a:fillRect/>
          </a:stretch>
        </p:blipFill>
        <p:spPr>
          <a:xfrm>
            <a:off x="502920" y="1463040"/>
            <a:ext cx="7589520" cy="37952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>
                <a:solidFill>
                  <a:srgbClr val="1A1A1A"/>
                </a:solidFill>
                <a:latin typeface="Arial"/>
              </a:rPr>
              <a:t>Control 50.2%, treatment 49.8%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>
                <a:solidFill>
                  <a:srgbClr val="1A1A1A"/>
                </a:solidFill>
                <a:latin typeface="Arial"/>
              </a:rPr>
              <a:t>Chi-square p = 0.196 vs threshold 0.001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Groups are comparable by design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Data validation: overall verdict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2026-10-01_checkout-button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08760"/>
          <a:ext cx="11185854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7575"/>
                <a:gridCol w="1278383"/>
                <a:gridCol w="7989896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Check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Detail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schema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7 columns, 80,000 rows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dtypes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All metric columns numeric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missing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missing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duplicates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80,000 units, one row each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contamination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unit appears in more than one variant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variants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Counts {'control': 40183, 'treatment': 39817}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SRM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 = 0.196 (threshold 0.001)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dates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2026-09-01 to 2026-09-14 (14 days)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outliers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extreme outliers in continuous metrics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impossible values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Metric values within valid ranges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pre-period data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None described (CUPED not possible)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covariate balance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7F5A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Segment mix similar across variants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Full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2026-09-14; run 2026-10-01_checkout-button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08760"/>
          <a:ext cx="1118585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9"/>
              </a:tblGrid>
              <a:tr h="384048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Comparison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Treatment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Rel. lift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CI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 / P(beat)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34.25%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35.34%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+3.2%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[+0.6%, +5.8%]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23.23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+2.2%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[−0.8%, +5.2%]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0.005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noninferiority 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23.23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+2.2%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[−1.1%, +5.5%]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0.079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welch ttest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22.73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23.23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+2.2%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[−1.0%, +5.4%]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0.082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bootstrap mean diff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Android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33.53%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34.24%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+2.1%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[−2.2%, +6.5%]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0.306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Web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32.63%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33.02%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+1.2%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[−4.1%, +6.4%]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0.561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converted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iOS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treatment vs control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35.93%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37.79%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+5.2%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[+1.2%, +9.2%]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0.002 (adj.)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</a:rPr>
                        <a:t>two proportion ztest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85855" cy="868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Arial"/>
              </a:rPr>
              <a:t>Revenue per buyer has a long right tail in both variants; the shapes are similar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16152"/>
            <a:ext cx="822960" cy="3810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327648"/>
            <a:ext cx="11185855" cy="6350"/>
          </a:xfrm>
          <a:prstGeom prst="rect">
            <a:avLst/>
          </a:prstGeom>
          <a:solidFill>
            <a:srgbClr val="E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9875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Arial"/>
              </a:rPr>
              <a:t>Source: checkout_ab.csv, 2026-09-01 to 2026-09-14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008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>
                <a:solidFill>
                  <a:srgbClr val="8C8C8C"/>
                </a:solidFill>
                <a:latin typeface="Arial"/>
              </a:rPr>
              <a:t>21</a:t>
            </a:r>
          </a:p>
        </p:txBody>
      </p:sp>
      <p:pic>
        <p:nvPicPr>
          <p:cNvPr id="7" name="Picture 6" descr="distribution_compare.png"/>
          <p:cNvPicPr>
            <a:picLocks noChangeAspect="1"/>
          </p:cNvPicPr>
          <p:nvPr/>
        </p:nvPicPr>
        <p:blipFill>
          <a:blip r:embed="rId3"/>
          <a:srcRect t="11100"/>
          <a:stretch>
            <a:fillRect/>
          </a:stretch>
        </p:blipFill>
        <p:spPr>
          <a:xfrm>
            <a:off x="502920" y="1463040"/>
            <a:ext cx="7589520" cy="37952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508760"/>
            <a:ext cx="3276295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KEY 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920240"/>
            <a:ext cx="3276295" cy="4114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1.  </a:t>
            </a:r>
            <a:r>
              <a:rPr sz="1400">
                <a:solidFill>
                  <a:srgbClr val="1A1A1A"/>
                </a:solidFill>
                <a:latin typeface="Arial"/>
              </a:rPr>
              <a:t>Long right tail in both arms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2.  </a:t>
            </a:r>
            <a:r>
              <a:rPr sz="1400">
                <a:solidFill>
                  <a:srgbClr val="1A1A1A"/>
                </a:solidFill>
                <a:latin typeface="Arial"/>
              </a:rPr>
              <a:t>Bootstrap used as a sensitivity check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2251FF"/>
                </a:solidFill>
                <a:latin typeface="Arial"/>
              </a:rPr>
              <a:t>3.  </a:t>
            </a:r>
            <a:r>
              <a:rPr sz="1400">
                <a:solidFill>
                  <a:srgbClr val="1A1A1A"/>
                </a:solidFill>
                <a:latin typeface="Arial"/>
              </a:rPr>
              <a:t>No capping applied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