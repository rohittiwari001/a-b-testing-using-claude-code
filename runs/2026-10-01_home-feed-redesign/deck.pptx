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 first. Verdict: Ship. The primary metric improved significantly and by more than the practical threshold. Average minutes per user was 1.07 higher with treatment than with control. A difference this large is unlikely to be down to chance. Caveats: CUPED chosen after the unadjusted result (p = 0.081) was seen; both reported. CI [+0.0%, +3.3%] includes lifts below the 1% threshold. CUPED lift +1.7% vs unadjusted +2.1%: treatment had a small pre-period head start by chance (review finding 2). Regression adjustment agrees: +1.7% (p = 0.042). No dates in the data: novelty not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storyline: what we were asked, how we answered it, what we found, what it is worth, and what we recommend.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Restate the question and the decision before any result, so the audience judges the answer against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the answer was produced and why it can be trusted: data, checks, method, independent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data, sharper lens: pre-period minutes explain much of the user-to-user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Plain-English explanation of CUPED for the product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Raw levels for context; the decision uses the CUPED-adjusted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Translate the statistics into business terms: what the change is worth.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about what could make the conclusion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decision, then who does what by when.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Tests used per analysis step and the scripts that produced each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list of validation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table of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Supports the use of mean-based tests at this sample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46120"/>
            <a:ext cx="1097280" cy="508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058400" cy="1737360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l"/>
            <a:r>
              <a:rPr sz="3600" b="1">
                <a:solidFill>
                  <a:srgbClr val="1A1A1A"/>
                </a:solidFill>
                <a:latin typeface="Arial"/>
              </a:rPr>
              <a:t>Home feed redesign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0584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8C8C8C"/>
                </a:solidFill>
                <a:latin typeface="Arial"/>
              </a:rPr>
              <a:t>Treatment raises minutes per user by 1.7% vs control (statistically significant)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Arial"/>
              </a:rPr>
              <a:t>01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365760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1">
                <a:solidFill>
                  <a:srgbClr val="2251FF"/>
                </a:solidFill>
                <a:latin typeface="Arial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Treatment raises minutes per user by 1.7% vs control (statistically significant)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3017520" cy="4754880"/>
          </a:xfrm>
          <a:prstGeom prst="rect">
            <a:avLst/>
          </a:prstGeom>
          <a:solidFill>
            <a:srgbClr val="1B7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74320"/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RECOMMENDATION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SHIP</a:t>
            </a:r>
          </a:p>
          <a:p>
            <a:pPr algn="l"/>
            <a:r>
              <a:rPr sz="6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The primary metric improved significantly and by more than the practical threshold.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1417320"/>
            <a:ext cx="78025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THE 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86200" y="1691640"/>
            <a:ext cx="7802575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rial"/>
              </a:rPr>
              <a:t>Does the redesigned home feed increase time spent in the app?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2286000"/>
            <a:ext cx="78025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WHAT WE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2560320"/>
            <a:ext cx="7802575" cy="17373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251FF"/>
                </a:solidFill>
                <a:latin typeface="Arial"/>
              </a:rPr>
              <a:t>•  </a:t>
            </a:r>
            <a:r>
              <a:rPr sz="1300" b="1">
                <a:solidFill>
                  <a:srgbClr val="1A1A1A"/>
                </a:solidFill>
                <a:latin typeface="Arial"/>
              </a:rPr>
              <a:t>Relative lift in minutes per user: </a:t>
            </a:r>
            <a:r>
              <a:rPr sz="1300">
                <a:solidFill>
                  <a:srgbClr val="1A1A1A"/>
                </a:solidFill>
                <a:latin typeface="Arial"/>
              </a:rPr>
              <a:t>+1.7% (95% CI [+0.0%, +3.3%])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251FF"/>
                </a:solidFill>
                <a:latin typeface="Arial"/>
              </a:rPr>
              <a:t>•  </a:t>
            </a:r>
            <a:r>
              <a:rPr sz="1300" b="1">
                <a:solidFill>
                  <a:srgbClr val="1A1A1A"/>
                </a:solidFill>
                <a:latin typeface="Arial"/>
              </a:rPr>
              <a:t>Evidence: </a:t>
            </a:r>
            <a:r>
              <a:rPr sz="1300">
                <a:solidFill>
                  <a:srgbClr val="1A1A1A"/>
                </a:solidFill>
                <a:latin typeface="Arial"/>
              </a:rPr>
              <a:t>p = 0.042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251FF"/>
                </a:solidFill>
                <a:latin typeface="Arial"/>
              </a:rPr>
              <a:t>•  </a:t>
            </a:r>
            <a:r>
              <a:rPr sz="1300" b="1">
                <a:solidFill>
                  <a:srgbClr val="1A1A1A"/>
                </a:solidFill>
                <a:latin typeface="Arial"/>
              </a:rPr>
              <a:t>Minutes per user: </a:t>
            </a:r>
            <a:r>
              <a:rPr sz="1300">
                <a:solidFill>
                  <a:srgbClr val="1A1A1A"/>
                </a:solidFill>
                <a:latin typeface="Arial"/>
              </a:rPr>
              <a:t>control vs treatment (adjusted): 63.77 vs 64.84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251FF"/>
                </a:solidFill>
                <a:latin typeface="Arial"/>
              </a:rPr>
              <a:t>•  </a:t>
            </a:r>
            <a:r>
              <a:rPr sz="1300" b="1">
                <a:solidFill>
                  <a:srgbClr val="1A1A1A"/>
                </a:solidFill>
                <a:latin typeface="Arial"/>
              </a:rPr>
              <a:t>Units analysed: </a:t>
            </a:r>
            <a:r>
              <a:rPr sz="1300">
                <a:solidFill>
                  <a:srgbClr val="1A1A1A"/>
                </a:solidFill>
                <a:latin typeface="Arial"/>
              </a:rPr>
              <a:t>control: 9,902 / treatment: 10,098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251FF"/>
                </a:solidFill>
                <a:latin typeface="Arial"/>
              </a:rPr>
              <a:t>•  </a:t>
            </a:r>
            <a:r>
              <a:rPr sz="1300" b="1">
                <a:solidFill>
                  <a:srgbClr val="1A1A1A"/>
                </a:solidFill>
                <a:latin typeface="Arial"/>
              </a:rPr>
              <a:t>Unadjusted test (for comparison): </a:t>
            </a:r>
            <a:r>
              <a:rPr sz="1300">
                <a:solidFill>
                  <a:srgbClr val="1A1A1A"/>
                </a:solidFill>
                <a:latin typeface="Arial"/>
              </a:rPr>
              <a:t>+2.1%, p = 0.081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0" y="4251960"/>
            <a:ext cx="78025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WHAT IT MEANS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4526280"/>
            <a:ext cx="7802575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Arial"/>
              </a:rPr>
              <a:t>Average minutes per user was 1.07 higher with treatment than with control. A difference this large is unlikely to be down to chance.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5212080"/>
            <a:ext cx="78025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WHAT WE RECOMMEND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5486400"/>
            <a:ext cx="7802575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rial"/>
              </a:rPr>
              <a:t>Ship the redesigned home feed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5989320"/>
            <a:ext cx="78025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MAIN CAVEAT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6263640"/>
            <a:ext cx="7802575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C0392B"/>
                </a:solidFill>
                <a:latin typeface="Arial"/>
              </a:rPr>
              <a:t>CUPED chosen after the unadjusted result (p = 0.081) was seen; both reported.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cuped_engagement.csv; run 2026-10-01_home-feed-redesign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645920"/>
            <a:ext cx="502920" cy="5029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19072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Arial"/>
              </a:rPr>
              <a:t>The ask: what we were asked to answer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377440"/>
            <a:ext cx="502920" cy="5029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450592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Arial"/>
              </a:rPr>
              <a:t>Approach: how we answered it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502920" cy="5029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182112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Arial"/>
              </a:rPr>
              <a:t>Findings: what the data shows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840480"/>
            <a:ext cx="502920" cy="5029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13632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Arial"/>
              </a:rPr>
              <a:t>Impact: what it means for the business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572000"/>
            <a:ext cx="502920" cy="5029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645152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Arial"/>
              </a:rPr>
              <a:t>Recommendation: risks, decision and next steps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303520"/>
            <a:ext cx="502920" cy="502920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376672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Arial"/>
              </a:rPr>
              <a:t>Appendix: methodology, validation and full results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cuped_engagement.csv; run 2026-10-01_home-feed-redesign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1">
                <a:solidFill>
                  <a:srgbClr val="2251FF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0">
                <a:solidFill>
                  <a:srgbClr val="8C8C8C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The ask: Does the redesigned home feed increase time spent in the app?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cuped_engagement.csv; run 2026-10-01_home-feed-redesign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08760"/>
            <a:ext cx="5394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THE DECISION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3949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rial"/>
              </a:rPr>
              <a:t>Ship / don't ship the redesigned feed.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5394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OUR HYPOTHESIS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971800"/>
            <a:ext cx="53949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rial"/>
              </a:rPr>
              <a:t>The redesigned feed increases minutes per user.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5394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WHAT SUCCESS LOOKS LIKE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160520"/>
            <a:ext cx="53949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rial"/>
              </a:rPr>
              <a:t>Minutes per user must rise by at least 1% (relative).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508760"/>
            <a:ext cx="524225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WHAT WAS TESTED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46520" y="1828800"/>
          <a:ext cx="524225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211"/>
                <a:gridCol w="3355044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545"/>
                          </a:solidFill>
                          <a:latin typeface="Arial"/>
                        </a:rPr>
                        <a:t>Groups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treatment: 10,098, control: 9,902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545"/>
                          </a:solidFill>
                          <a:latin typeface="Arial"/>
                        </a:rPr>
                        <a:t>Unit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users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545"/>
                          </a:solidFill>
                          <a:latin typeface="Arial"/>
                        </a:rPr>
                        <a:t>Period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dates not recorded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545"/>
                          </a:solidFill>
                          <a:latin typeface="Arial"/>
                        </a:rPr>
                        <a:t>Primary metric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minutes per user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545"/>
                          </a:solidFill>
                          <a:latin typeface="Arial"/>
                        </a:rPr>
                        <a:t>Guardrails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none defined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545"/>
                          </a:solidFill>
                          <a:latin typeface="Arial"/>
                        </a:rPr>
                        <a:t>Practical threshold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+1% relative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1">
                <a:solidFill>
                  <a:srgbClr val="2251FF"/>
                </a:solidFill>
                <a:latin typeface="Arial"/>
              </a:rPr>
              <a:t>2  APPROACH      </a:t>
            </a:r>
            <a:r>
              <a:rPr sz="900" b="0">
                <a:solidFill>
                  <a:srgbClr val="8C8C8C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We answered it with a randomised comparison of 20,000 users, quality checks and an independent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cuped_engagement.csv; run 2026-10-01_home-feed-redesign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5</a:t>
            </a:r>
          </a:p>
        </p:txBody>
      </p:sp>
      <p:sp>
        <p:nvSpPr>
          <p:cNvPr id="8" name="Pentagon 7"/>
          <p:cNvSpPr/>
          <p:nvPr/>
        </p:nvSpPr>
        <p:spPr>
          <a:xfrm>
            <a:off x="502920" y="1737360"/>
            <a:ext cx="2762173" cy="731520"/>
          </a:xfrm>
          <a:prstGeom prst="homePlat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1.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2487853" cy="2926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Arial"/>
              </a:rPr>
              <a:t>20,000 users in 2 groups (treatment, control). Test dates not recorded.</a:t>
            </a:r>
          </a:p>
        </p:txBody>
      </p:sp>
      <p:sp>
        <p:nvSpPr>
          <p:cNvPr id="10" name="Chevron 9"/>
          <p:cNvSpPr/>
          <p:nvPr/>
        </p:nvSpPr>
        <p:spPr>
          <a:xfrm>
            <a:off x="3310813" y="1737360"/>
            <a:ext cx="2762173" cy="731520"/>
          </a:xfrm>
          <a:prstGeom prst="chevron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2. Quality checks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973" y="2697480"/>
            <a:ext cx="2487853" cy="2926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Arial"/>
              </a:rPr>
              <a:t>11 data checks: overall PASS. Traffic split as intended (p = 0.166).</a:t>
            </a:r>
          </a:p>
        </p:txBody>
      </p:sp>
      <p:sp>
        <p:nvSpPr>
          <p:cNvPr id="12" name="Chevron 11"/>
          <p:cNvSpPr/>
          <p:nvPr/>
        </p:nvSpPr>
        <p:spPr>
          <a:xfrm>
            <a:off x="6118706" y="1737360"/>
            <a:ext cx="2762173" cy="731520"/>
          </a:xfrm>
          <a:prstGeom prst="chevron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3.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5866" y="2697480"/>
            <a:ext cx="2487853" cy="2926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Arial"/>
              </a:rPr>
              <a:t>Welch t-test, plus bootstrap, CUPED (pre-period variance reduction), regression adjustment. Judged against a 1% practical threshold.</a:t>
            </a:r>
          </a:p>
        </p:txBody>
      </p:sp>
      <p:sp>
        <p:nvSpPr>
          <p:cNvPr id="14" name="Chevron 13"/>
          <p:cNvSpPr/>
          <p:nvPr/>
        </p:nvSpPr>
        <p:spPr>
          <a:xfrm>
            <a:off x="8926599" y="1737360"/>
            <a:ext cx="2762173" cy="731520"/>
          </a:xfrm>
          <a:prstGeom prst="chevron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4.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3759" y="2697480"/>
            <a:ext cx="2487853" cy="2926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Arial"/>
              </a:rPr>
              <a:t>Independent reviewer re-checked the numbers from the raw data: 2 rounds, passed.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1">
                <a:solidFill>
                  <a:srgbClr val="2251FF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With CUPED, the feed lifts minutes per user by +1.7%, statistically significant (p = 0.042)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cuped_engagement.csv, 14-day test; n = 20,000 users; Welch t-test, CUPED with pre_minutes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6</a:t>
            </a:r>
          </a:p>
        </p:txBody>
      </p:sp>
      <p:pic>
        <p:nvPicPr>
          <p:cNvPr id="8" name="Picture 7" descr="lift_ci.png"/>
          <p:cNvPicPr>
            <a:picLocks noChangeAspect="1"/>
          </p:cNvPicPr>
          <p:nvPr/>
        </p:nvPicPr>
        <p:blipFill>
          <a:blip r:embed="rId3"/>
          <a:srcRect t="16900"/>
          <a:stretch>
            <a:fillRect/>
          </a:stretch>
        </p:blipFill>
        <p:spPr>
          <a:xfrm>
            <a:off x="502920" y="1463040"/>
            <a:ext cx="7589520" cy="354762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08760"/>
            <a:ext cx="327629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KEY 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20240"/>
            <a:ext cx="3276295" cy="4114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 b="1">
                <a:solidFill>
                  <a:srgbClr val="1A1A1A"/>
                </a:solidFill>
                <a:latin typeface="Arial"/>
              </a:rPr>
              <a:t>Unadjusted: </a:t>
            </a:r>
            <a:r>
              <a:rPr sz="1400">
                <a:solidFill>
                  <a:srgbClr val="1A1A1A"/>
                </a:solidFill>
                <a:latin typeface="Arial"/>
              </a:rPr>
              <a:t>+2.1%, p = 0.081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 b="1">
                <a:solidFill>
                  <a:srgbClr val="1A1A1A"/>
                </a:solidFill>
                <a:latin typeface="Arial"/>
              </a:rPr>
              <a:t>CUPED: </a:t>
            </a:r>
            <a:r>
              <a:rPr sz="1400">
                <a:solidFill>
                  <a:srgbClr val="1A1A1A"/>
                </a:solidFill>
                <a:latin typeface="Arial"/>
              </a:rPr>
              <a:t>+1.7%, CI [+0.0%, +3.3%]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 b="1">
                <a:solidFill>
                  <a:srgbClr val="1A1A1A"/>
                </a:solidFill>
                <a:latin typeface="Arial"/>
              </a:rPr>
              <a:t>CUPED chosen after the first result: </a:t>
            </a:r>
            <a:r>
              <a:rPr sz="1400">
                <a:solidFill>
                  <a:srgbClr val="1A1A1A"/>
                </a:solidFill>
                <a:latin typeface="Arial"/>
              </a:rPr>
              <a:t>stated as a caveat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1">
                <a:solidFill>
                  <a:srgbClr val="2251FF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Using pre-period minutes narrows the confidence interval by 31.2%, like having 2.1x the users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cuped_engagement.csv, 14-day test; n = 20,000 users; Welch t-test, CUPED with pre_minutes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7</a:t>
            </a:r>
          </a:p>
        </p:txBody>
      </p:sp>
      <p:pic>
        <p:nvPicPr>
          <p:cNvPr id="8" name="Picture 7" descr="cuped_variance_reduction.png"/>
          <p:cNvPicPr>
            <a:picLocks noChangeAspect="1"/>
          </p:cNvPicPr>
          <p:nvPr/>
        </p:nvPicPr>
        <p:blipFill>
          <a:blip r:embed="rId3"/>
          <a:srcRect t="16900"/>
          <a:stretch>
            <a:fillRect/>
          </a:stretch>
        </p:blipFill>
        <p:spPr>
          <a:xfrm>
            <a:off x="502920" y="1463040"/>
            <a:ext cx="7589520" cy="354762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08760"/>
            <a:ext cx="327629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KEY 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20240"/>
            <a:ext cx="3276295" cy="4114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>
                <a:solidFill>
                  <a:srgbClr val="1A1A1A"/>
                </a:solidFill>
                <a:latin typeface="Arial"/>
              </a:rPr>
              <a:t>Pre/post correlation 0.73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 b="1">
                <a:solidFill>
                  <a:srgbClr val="1A1A1A"/>
                </a:solidFill>
                <a:latin typeface="Arial"/>
              </a:rPr>
              <a:t>Variance removed: </a:t>
            </a:r>
            <a:r>
              <a:rPr sz="1400">
                <a:solidFill>
                  <a:srgbClr val="1A1A1A"/>
                </a:solidFill>
                <a:latin typeface="Arial"/>
              </a:rPr>
              <a:t>52.6%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>
                <a:solidFill>
                  <a:srgbClr val="1A1A1A"/>
                </a:solidFill>
                <a:latin typeface="Arial"/>
              </a:rPr>
              <a:t>Equivalent to 2.1x the sample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1">
                <a:solidFill>
                  <a:srgbClr val="2251FF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Minutes per user: 63.8 in control vs 65.1 in treatment (unadjusted)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cuped_engagement.csv, 14-day test; n = 20,000 users; Welch t-test, CUPED with pre_minutes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8</a:t>
            </a:r>
          </a:p>
        </p:txBody>
      </p:sp>
      <p:pic>
        <p:nvPicPr>
          <p:cNvPr id="8" name="Picture 7" descr="metric_by_variant.png"/>
          <p:cNvPicPr>
            <a:picLocks noChangeAspect="1"/>
          </p:cNvPicPr>
          <p:nvPr/>
        </p:nvPicPr>
        <p:blipFill>
          <a:blip r:embed="rId3"/>
          <a:srcRect t="11100"/>
          <a:stretch>
            <a:fillRect/>
          </a:stretch>
        </p:blipFill>
        <p:spPr>
          <a:xfrm>
            <a:off x="502920" y="1463040"/>
            <a:ext cx="7589520" cy="379523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08760"/>
            <a:ext cx="327629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KEY 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20240"/>
            <a:ext cx="3276295" cy="4114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>
                <a:solidFill>
                  <a:srgbClr val="1A1A1A"/>
                </a:solidFill>
                <a:latin typeface="Arial"/>
              </a:rPr>
              <a:t>Control 63.8 min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>
                <a:solidFill>
                  <a:srgbClr val="1A1A1A"/>
                </a:solidFill>
                <a:latin typeface="Arial"/>
              </a:rPr>
              <a:t>Treatment 65.1 min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>
                <a:solidFill>
                  <a:srgbClr val="1A1A1A"/>
                </a:solidFill>
                <a:latin typeface="Arial"/>
              </a:rPr>
              <a:t>CUPED-adjusted difference 1.07 min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0">
                <a:solidFill>
                  <a:srgbClr val="8C8C8C"/>
                </a:solidFill>
                <a:latin typeface="Arial"/>
              </a:rPr>
              <a:t>3  FINDINGS      </a:t>
            </a:r>
            <a:r>
              <a:rPr sz="900" b="1">
                <a:solidFill>
                  <a:srgbClr val="2251FF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Average minutes per user was 1.07 higher with treatment than with control.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cuped_engagement.csv; run 2026-10-01_home-feed-redesign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3545738" cy="508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74520"/>
            <a:ext cx="3545738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2251FF"/>
                </a:solidFill>
                <a:latin typeface="Arial"/>
              </a:rPr>
              <a:t>+1.7%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743200"/>
            <a:ext cx="3545738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Arial"/>
              </a:rPr>
              <a:t>Relative change in the primary 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83280"/>
            <a:ext cx="354573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Arial"/>
              </a:rPr>
              <a:t>95% CI [+0.0%, +3.3%]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1691640"/>
            <a:ext cx="3545738" cy="508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2978" y="1874520"/>
            <a:ext cx="3545738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0B2545"/>
                </a:solidFill>
                <a:latin typeface="Arial"/>
              </a:rPr>
              <a:t>1.07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2978" y="2743200"/>
            <a:ext cx="3545738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Arial"/>
              </a:rPr>
              <a:t>Absolute change per unit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2978" y="3383280"/>
            <a:ext cx="354573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Arial"/>
              </a:rPr>
              <a:t>63.77 → 64.84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43036" y="1691640"/>
            <a:ext cx="3545738" cy="508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43036" y="1874520"/>
            <a:ext cx="3545738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0B2545"/>
                </a:solidFill>
                <a:latin typeface="Arial"/>
              </a:rPr>
              <a:t>20,000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3036" y="2743200"/>
            <a:ext cx="3545738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Arial"/>
              </a:rPr>
              <a:t>Units analysed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3036" y="3383280"/>
            <a:ext cx="354573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Arial"/>
              </a:rPr>
              <a:t>control: 9,902 / treatment: 10,098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89120"/>
            <a:ext cx="11185855" cy="91440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SO WHAT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Arial"/>
              </a:rPr>
              <a:t>The primary metric improved significantly and by more than the practical threshold.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440679"/>
            <a:ext cx="11185855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Arial"/>
              </a:rPr>
              <a:t>Read with the 5 caveats on the next slide.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0">
                <a:solidFill>
                  <a:srgbClr val="8C8C8C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1">
                <a:solidFill>
                  <a:srgbClr val="2251FF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5 caveats could change or qualify this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cuped_engagement.csv; run 2026-10-01_home-feed-redesign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11185855" cy="45720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>
                <a:solidFill>
                  <a:srgbClr val="1A1A1A"/>
                </a:solidFill>
                <a:latin typeface="Arial"/>
              </a:rPr>
              <a:t>CUPED chosen after the unadjusted result (p = 0.081) was seen; both reported.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>
                <a:solidFill>
                  <a:srgbClr val="1A1A1A"/>
                </a:solidFill>
                <a:latin typeface="Arial"/>
              </a:rPr>
              <a:t>CI [+0.0%, +3.3%] includes lifts below the 1% threshold.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CUPED lift +1.7% vs unadjusted +2.1%: </a:t>
            </a:r>
            <a:r>
              <a:rPr sz="1600">
                <a:solidFill>
                  <a:srgbClr val="1A1A1A"/>
                </a:solidFill>
                <a:latin typeface="Arial"/>
              </a:rPr>
              <a:t>treatment had a small pre-period head start by chance (review finding 2).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Regression adjustment agrees: </a:t>
            </a:r>
            <a:r>
              <a:rPr sz="1600">
                <a:solidFill>
                  <a:srgbClr val="1A1A1A"/>
                </a:solidFill>
                <a:latin typeface="Arial"/>
              </a:rPr>
              <a:t>+1.7% (p = 0.042).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No dates in the data: </a:t>
            </a:r>
            <a:r>
              <a:rPr sz="1600">
                <a:solidFill>
                  <a:srgbClr val="1A1A1A"/>
                </a:solidFill>
                <a:latin typeface="Arial"/>
              </a:rPr>
              <a:t>novelty not checked.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0">
                <a:solidFill>
                  <a:srgbClr val="8C8C8C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1">
                <a:solidFill>
                  <a:srgbClr val="2251FF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Recommendation: Ship, with 3 next steps to act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cuped_engagement.csv; run 2026-10-01_home-feed-redesign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11185855" cy="777240"/>
          </a:xfrm>
          <a:prstGeom prst="rect">
            <a:avLst/>
          </a:prstGeom>
          <a:solidFill>
            <a:srgbClr val="1B7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DECISION: 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77440"/>
            <a:ext cx="11185855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rial"/>
              </a:rPr>
              <a:t>The primary metric improved significantly and by more than the practical threshold.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26080"/>
            <a:ext cx="3657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NEXT STEPS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3246119"/>
          <a:ext cx="11185853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"/>
                <a:gridCol w="7270805"/>
                <a:gridCol w="1901595"/>
                <a:gridCol w="1454161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91440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Action</a:t>
                      </a:r>
                    </a:p>
                  </a:txBody>
                  <a:tcPr marL="91440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91440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Timing</a:t>
                      </a:r>
                    </a:p>
                  </a:txBody>
                  <a:tcPr marL="91440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51FF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Ship the redesigned home feed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 agree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 agree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51FF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Pre-register CUPED with pre-period minutes as the default analysis for future engagement tests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 agree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 agree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51FF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Check minutes per user again four weeks after launch, as novelty could not be ruled out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 agree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 agree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566160"/>
            <a:ext cx="1097280" cy="508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058400" cy="1371600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0584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0">
                <a:solidFill>
                  <a:srgbClr val="9DB4FF"/>
                </a:solidFill>
                <a:latin typeface="Arial"/>
              </a:rPr>
              <a:t>Methodology, validation and full results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Methodology: tests used and the scripts that produced each number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cuped_engagement.csv; run 2026-10-01_home-feed-redesign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11185855" cy="45720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srm: </a:t>
            </a:r>
            <a:r>
              <a:rPr sz="1600">
                <a:solidFill>
                  <a:srgbClr val="1A1A1A"/>
                </a:solidFill>
                <a:latin typeface="Arial"/>
              </a:rPr>
              <a:t>srm check (code/10_validate_profile.py)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naive test: </a:t>
            </a:r>
            <a:r>
              <a:rPr sz="1600">
                <a:solidFill>
                  <a:srgbClr val="1A1A1A"/>
                </a:solidFill>
                <a:latin typeface="Arial"/>
              </a:rPr>
              <a:t>welch ttest, bootstrap mean diff (code/20_analysis_naive_test.py)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cuped test: </a:t>
            </a:r>
            <a:r>
              <a:rPr sz="1600">
                <a:solidFill>
                  <a:srgbClr val="1A1A1A"/>
                </a:solidFill>
                <a:latin typeface="Arial"/>
              </a:rPr>
              <a:t>cuped (code/20_analysis_cuped_test.py)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regression check: </a:t>
            </a:r>
            <a:r>
              <a:rPr sz="1600">
                <a:solidFill>
                  <a:srgbClr val="1A1A1A"/>
                </a:solidFill>
                <a:latin typeface="Arial"/>
              </a:rPr>
              <a:t>regression adjustment (code/20_analysis_regression_check.py)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Settings: </a:t>
            </a:r>
            <a:r>
              <a:rPr sz="1600">
                <a:solidFill>
                  <a:srgbClr val="1A1A1A"/>
                </a:solidFill>
                <a:latin typeface="Arial"/>
              </a:rPr>
              <a:t>alpha 0.05 (two-sided), power 0.8, SRM threshold 0.001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Data validation: overall verdict PASS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cuped_engagement.csv; run 2026-10-01_home-feed-redesign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08760"/>
          <a:ext cx="11185854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7575"/>
                <a:gridCol w="1278383"/>
                <a:gridCol w="7989896"/>
              </a:tblGrid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Check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Detail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schema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5 columns, 20,000 rows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dtypes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All metric columns numeric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missing values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 missing values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duplicates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20,000 units, one row each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contamination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 unit appears in more than one variant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variants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Counts {'treatment': 10098, 'control': 9902}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SRM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 = 0.166 (threshold 0.001)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outliers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 extreme outliers in continuous metrics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impossible values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Metric values within valid ranges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pre-period data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Available; correlations with metrics pre_minutes~minutes=0.73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covariate balance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Segment mix similar across variants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Full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cuped_engagement.csv; run 2026-10-01_home-feed-redesign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08760"/>
          <a:ext cx="1118585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8231"/>
                <a:gridCol w="1398231"/>
                <a:gridCol w="1398231"/>
                <a:gridCol w="1398231"/>
                <a:gridCol w="1398231"/>
                <a:gridCol w="1398231"/>
                <a:gridCol w="1398231"/>
                <a:gridCol w="1398238"/>
              </a:tblGrid>
              <a:tr h="384048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Comparison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Control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Treatment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Rel. lift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CI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 / P(beat)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minutes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63.77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65.11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+2.1%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[−0.3%, +4.5%]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0.081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welch ttest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minutes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63.77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65.11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+2.1%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[−0.3%, +4.5%]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0.081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bootstrap mean diff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minutes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63.77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64.84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+1.7%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[+0.0%, +3.3%]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0.042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cuped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minutes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63.77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64.84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+1.7%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[+0.1%, +3.3%]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0.042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regression adjustment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Minutes per user are right-skewed with similar shapes in both variants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cuped_engagement.csv, 14-day test; n = 20,000 users; Welch t-test, CUPED with pre_minutes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16</a:t>
            </a:r>
          </a:p>
        </p:txBody>
      </p:sp>
      <p:pic>
        <p:nvPicPr>
          <p:cNvPr id="7" name="Picture 6" descr="distribution_compare.png"/>
          <p:cNvPicPr>
            <a:picLocks noChangeAspect="1"/>
          </p:cNvPicPr>
          <p:nvPr/>
        </p:nvPicPr>
        <p:blipFill>
          <a:blip r:embed="rId3"/>
          <a:srcRect t="11100"/>
          <a:stretch>
            <a:fillRect/>
          </a:stretch>
        </p:blipFill>
        <p:spPr>
          <a:xfrm>
            <a:off x="502920" y="1463040"/>
            <a:ext cx="7589520" cy="379523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508760"/>
            <a:ext cx="327629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KEY TAKEAWAYS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920240"/>
            <a:ext cx="3276295" cy="4114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>
                <a:solidFill>
                  <a:srgbClr val="1A1A1A"/>
                </a:solidFill>
                <a:latin typeface="Arial"/>
              </a:rPr>
              <a:t>Long right tail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>
                <a:solidFill>
                  <a:srgbClr val="1A1A1A"/>
                </a:solidFill>
                <a:latin typeface="Arial"/>
              </a:rPr>
              <a:t>No change in shape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>
                <a:solidFill>
                  <a:srgbClr val="1A1A1A"/>
                </a:solidFill>
                <a:latin typeface="Arial"/>
              </a:rPr>
              <a:t>Bootstrap agrees with Welch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