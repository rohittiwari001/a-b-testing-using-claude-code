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Verdict: Ship. The primary metric improved significantly and by more than the practical threshold. For every 1,000 users, about 7.7 more achieved conversion with the ad campaign than with the PSA. A difference this large is unlikely to be down to chance. PSA ids form a separate block (900,000 to 923,523); assignment unconfirmed. Split confirmed as 96/4 only after a 95/5 check failed. Exposure breakdowns are exploratory, non-causal; 4 of 7 buckets inconclusive. No dates: novelty or wear-off cannot be checked. No guardrail metrics defined; verdict rests on conversion alone. Money impact needs a value per 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what was tested, on whom, for how long, and how success was defined before looking at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groups are the size they were meant to be, so the comparison can be trusted on this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data quality: anything flagged here limits how far the results can be trusted.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headline - ads clearly raise conversion, by far more than the bar we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in plain terms, roughly eight more conversions for every thousand people who see the 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Ads curve sits entirely to the right of the PSA curve - no plausible world where PSA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Bayesian decision rule says ship - the chance ads are worse than PSA is negligible.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descriptive only - heavier-exposure users are different people, so this does not show that more ads cause more 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what could make this conclusion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 and owners. The primary metric improved significantly and by more than the practical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Tests used per analysis step and the scripts that produced each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table of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table of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097280" cy="50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1737360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Arial"/>
              </a:rPr>
              <a:t>Marketing campaign: ads vs PSA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>
                <a:solidFill>
                  <a:srgbClr val="8C8C8C"/>
                </a:solidFill>
                <a:latin typeface="Arial"/>
              </a:rPr>
              <a:t>The ad campaign raises conversion by 43.1% vs the PSA (statistically significant)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8C8C8C"/>
                </a:solidFill>
                <a:latin typeface="Arial"/>
              </a:rPr>
              <a:t>01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The ad campaign raises conversion by 43.1% vs the PSA (statistically significant)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11185855" cy="914400"/>
          </a:xfrm>
          <a:prstGeom prst="rect">
            <a:avLst/>
          </a:prstGeom>
          <a:solidFill>
            <a:srgbClr val="1B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Recommendation: SHIP</a:t>
            </a:r>
            <a:r>
              <a:rPr sz="1300">
                <a:solidFill>
                  <a:srgbClr val="FFFFFF"/>
                </a:solidFill>
                <a:latin typeface="Arial"/>
              </a:rPr>
              <a:t>   The primary metric improved significantly and by more than the practical threshold.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51760"/>
            <a:ext cx="11185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Relative lift in conversion: </a:t>
            </a:r>
            <a:r>
              <a:rPr sz="1700">
                <a:solidFill>
                  <a:srgbClr val="1A1A1A"/>
                </a:solidFill>
                <a:latin typeface="Arial"/>
              </a:rPr>
              <a:t>+43.1% (95% CI [+29.3%, +56.8%])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Evidence: </a:t>
            </a:r>
            <a:r>
              <a:rPr sz="1700">
                <a:solidFill>
                  <a:srgbClr val="1A1A1A"/>
                </a:solidFill>
                <a:latin typeface="Arial"/>
              </a:rPr>
              <a:t>p &lt; 0.001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Conversion: </a:t>
            </a:r>
            <a:r>
              <a:rPr sz="1700">
                <a:solidFill>
                  <a:srgbClr val="1A1A1A"/>
                </a:solidFill>
                <a:latin typeface="Arial"/>
              </a:rPr>
              <a:t>the PSA vs the ad campaign: 1.79% vs 2.55%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Units analysed: </a:t>
            </a:r>
            <a:r>
              <a:rPr sz="1700">
                <a:solidFill>
                  <a:srgbClr val="1A1A1A"/>
                </a:solidFill>
                <a:latin typeface="Arial"/>
              </a:rPr>
              <a:t>psa: 23,524 / ad: 564,577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51FF"/>
                </a:solidFill>
                <a:latin typeface="Arial"/>
              </a:rPr>
              <a:t>•  </a:t>
            </a:r>
            <a:r>
              <a:rPr sz="1700" b="1">
                <a:solidFill>
                  <a:srgbClr val="1A1A1A"/>
                </a:solidFill>
                <a:latin typeface="Arial"/>
              </a:rPr>
              <a:t>Incremental conversions per 1,000 users: </a:t>
            </a:r>
            <a:r>
              <a:rPr sz="1700">
                <a:solidFill>
                  <a:srgbClr val="1A1A1A"/>
                </a:solidFill>
                <a:latin typeface="Arial"/>
              </a:rPr>
              <a:t>7.7 (95% CI 6.0 to 9.4)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marketing_AB.csv; run 2026-10-01_marketing-ads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How the experiment was set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5854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8389391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Detail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Variants (units)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ad: 564,577, psa: 23,524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Primary metric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converted (binary, goal: increase)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Statistical settings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alpha 0.05, two-sided, power 0.8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Multiple-testing correction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secondary: holm; segments: benjamini-hochberg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Analysis type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post test readout, bayesian readout, heterogeneous effects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marketing_AB.csv; run 2026-10-01_marketing-ads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Traffic split matches the intended 96/4 (Ads 96.0%, PSA 4.0%): no sample ratio mismatch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rm_bar.png"/>
          <p:cNvPicPr>
            <a:picLocks noChangeAspect="1"/>
          </p:cNvPicPr>
          <p:nvPr/>
        </p:nvPicPr>
        <p:blipFill>
          <a:blip r:embed="rId2"/>
          <a:srcRect t="11100"/>
          <a:stretch>
            <a:fillRect/>
          </a:stretch>
        </p:blipFill>
        <p:spPr>
          <a:xfrm>
            <a:off x="502920" y="1417320"/>
            <a:ext cx="7589520" cy="3795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>
                <a:solidFill>
                  <a:srgbClr val="1A1A1A"/>
                </a:solidFill>
                <a:latin typeface="Arial"/>
              </a:rPr>
              <a:t>PSA has 23,524 users vs 23,524 expected under 96/4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 b="1">
                <a:solidFill>
                  <a:srgbClr val="1A1A1A"/>
                </a:solidFill>
                <a:latin typeface="Arial"/>
              </a:rPr>
              <a:t>Chi-square p = 1.000 (threshold 0.001): </a:t>
            </a:r>
            <a:r>
              <a:rPr sz="1400">
                <a:solidFill>
                  <a:srgbClr val="1A1A1A"/>
                </a:solidFill>
                <a:latin typeface="Arial"/>
              </a:rPr>
              <a:t>the split is as intended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>
                <a:solidFill>
                  <a:srgbClr val="1A1A1A"/>
                </a:solidFill>
                <a:latin typeface="Arial"/>
              </a:rPr>
              <a:t>The first-stated 95/5 split failed (p &lt; 0.001); the user confirmed 96/4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marketing_AB.csv (test dates not recorded); n = 588,101 users; chi-square goodness-of-fit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Data validation: overall verdict WARN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5854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575"/>
                <a:gridCol w="1278383"/>
                <a:gridCol w="7989896"/>
              </a:tblGrid>
              <a:tr h="29260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Detail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schema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6 columns, 588,101 rows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dtypes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All metric columns numeric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missing values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 missing values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duplicates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588,101 units, one row each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contamination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 unit appears in more than one variant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variants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Counts {'ad': 564577, 'psa': 23524}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SRM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p = 1.000 (threshold 0.001)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outliers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08900"/>
                          </a:solidFill>
                          <a:latin typeface="Arial"/>
                        </a:rPr>
                        <a:t>WARN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Extreme values (reported, not removed): total ads: max is 10x the 99th percentile. Consider winsorised or boot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impossible values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Metric values within valid ranges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pre-period data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7F5A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None described (CUPED not possible)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covariate balance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08900"/>
                          </a:solidFill>
                          <a:latin typeface="Arial"/>
                        </a:rPr>
                        <a:t>WARN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Segment mix differs between variants: most ads day (p = 4.8e-48), most ads hour (p = 1.1e-28) (can indicate an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marketing_AB.csv; run 2026-10-01_marketing-ads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Ads lift conversion by +43.1% vs PSA, statistically significant and above the 5% practical threshold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ft_ci.png"/>
          <p:cNvPicPr>
            <a:picLocks noChangeAspect="1"/>
          </p:cNvPicPr>
          <p:nvPr/>
        </p:nvPicPr>
        <p:blipFill>
          <a:blip r:embed="rId2"/>
          <a:srcRect t="16900"/>
          <a:stretch>
            <a:fillRect/>
          </a:stretch>
        </p:blipFill>
        <p:spPr>
          <a:xfrm>
            <a:off x="502920" y="1417320"/>
            <a:ext cx="7589520" cy="354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>
                <a:solidFill>
                  <a:srgbClr val="1A1A1A"/>
                </a:solidFill>
                <a:latin typeface="Arial"/>
              </a:rPr>
              <a:t>Relative lift +43.1%, 95% CI [+29.3%, +56.8%]; p &lt; 0.001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>
                <a:solidFill>
                  <a:srgbClr val="1A1A1A"/>
                </a:solidFill>
                <a:latin typeface="Arial"/>
              </a:rPr>
              <a:t>Even the low end (+29.3%) is above the 5% practical threshold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 b="1">
                <a:solidFill>
                  <a:srgbClr val="1A1A1A"/>
                </a:solidFill>
                <a:latin typeface="Arial"/>
              </a:rPr>
              <a:t>Bayesian view agrees: </a:t>
            </a:r>
            <a:r>
              <a:rPr sz="1400">
                <a:solidFill>
                  <a:srgbClr val="1A1A1A"/>
                </a:solidFill>
                <a:latin typeface="Arial"/>
              </a:rPr>
              <a:t>+42.9%, 95% credible interval [+29.9%, +57.5%]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marketing_AB.csv (test dates not recorded); n = 588,101 users; two-proportion z-test and beta-binomial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Ads users convert at 2.55% vs 1.79% with PSA: 7.7 extra conversions per 1,000 users, significant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tric_by_variant.png"/>
          <p:cNvPicPr>
            <a:picLocks noChangeAspect="1"/>
          </p:cNvPicPr>
          <p:nvPr/>
        </p:nvPicPr>
        <p:blipFill>
          <a:blip r:embed="rId2"/>
          <a:srcRect t="16900"/>
          <a:stretch>
            <a:fillRect/>
          </a:stretch>
        </p:blipFill>
        <p:spPr>
          <a:xfrm>
            <a:off x="502920" y="1417320"/>
            <a:ext cx="7589520" cy="354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 b="1">
                <a:solidFill>
                  <a:srgbClr val="1A1A1A"/>
                </a:solidFill>
                <a:latin typeface="Arial"/>
              </a:rPr>
              <a:t>PSA: </a:t>
            </a:r>
            <a:r>
              <a:rPr sz="1400">
                <a:solidFill>
                  <a:srgbClr val="1A1A1A"/>
                </a:solidFill>
                <a:latin typeface="Arial"/>
              </a:rPr>
              <a:t>1.79% of 23,524 users converted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 b="1">
                <a:solidFill>
                  <a:srgbClr val="1A1A1A"/>
                </a:solidFill>
                <a:latin typeface="Arial"/>
              </a:rPr>
              <a:t>Ads: </a:t>
            </a:r>
            <a:r>
              <a:rPr sz="1400">
                <a:solidFill>
                  <a:srgbClr val="1A1A1A"/>
                </a:solidFill>
                <a:latin typeface="Arial"/>
              </a:rPr>
              <a:t>2.55% of 564,577 users converted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 b="1">
                <a:solidFill>
                  <a:srgbClr val="1A1A1A"/>
                </a:solidFill>
                <a:latin typeface="Arial"/>
              </a:rPr>
              <a:t>Difference +0.77 pp: </a:t>
            </a:r>
            <a:r>
              <a:rPr sz="1400">
                <a:solidFill>
                  <a:srgbClr val="1A1A1A"/>
                </a:solidFill>
                <a:latin typeface="Arial"/>
              </a:rPr>
              <a:t>7.7 extra per 1,000 users (95% CI 6.0 to 9.4)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marketing_AB.csv (test dates not recorded); n = 588,101 users; two-proportion z-test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Plausible conversion rates for Ads and PSA do not overlap: Ads beat PSA with &gt; 99.9% probability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sterior_distributions.png"/>
          <p:cNvPicPr>
            <a:picLocks noChangeAspect="1"/>
          </p:cNvPicPr>
          <p:nvPr/>
        </p:nvPicPr>
        <p:blipFill>
          <a:blip r:embed="rId2"/>
          <a:srcRect t="16900"/>
          <a:stretch>
            <a:fillRect/>
          </a:stretch>
        </p:blipFill>
        <p:spPr>
          <a:xfrm>
            <a:off x="502920" y="1417320"/>
            <a:ext cx="7589520" cy="354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 b="1">
                <a:solidFill>
                  <a:srgbClr val="1A1A1A"/>
                </a:solidFill>
                <a:latin typeface="Arial"/>
              </a:rPr>
              <a:t>PSA: </a:t>
            </a:r>
            <a:r>
              <a:rPr sz="1400">
                <a:solidFill>
                  <a:srgbClr val="1A1A1A"/>
                </a:solidFill>
                <a:latin typeface="Arial"/>
              </a:rPr>
              <a:t>1.79%, 95% credible interval 1.62% to 1.96%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 b="1">
                <a:solidFill>
                  <a:srgbClr val="1A1A1A"/>
                </a:solidFill>
                <a:latin typeface="Arial"/>
              </a:rPr>
              <a:t>Ads: </a:t>
            </a:r>
            <a:r>
              <a:rPr sz="1400">
                <a:solidFill>
                  <a:srgbClr val="1A1A1A"/>
                </a:solidFill>
                <a:latin typeface="Arial"/>
              </a:rPr>
              <a:t>2.55%, 95% credible interval 2.51% to 2.60%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>
                <a:solidFill>
                  <a:srgbClr val="1A1A1A"/>
                </a:solidFill>
                <a:latin typeface="Arial"/>
              </a:rPr>
              <a:t>The ranges are fully separated; the flat prior carries negligible weight at this sample size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marketing_AB.csv (test dates not recorded); beta-binomial model, Beta(1, 1) prior; n = 588,101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Ads beat PSA on conversion with &gt; 99.9% probability, above the 95% decision threshold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b_to_beat_control.png"/>
          <p:cNvPicPr>
            <a:picLocks noChangeAspect="1"/>
          </p:cNvPicPr>
          <p:nvPr/>
        </p:nvPicPr>
        <p:blipFill>
          <a:blip r:embed="rId2"/>
          <a:srcRect t="11100"/>
          <a:stretch>
            <a:fillRect/>
          </a:stretch>
        </p:blipFill>
        <p:spPr>
          <a:xfrm>
            <a:off x="502920" y="1417320"/>
            <a:ext cx="7589520" cy="37952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>
                <a:solidFill>
                  <a:srgbClr val="1A1A1A"/>
                </a:solidFill>
                <a:latin typeface="Arial"/>
              </a:rPr>
              <a:t>P(Ads beat PSA) &gt; 99.9% vs a 95% decision threshold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>
                <a:solidFill>
                  <a:srgbClr val="1A1A1A"/>
                </a:solidFill>
                <a:latin typeface="Arial"/>
              </a:rPr>
              <a:t>P(lift above the 5% practical threshold) &gt; 99.9%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>
                <a:solidFill>
                  <a:srgbClr val="1A1A1A"/>
                </a:solidFill>
                <a:latin typeface="Arial"/>
              </a:rPr>
              <a:t>Staying with PSA would cost an expected 0.77 pp of conversion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marketing_AB.csv (test dates not recorded); beta-binomial model, Beta(1, 1) prior; n = 588,101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Exploratory, not causal: lift significant only at 21-50, 51-100 and 101-200 ads seen; 4 of 7 buckets inconclusive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gment_forest.png"/>
          <p:cNvPicPr>
            <a:picLocks noChangeAspect="1"/>
          </p:cNvPicPr>
          <p:nvPr/>
        </p:nvPicPr>
        <p:blipFill>
          <a:blip r:embed="rId2"/>
          <a:srcRect t="16900"/>
          <a:stretch>
            <a:fillRect/>
          </a:stretch>
        </p:blipFill>
        <p:spPr>
          <a:xfrm>
            <a:off x="502920" y="1417320"/>
            <a:ext cx="7589520" cy="3547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2762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74520"/>
            <a:ext cx="3276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1.  </a:t>
            </a:r>
            <a:r>
              <a:rPr sz="1400" b="1">
                <a:solidFill>
                  <a:srgbClr val="1A1A1A"/>
                </a:solidFill>
                <a:latin typeface="Arial"/>
              </a:rPr>
              <a:t>Significant: </a:t>
            </a:r>
            <a:r>
              <a:rPr sz="1400">
                <a:solidFill>
                  <a:srgbClr val="1A1A1A"/>
                </a:solidFill>
                <a:latin typeface="Arial"/>
              </a:rPr>
              <a:t>21-50, 51-100 and 101-200 ads (+33.9%, +101.4%, +66.2%)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2.  </a:t>
            </a:r>
            <a:r>
              <a:rPr sz="1400" b="1">
                <a:solidFill>
                  <a:srgbClr val="1A1A1A"/>
                </a:solidFill>
                <a:latin typeface="Arial"/>
              </a:rPr>
              <a:t>Inconclusive: </a:t>
            </a:r>
            <a:r>
              <a:rPr sz="1400">
                <a:solidFill>
                  <a:srgbClr val="1A1A1A"/>
                </a:solidFill>
                <a:latin typeface="Arial"/>
              </a:rPr>
              <a:t>1-5, 6-10, 11-20 and 201+ ads - wide intervals, not no effect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51FF"/>
                </a:solidFill>
                <a:latin typeface="Arial"/>
              </a:rPr>
              <a:t>3.  </a:t>
            </a:r>
            <a:r>
              <a:rPr sz="1400" b="1">
                <a:solidFill>
                  <a:srgbClr val="1A1A1A"/>
                </a:solidFill>
                <a:latin typeface="Arial"/>
              </a:rPr>
              <a:t>Ads seen reflects behaviour; PSA share varies by bucket (p &lt; 0.001): </a:t>
            </a:r>
            <a:r>
              <a:rPr sz="1400">
                <a:solidFill>
                  <a:srgbClr val="1A1A1A"/>
                </a:solidFill>
                <a:latin typeface="Arial"/>
              </a:rPr>
              <a:t>not dose-response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marketing_AB.csv (no dates); z-test per bucket, Benjamini-Hochberg across 7 buckets; n = 588,101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Risks and caveats to keep in mind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58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>
                <a:solidFill>
                  <a:srgbClr val="1A1A1A"/>
                </a:solidFill>
                <a:latin typeface="Arial"/>
              </a:rPr>
              <a:t>PSA ids form a separate block (900,000 to 923,523); assignment unconfirmed.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>
                <a:solidFill>
                  <a:srgbClr val="1A1A1A"/>
                </a:solidFill>
                <a:latin typeface="Arial"/>
              </a:rPr>
              <a:t>Split confirmed as 96/4 only after a 95/5 check failed.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>
                <a:solidFill>
                  <a:srgbClr val="1A1A1A"/>
                </a:solidFill>
                <a:latin typeface="Arial"/>
              </a:rPr>
              <a:t>Exposure breakdowns are exploratory, non-causal; 4 of 7 buckets inconclusive.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No dates: </a:t>
            </a:r>
            <a:r>
              <a:rPr sz="1600">
                <a:solidFill>
                  <a:srgbClr val="1A1A1A"/>
                </a:solidFill>
                <a:latin typeface="Arial"/>
              </a:rPr>
              <a:t>novelty or wear-off cannot be checked.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>
                <a:solidFill>
                  <a:srgbClr val="1A1A1A"/>
                </a:solidFill>
                <a:latin typeface="Arial"/>
              </a:rPr>
              <a:t>No guardrail metrics defined; verdict rests on conversion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marketing_AB.csv; run 2026-10-01_marketing-ads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Recommendation: 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8C8C8C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858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1.  </a:t>
            </a:r>
            <a:r>
              <a:rPr sz="1600" b="1">
                <a:solidFill>
                  <a:srgbClr val="1A1A1A"/>
                </a:solidFill>
                <a:latin typeface="Arial"/>
              </a:rPr>
              <a:t>Keep ads running: </a:t>
            </a:r>
            <a:r>
              <a:rPr sz="1600">
                <a:solidFill>
                  <a:srgbClr val="1A1A1A"/>
                </a:solidFill>
                <a:latin typeface="Arial"/>
              </a:rPr>
              <a:t>about 7.7 extra conversions per 1,000 users (6.0 to 9.4).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2.  </a:t>
            </a:r>
            <a:r>
              <a:rPr sz="1600" b="1">
                <a:solidFill>
                  <a:srgbClr val="1A1A1A"/>
                </a:solidFill>
                <a:latin typeface="Arial"/>
              </a:rPr>
              <a:t>Data owner: </a:t>
            </a:r>
            <a:r>
              <a:rPr sz="1600">
                <a:solidFill>
                  <a:srgbClr val="1A1A1A"/>
                </a:solidFill>
                <a:latin typeface="Arial"/>
              </a:rPr>
              <a:t>confirm random assignment to ads vs PSA before scaling spend.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3.  </a:t>
            </a:r>
            <a:r>
              <a:rPr sz="1600">
                <a:solidFill>
                  <a:srgbClr val="1A1A1A"/>
                </a:solidFill>
                <a:latin typeface="Arial"/>
              </a:rPr>
              <a:t>Agree a value per conversion to price the 4,343 extra conversions.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4.  </a:t>
            </a:r>
            <a:r>
              <a:rPr sz="1600">
                <a:solidFill>
                  <a:srgbClr val="1A1A1A"/>
                </a:solidFill>
                <a:latin typeface="Arial"/>
              </a:rPr>
              <a:t>Test ad frequency in a new randomised test before changing it.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5.  </a:t>
            </a:r>
            <a:r>
              <a:rPr sz="1600">
                <a:solidFill>
                  <a:srgbClr val="1A1A1A"/>
                </a:solidFill>
                <a:latin typeface="Arial"/>
              </a:rPr>
              <a:t>Keep a small PSA holdout when scaling to track the lift.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marketing_AB.csv; run 2026-10-01_marketing-ads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566160"/>
            <a:ext cx="1097280" cy="508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058400" cy="1371600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9DB4FF"/>
                </a:solidFill>
                <a:latin typeface="Arial"/>
              </a:rPr>
              <a:t>Methodology, validation and full 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11858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srm: </a:t>
            </a:r>
            <a:r>
              <a:rPr sz="1600">
                <a:solidFill>
                  <a:srgbClr val="1A1A1A"/>
                </a:solidFill>
                <a:latin typeface="Arial"/>
              </a:rPr>
              <a:t>srm check (code/11_validate_srm.py)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primary test: </a:t>
            </a:r>
            <a:r>
              <a:rPr sz="1600">
                <a:solidFill>
                  <a:srgbClr val="1A1A1A"/>
                </a:solidFill>
                <a:latin typeface="Arial"/>
              </a:rPr>
              <a:t>two proportion ztest (code/20_analysis_primary_test.py)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bayesian: </a:t>
            </a:r>
            <a:r>
              <a:rPr sz="1600">
                <a:solidFill>
                  <a:srgbClr val="1A1A1A"/>
                </a:solidFill>
                <a:latin typeface="Arial"/>
              </a:rPr>
              <a:t>beta binomial (code/20_analysis_bayesian.py)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impact: </a:t>
            </a:r>
            <a:r>
              <a:rPr sz="1600">
                <a:solidFill>
                  <a:srgbClr val="1A1A1A"/>
                </a:solidFill>
                <a:latin typeface="Arial"/>
              </a:rPr>
              <a:t>incremental impact (code/20_analysis_impact.py)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exposure explore: </a:t>
            </a:r>
            <a:r>
              <a:rPr sz="1600">
                <a:solidFill>
                  <a:srgbClr val="1A1A1A"/>
                </a:solidFill>
                <a:latin typeface="Arial"/>
              </a:rPr>
              <a:t>segment effects, two proportion ztest, interaction test, simpsons check (code/20_analysis_exposure_explore.py)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51FF"/>
                </a:solidFill>
                <a:latin typeface="Arial"/>
              </a:rPr>
              <a:t>•  </a:t>
            </a:r>
            <a:r>
              <a:rPr sz="1600" b="1">
                <a:solidFill>
                  <a:srgbClr val="1A1A1A"/>
                </a:solidFill>
                <a:latin typeface="Arial"/>
              </a:rPr>
              <a:t>Settings: </a:t>
            </a:r>
            <a:r>
              <a:rPr sz="1600">
                <a:solidFill>
                  <a:srgbClr val="1A1A1A"/>
                </a:solidFill>
                <a:latin typeface="Arial"/>
              </a:rPr>
              <a:t>alpha 0.05 (two-sided), power 0.8, SRM threshold 0.001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marketing_AB.csv; run 2026-10-01_marketing-ads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Full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5855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9"/>
              </a:tblGrid>
              <a:tr h="29260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Comparison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Rel. lift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CI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 / P(beat)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1.79%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2.55%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+43.1%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[+29.3%, +56.8%]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&lt;0.001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1.79%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2.55%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+42.9%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[+29.9%, +57.5%]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100.0%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beta binomial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All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1.79%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2.55%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+43.1%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[+29.3%, +56.8%]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&lt;0.001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1-5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0.28%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0.25%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−10.2%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[−48.6%, +28.2%]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0.869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101-200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10.64%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17.68%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+66.2%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[+31.3%, +101.0%]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&lt;0.001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11-20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0.84%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+2.5%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[−32.4%, +37.4%]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0.974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201+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15.50%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15.58%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+0.5%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[−28.8%, +29.7%]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0.974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21-50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2.18%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2.92%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+33.9%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[+9.2%, +58.6%]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0.004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51-100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5.77%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11.63%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+101.4%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[+64.0%, +138.8%]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&lt;0.001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6-10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0.67%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0.49%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−27.9%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[−58.2%, +2.3%]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0.217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Friday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1.63%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2.25%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+37.8%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[+3.3%, +72.3%]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0.016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Monday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2.26%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3.32%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+47.4%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[+14.8%, +79.9%]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0.001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marketing_AB.csv; run 2026-10-01_marketing-ads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Full results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822960" cy="38100"/>
          </a:xfrm>
          <a:prstGeom prst="rect">
            <a:avLst/>
          </a:prstGeom>
          <a:solidFill>
            <a:srgbClr val="225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63040"/>
          <a:ext cx="11185855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2"/>
                <a:gridCol w="1242879"/>
              </a:tblGrid>
              <a:tr h="384048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Comparison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Treatment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Rel. lift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CI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 / P(beat)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anchor="ctr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Saturday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1.40%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2.13%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+52.2%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[+4.8%, +99.6%]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0.013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Sunday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2.06%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2.46%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+19.5%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[−10.1%, +49.2%]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0.183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Thursday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2.02%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2.16%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+7.0%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[−16.9%, +30.8%]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0.555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Tuesday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1.44%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3.04%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+110.7%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[+46.9%, +174.5%]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&lt;0.001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converted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Wednesday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ad vs psa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1.58%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2.54%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+60.9%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[+18.1%, +103.7%]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0.001 (adj.)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two proportion ztest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2920" y="6327648"/>
            <a:ext cx="11185855" cy="635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9875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Arial"/>
              </a:rPr>
              <a:t>Source: marketing_AB.csv; run 2026-10-01_marketing-ads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008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8C8C8C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