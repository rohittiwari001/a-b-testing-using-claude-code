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first. Verdict: Ship. The primary metric improved significantly and by more than the practical threshold. For every 1,000 users, about 7.7 more achieved conversion with the ad campaign than with the PSA. A difference this large is unlikely to be down to chance. Caveats: PSA ids form a separate block (900,000 to 923,523); assignment unconfirmed. Split confirmed as 96/4 only after a 95/5 check failed. Exposure breakdowns are exploratory, non-causal; 4 of 7 buckets inconclusive. No dates: novelty or wear-off cannot be checked. No guardrail metrics defined; verdict rests on conversion alone. Money impact needs a value per conversion.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storyline: what we were asked, how we answered it, what we found, what it is worth, and what we recommend.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question and the decision before any result, so the audience judges the answer against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answer was produced and why it can be trusted: data, checks, method, independent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headline - ads clearly raise conversion, by far more than the bar we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in plain terms, roughly eight more conversions for every thousand people who see the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Ads curve sits entirely to the right of the PSA curve - no plausible world where PSA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Bayesian decision rule says ship - the chance ads are worse than PSA is negligible.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descriptive only - heavier-exposure users are different people, so this does not show that more ads cause more 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the statistics into business terms: what the change is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could make the conclusion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decision, then who does what by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Tests used per analysis step and the scripts that produced each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groups are the size they were meant to be, so the comparison can be trusted on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 of validation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table of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table of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173736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Arial"/>
              </a:rPr>
              <a:t>Marketing campaign: ads vs PSA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8C8C8C"/>
                </a:solidFill>
                <a:latin typeface="Arial"/>
              </a:rPr>
              <a:t>The ad campaign raises conversion by 43.1% vs the PSA (statistically significant)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01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2251FF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ad campaign raises conversion by 43.1% vs the PSA (statistically significant)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3017520" cy="475488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RECOMMENDATION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SHIP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The primary metric improved significantly and by more than the practical threshold.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41732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69164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Would the ad campaign be successful, and how much of its success can be attributed to the ads?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28600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560320"/>
            <a:ext cx="7802575" cy="1737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Relative lift in conversion: </a:t>
            </a:r>
            <a:r>
              <a:rPr sz="1300">
                <a:solidFill>
                  <a:srgbClr val="1A1A1A"/>
                </a:solidFill>
                <a:latin typeface="Arial"/>
              </a:rPr>
              <a:t>+43.1% (95% CI [+29.3%, +56.8%])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300">
                <a:solidFill>
                  <a:srgbClr val="1A1A1A"/>
                </a:solidFill>
                <a:latin typeface="Arial"/>
              </a:rPr>
              <a:t>p &lt; 0.001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Conversion: </a:t>
            </a:r>
            <a:r>
              <a:rPr sz="1300">
                <a:solidFill>
                  <a:srgbClr val="1A1A1A"/>
                </a:solidFill>
                <a:latin typeface="Arial"/>
              </a:rPr>
              <a:t>the PSA vs the ad campaign: 1.79% vs 2.55%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Units analysed: </a:t>
            </a:r>
            <a:r>
              <a:rPr sz="1300">
                <a:solidFill>
                  <a:srgbClr val="1A1A1A"/>
                </a:solidFill>
                <a:latin typeface="Arial"/>
              </a:rPr>
              <a:t>psa: 23,524 / ad: 564,577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Incremental conversions per 1,000 users: </a:t>
            </a:r>
            <a:r>
              <a:rPr sz="1300">
                <a:solidFill>
                  <a:srgbClr val="1A1A1A"/>
                </a:solidFill>
                <a:latin typeface="Arial"/>
              </a:rPr>
              <a:t>7.7 (95% CI 6.0 to 9.4)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425196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IT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4526280"/>
            <a:ext cx="780257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For every 1,000 users, about 7.7 more achieved conversion with the ad campaign than with the PSA. A difference this large is unlikely to be down to chance.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521208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548640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Keep the ad campaign running; it adds about 7.7 conversions per 1,000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98932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MAIN CAVEAT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626364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  <a:latin typeface="Arial"/>
              </a:rPr>
              <a:t>PSA ids form a separate block (900,000 to 923,523); assignment unconfirmed.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190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The ask: what we were asked to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7744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45059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Approach: how we answered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8211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Findings: what the data shows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1363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Impact: what it means for the business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4515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Recommendation: risks, decision and next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303520"/>
            <a:ext cx="502920" cy="502920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Appendix: methodology, validation and full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2251FF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ask: Would the ad campaign be successful, and how much of its success can be attributed to the ads?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Whether the ads drive enough extra conversions to justify the campaign (continue / scale vs stop).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OUR 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Users who see the ad convert at a higher rate than users who see a public service announcement (PSA) in the same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SUCCESS LOOKS 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6052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Conversion must rise by at least 5% (relative).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52422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WAS TESTED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46520" y="1828800"/>
          <a:ext cx="524225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211"/>
                <a:gridCol w="335504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Groups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ad: 564,577, psa: 23,524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Intended split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ad 96.0% / psa 4.0%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users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Period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dates not recorded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Primary metric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conversion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Guardrails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none defined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Practical threshold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+5% relative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1">
                <a:solidFill>
                  <a:srgbClr val="2251FF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We answered it with a randomised comparison of 588,101 users, quality checks and an independent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  <p:sp>
        <p:nvSpPr>
          <p:cNvPr id="8" name="Pentagon 7"/>
          <p:cNvSpPr/>
          <p:nvPr/>
        </p:nvSpPr>
        <p:spPr>
          <a:xfrm>
            <a:off x="502920" y="1737360"/>
            <a:ext cx="2762173" cy="731520"/>
          </a:xfrm>
          <a:prstGeom prst="homePlat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1.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588,101 users in 2 groups (ad, psa). Test dates not recorded.</a:t>
            </a:r>
          </a:p>
        </p:txBody>
      </p:sp>
      <p:sp>
        <p:nvSpPr>
          <p:cNvPr id="10" name="Chevron 9"/>
          <p:cNvSpPr/>
          <p:nvPr/>
        </p:nvSpPr>
        <p:spPr>
          <a:xfrm>
            <a:off x="3310813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2. Quality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973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11 data checks: overall WARN. Traffic split as intended (p = 1.000).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18706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3.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6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Two-proportion z-test, plus Bayesian beta-binomial model, segment breakdown, interaction test. Judged against a 5% practical threshold.</a:t>
            </a:r>
          </a:p>
        </p:txBody>
      </p:sp>
      <p:sp>
        <p:nvSpPr>
          <p:cNvPr id="14" name="Chevron 13"/>
          <p:cNvSpPr/>
          <p:nvPr/>
        </p:nvSpPr>
        <p:spPr>
          <a:xfrm>
            <a:off x="8926599" y="1737360"/>
            <a:ext cx="2762173" cy="731520"/>
          </a:xfrm>
          <a:prstGeom prst="chevron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4.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759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Independent reviewer re-checked the numbers from the raw data: 2 rounds, passed.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Ads lift conversion by +43.1% vs PSA, statistically significant and above the 5% practical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 (test dates not recorded); n = 588,101 users; two-proportion z-test and beta-binomial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lift_ci.png"/>
          <p:cNvPicPr>
            <a:picLocks noChangeAspect="1"/>
          </p:cNvPicPr>
          <p:nvPr/>
        </p:nvPicPr>
        <p:blipFill>
          <a:blip r:embed="rId3"/>
          <a:srcRect t="16900"/>
          <a:stretch>
            <a:fillRect/>
          </a:stretch>
        </p:blipFill>
        <p:spPr>
          <a:xfrm>
            <a:off x="502920" y="1463040"/>
            <a:ext cx="7589520" cy="35476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Relative lift +43.1%, 95% CI [+29.3%, +56.8%]; p &lt; 0.001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Even the low end (+29.3%) is above the 5% practical threshold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Bayesian view agrees: </a:t>
            </a:r>
            <a:r>
              <a:rPr sz="1400">
                <a:solidFill>
                  <a:srgbClr val="1A1A1A"/>
                </a:solidFill>
                <a:latin typeface="Arial"/>
              </a:rPr>
              <a:t>+42.9%, 95% credible interval [+29.9%, +57.5%]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Ads users convert at 2.55% vs 1.79% with PSA: 7.7 extra conversions per 1,000 users, significant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 (test dates not recorded); n = 588,101 users; two-proportion z-test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  <p:pic>
        <p:nvPicPr>
          <p:cNvPr id="8" name="Picture 7" descr="metric_by_variant.png"/>
          <p:cNvPicPr>
            <a:picLocks noChangeAspect="1"/>
          </p:cNvPicPr>
          <p:nvPr/>
        </p:nvPicPr>
        <p:blipFill>
          <a:blip r:embed="rId3"/>
          <a:srcRect t="16900"/>
          <a:stretch>
            <a:fillRect/>
          </a:stretch>
        </p:blipFill>
        <p:spPr>
          <a:xfrm>
            <a:off x="502920" y="1463040"/>
            <a:ext cx="7589520" cy="35476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PSA: </a:t>
            </a:r>
            <a:r>
              <a:rPr sz="1400">
                <a:solidFill>
                  <a:srgbClr val="1A1A1A"/>
                </a:solidFill>
                <a:latin typeface="Arial"/>
              </a:rPr>
              <a:t>1.79% of 23,524 users converted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Ads: </a:t>
            </a:r>
            <a:r>
              <a:rPr sz="1400">
                <a:solidFill>
                  <a:srgbClr val="1A1A1A"/>
                </a:solidFill>
                <a:latin typeface="Arial"/>
              </a:rPr>
              <a:t>2.55% of 564,577 users converted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Difference +0.77 pp: </a:t>
            </a:r>
            <a:r>
              <a:rPr sz="1400">
                <a:solidFill>
                  <a:srgbClr val="1A1A1A"/>
                </a:solidFill>
                <a:latin typeface="Arial"/>
              </a:rPr>
              <a:t>7.7 extra per 1,000 users (95% CI 6.0 to 9.4)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Plausible conversion rates for Ads and PSA do not overlap: Ads beat PSA with &gt; 99.9% probability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 (test dates not recorded); beta-binomial model, Beta(1, 1) prior; n = 588,101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  <p:pic>
        <p:nvPicPr>
          <p:cNvPr id="8" name="Picture 7" descr="posterior_distributions.png"/>
          <p:cNvPicPr>
            <a:picLocks noChangeAspect="1"/>
          </p:cNvPicPr>
          <p:nvPr/>
        </p:nvPicPr>
        <p:blipFill>
          <a:blip r:embed="rId3"/>
          <a:srcRect t="16900"/>
          <a:stretch>
            <a:fillRect/>
          </a:stretch>
        </p:blipFill>
        <p:spPr>
          <a:xfrm>
            <a:off x="502920" y="1463040"/>
            <a:ext cx="7589520" cy="35476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PSA: </a:t>
            </a:r>
            <a:r>
              <a:rPr sz="1400">
                <a:solidFill>
                  <a:srgbClr val="1A1A1A"/>
                </a:solidFill>
                <a:latin typeface="Arial"/>
              </a:rPr>
              <a:t>1.79%, 95% credible interval 1.62% to 1.96%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Ads: </a:t>
            </a:r>
            <a:r>
              <a:rPr sz="1400">
                <a:solidFill>
                  <a:srgbClr val="1A1A1A"/>
                </a:solidFill>
                <a:latin typeface="Arial"/>
              </a:rPr>
              <a:t>2.55%, 95% credible interval 2.51% to 2.60%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The ranges are fully separated; the flat prior carries negligible weight at this sample size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Ads beat PSA on conversion with &gt; 99.9% probability, above the 95% decision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 (test dates not recorded); beta-binomial model, Beta(1, 1) prior; n = 588,101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  <p:pic>
        <p:nvPicPr>
          <p:cNvPr id="8" name="Picture 7" descr="prob_to_beat_control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P(Ads beat PSA) &gt; 99.9% vs a 95% decision threshold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P(lift above the 5% practical threshold) &gt; 99.9%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Staying with PSA would cost an expected 0.77 pp of conversion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Exploratory, not causal: lift significant only at 21-50, 51-100 and 101-200 ads seen; 4 of 7 buckets inconclusive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23983" y="1097280"/>
            <a:ext cx="1764792" cy="274320"/>
          </a:xfrm>
          <a:prstGeom prst="roundRect">
            <a:avLst/>
          </a:prstGeom>
          <a:solidFill>
            <a:srgbClr val="B08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EXPLORATORY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 (no dates); z-test per bucket, Benjamini-Hochberg across 7 buckets; n = 588,101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egment_forest.png"/>
          <p:cNvPicPr>
            <a:picLocks noChangeAspect="1"/>
          </p:cNvPicPr>
          <p:nvPr/>
        </p:nvPicPr>
        <p:blipFill>
          <a:blip r:embed="rId3"/>
          <a:srcRect t="16900"/>
          <a:stretch>
            <a:fillRect/>
          </a:stretch>
        </p:blipFill>
        <p:spPr>
          <a:xfrm>
            <a:off x="502920" y="1463040"/>
            <a:ext cx="7589520" cy="35476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Significant: </a:t>
            </a:r>
            <a:r>
              <a:rPr sz="1400">
                <a:solidFill>
                  <a:srgbClr val="1A1A1A"/>
                </a:solidFill>
                <a:latin typeface="Arial"/>
              </a:rPr>
              <a:t>21-50, 51-100 and 101-200 ads (+33.9%, +101.4%, +66.2%)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Inconclusive: </a:t>
            </a:r>
            <a:r>
              <a:rPr sz="1400">
                <a:solidFill>
                  <a:srgbClr val="1A1A1A"/>
                </a:solidFill>
                <a:latin typeface="Arial"/>
              </a:rPr>
              <a:t>1-5, 6-10, 11-20 and 201+ ads - wide intervals, not no effect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Ads seen reflects behaviour; PSA share varies by bucket (p &lt; 0.001): not dose-response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1">
                <a:solidFill>
                  <a:srgbClr val="2251FF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ads produced about 4,343 extra conversions, roughly 30% of all conversions in the ad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590723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2590723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2251FF"/>
                </a:solidFill>
                <a:latin typeface="Arial"/>
              </a:rPr>
              <a:t>+43.1%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43200"/>
            <a:ext cx="2590723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Higher conversion with 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2590723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95% CI [+29.3%, +56.8%]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7963" y="1691640"/>
            <a:ext cx="2590723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7963" y="1874520"/>
            <a:ext cx="2590723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7.7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963" y="2743200"/>
            <a:ext cx="2590723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Extra conversions per 1,000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7963" y="3383280"/>
            <a:ext cx="2590723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95% CI 6.0 to 9.4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6" y="1691640"/>
            <a:ext cx="2590723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6" y="1874520"/>
            <a:ext cx="2590723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4,343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6" y="2743200"/>
            <a:ext cx="2590723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Extra conversions caused by the 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6" y="3383280"/>
            <a:ext cx="2590723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95% CI 3,360 to 5,326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49" y="1691640"/>
            <a:ext cx="2590723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049" y="1874520"/>
            <a:ext cx="2590723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049" y="2743200"/>
            <a:ext cx="2590723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Of ad-group conversions are due to the ads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049" y="3383280"/>
            <a:ext cx="2590723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95% CI 23% to 37%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89120"/>
            <a:ext cx="11185855" cy="91440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SO WHAT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rial"/>
              </a:rPr>
              <a:t>Campaign value = 4,343 extra conversions × your value per conversion; compare it with the ad spend to judge return on investment.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40679"/>
            <a:ext cx="111858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Arial"/>
              </a:rPr>
              <a:t>Read with the 6 caveats on the next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6 caveats could change or qualify this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PSA ids form a separate block (900,000 to 923,523); assignment unconfirmed.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Split confirmed as 96/4 only after a 95/5 check failed.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Exposure breakdowns are exploratory, non-causal; 4 of 7 buckets inconclusive.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No dates: </a:t>
            </a:r>
            <a:r>
              <a:rPr sz="1600">
                <a:solidFill>
                  <a:srgbClr val="1A1A1A"/>
                </a:solidFill>
                <a:latin typeface="Arial"/>
              </a:rPr>
              <a:t>novelty or wear-off cannot be checked.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No guardrail metrics defined; verdict rests on conversion alone.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Money impact needs a value per conversion.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Recommendation: Ship, with 5 next steps to act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1185855" cy="77724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DECISION: 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8585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The primary metric improved significantly and by more than the practical threshold.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2608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NEXT STEPS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246119"/>
          <a:ext cx="11185853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"/>
                <a:gridCol w="7270805"/>
                <a:gridCol w="1901595"/>
                <a:gridCol w="145416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Keep the ad campaign running; it adds about 7.7 conversions per 1,000 users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now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Confirm users were randomly assigned to ads vs PSA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Data owner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within 1 week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Agree a value per conversion to price the 4,343 extra conversions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Finance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within 2 weeks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Test ad frequency in a new randomised test before changing it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Analytics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next quarter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Keep a small PSA holdout when scaling to keep measuring the lift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ongoing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56616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9DB4FF"/>
                </a:solidFill>
                <a:latin typeface="Arial"/>
              </a:rPr>
              <a:t>Methodology, validation and full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Methodology: tests used and the scripts that produced each number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srm: </a:t>
            </a:r>
            <a:r>
              <a:rPr sz="1600">
                <a:solidFill>
                  <a:srgbClr val="1A1A1A"/>
                </a:solidFill>
                <a:latin typeface="Arial"/>
              </a:rPr>
              <a:t>srm check (code/11_validate_srm.py)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primary test: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 (code/20_analysis_primary_test.py)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bayesian: </a:t>
            </a:r>
            <a:r>
              <a:rPr sz="1600">
                <a:solidFill>
                  <a:srgbClr val="1A1A1A"/>
                </a:solidFill>
                <a:latin typeface="Arial"/>
              </a:rPr>
              <a:t>beta binomial (code/20_analysis_bayesian.py)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impact: </a:t>
            </a:r>
            <a:r>
              <a:rPr sz="1600">
                <a:solidFill>
                  <a:srgbClr val="1A1A1A"/>
                </a:solidFill>
                <a:latin typeface="Arial"/>
              </a:rPr>
              <a:t>incremental impact (code/20_analysis_impact.py)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exposure explore: </a:t>
            </a:r>
            <a:r>
              <a:rPr sz="1600">
                <a:solidFill>
                  <a:srgbClr val="1A1A1A"/>
                </a:solidFill>
                <a:latin typeface="Arial"/>
              </a:rPr>
              <a:t>segment effects, two proportion ztest, interaction test, simpsons check (code/20_analysis_exposure_explore.py)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Settings: </a:t>
            </a:r>
            <a:r>
              <a:rPr sz="1600">
                <a:solidFill>
                  <a:srgbClr val="1A1A1A"/>
                </a:solidFill>
                <a:latin typeface="Arial"/>
              </a:rPr>
              <a:t>alpha 0.05 (two-sided), power 0.8, SRM threshold 0.001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Traffic split matches the intended 96/4 (Ads 96.0%, PSA 4.0%): no sample ratio mismatch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 (test dates not recorded); n = 588,101 users; chi-square goodness-of-fit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16</a:t>
            </a:r>
          </a:p>
        </p:txBody>
      </p:sp>
      <p:pic>
        <p:nvPicPr>
          <p:cNvPr id="7" name="Picture 6" descr="srm_bar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PSA has 23,524 users vs 23,524 expected under 96/4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Chi-square p = 1.000 (threshold 0.001): </a:t>
            </a:r>
            <a:r>
              <a:rPr sz="1400">
                <a:solidFill>
                  <a:srgbClr val="1A1A1A"/>
                </a:solidFill>
                <a:latin typeface="Arial"/>
              </a:rPr>
              <a:t>the split is as intended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The first-stated 95/5 split failed (p &lt; 0.001); the user confirmed 96/4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Data validation: overall verdict WARN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4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7575"/>
                <a:gridCol w="1278383"/>
                <a:gridCol w="7989896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schema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6 columns, 588,101 rows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dtypes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All metric columns numeric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duplicates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588,101 units, one row each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contamination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unit appears in more than one variant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Counts {'ad': 564577, 'psa': 23524}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SRM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 = 1.000 (threshold 0.001)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outliers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08900"/>
                          </a:solidFill>
                          <a:latin typeface="Arial"/>
                        </a:rPr>
                        <a:t>WARN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Extreme values (reported, not removed): total ads: max is 10x the 99th percentile. Consider winsorised or boot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impossible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Metric values within valid ranges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pre-period data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None described (CUPED not possible)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covariate balance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08900"/>
                          </a:solidFill>
                          <a:latin typeface="Arial"/>
                        </a:rPr>
                        <a:t>WARN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Segment mix differs between variants: most ads day (p = 4.8e-48), most ads hour (p = 1.1e-28) (can indicate an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Full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5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29260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1.79%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2.55%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+43.1%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[+29.3%, +56.8%]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&lt;0.001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1.79%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2.55%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+42.9%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[+29.9%, +57.5%]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beta binomial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1.79%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2.55%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+43.1%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[+29.3%, +56.8%]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&lt;0.001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1-5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0.28%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0.25%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−10.2%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[−48.6%, +28.2%]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0.869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101-200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10.64%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17.68%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+66.2%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[+31.3%, +101.0%]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&lt;0.001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11-20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0.82%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0.84%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[−32.4%, +37.4%]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0.974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201+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15.50%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15.58%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+0.5%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[−28.8%, +29.7%]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0.974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21-50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2.18%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2.92%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+33.9%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[+9.2%, +58.6%]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0.004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51-100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5.77%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11.63%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+101.4%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[+64.0%, +138.8%]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&lt;0.001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6-10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0.67%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0.49%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−27.9%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[−58.2%, +2.3%]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0.217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Friday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1.63%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+37.8%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[+3.3%, +72.3%]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0.016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Monday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2.26%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3.32%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+47.4%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[+14.8%, +79.9%]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Full results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marketing_AB.csv; run 2026-10-01_marketing-ads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Saturday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1.40%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2.13%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+52.2%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[+4.8%, +99.6%]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0.013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Sunday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2.06%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2.46%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+19.5%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[−10.1%, +49.2%]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0.183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Thursday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2.02%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2.16%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+7.0%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[−16.9%, +30.8%]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0.555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Tuesday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1.44%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3.04%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+110.7%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[+46.9%, +174.5%]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&lt;0.001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Wednesday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ad vs psa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1.58%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2.54%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+60.9%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[+18.1%, +103.7%]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