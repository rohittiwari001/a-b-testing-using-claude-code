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first. Verdict: Blocked: data issue. The data failed a blocking validation check, so treatment effects cannot be trusted. The groups being compared are not the ones the experiment created, so any difference between them could come from the data problem rather than the change. Caveats: iOS + Web alone show no mismatch (p = 0.323), but an iOS + Web-only readout would answer a different question (it excludes a whole platform); treat it as a sensitivity check only. Activation results were not computed: with units missing non-randomly, any difference could be caused by the loss.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storyline: what we were asked, how we answered it, what we found, what it is worth, and what we recommend.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question and the decision before any result, so the audience judges the answer against the 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answer was produced and why it can be trusted: data, checks, method, independent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story: units went missing unevenly, so the comparison is broken.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Points engineering at the Android exposure event after the 5 September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Anything flagged here limits how far the data can be trusted.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statistics into business terms: what the change is worth.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what could make the conclusion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decision, then who does what by when.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097280" cy="508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058400" cy="1737360"/>
          </a:xfrm>
          <a:prstGeom prst="rect">
            <a:avLst/>
          </a:prstGeom>
          <a:noFill/>
        </p:spPr>
        <p:txBody>
          <a:bodyPr wrap="square" anchor="b" lIns="18288" rIns="18288" tIns="18288" bIns="18288">
            <a:spAutoFit/>
          </a:bodyPr>
          <a:lstStyle/>
          <a:p>
            <a:pPr algn="l"/>
            <a:r>
              <a:rPr sz="3600" b="1">
                <a:solidFill>
                  <a:srgbClr val="1A1A1A"/>
                </a:solidFill>
                <a:latin typeface="Arial"/>
              </a:rPr>
              <a:t>Onboarding checklist test</a:t>
            </a:r>
          </a:p>
        </p:txBody>
      </p:sp>
      <p:sp>
        <p:nvSpPr>
          <p:cNvPr id="5" name="TextBox 4"/>
          <p:cNvSpPr txBox="1"/>
          <p:nvPr/>
        </p:nvSpPr>
        <p:spPr>
          <a:xfrm>
            <a:off x="822960" y="3474720"/>
            <a:ext cx="10058400" cy="731520"/>
          </a:xfrm>
          <a:prstGeom prst="rect">
            <a:avLst/>
          </a:prstGeom>
          <a:noFill/>
        </p:spPr>
        <p:txBody>
          <a:bodyPr wrap="square" anchor="t" lIns="18288" rIns="18288" tIns="18288" bIns="18288">
            <a:spAutoFit/>
          </a:bodyPr>
          <a:lstStyle/>
          <a:p>
            <a:pPr algn="l"/>
            <a:r>
              <a:rPr sz="1800" b="0">
                <a:solidFill>
                  <a:srgbClr val="8C8C8C"/>
                </a:solidFill>
                <a:latin typeface="Arial"/>
              </a:rPr>
              <a:t>Results withheld: treatment has 7.1% fewer units than the intended split (p &lt; 0.001, sample ratio mismatch)</a:t>
            </a:r>
          </a:p>
        </p:txBody>
      </p:sp>
      <p:sp>
        <p:nvSpPr>
          <p:cNvPr id="6" name="TextBox 5"/>
          <p:cNvSpPr txBox="1"/>
          <p:nvPr/>
        </p:nvSpPr>
        <p:spPr>
          <a:xfrm>
            <a:off x="822960" y="6035040"/>
            <a:ext cx="5486400" cy="365760"/>
          </a:xfrm>
          <a:prstGeom prst="rect">
            <a:avLst/>
          </a:prstGeom>
          <a:noFill/>
        </p:spPr>
        <p:txBody>
          <a:bodyPr wrap="square" anchor="t" lIns="18288" rIns="18288" tIns="18288" bIns="18288">
            <a:spAutoFit/>
          </a:bodyPr>
          <a:lstStyle/>
          <a:p>
            <a:pPr algn="l"/>
            <a:r>
              <a:rPr sz="1200" b="0">
                <a:solidFill>
                  <a:srgbClr val="8C8C8C"/>
                </a:solidFill>
                <a:latin typeface="Arial"/>
              </a:rPr>
              <a:t>01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3657600" cy="256032"/>
          </a:xfrm>
          <a:prstGeom prst="rect">
            <a:avLst/>
          </a:prstGeom>
          <a:noFill/>
        </p:spPr>
        <p:txBody>
          <a:bodyPr wrap="square" anchor="t" lIns="18288" rIns="18288" tIns="18288" bIns="18288">
            <a:spAutoFit/>
          </a:bodyPr>
          <a:lstStyle/>
          <a:p>
            <a:pPr algn="l"/>
            <a:r>
              <a:rPr sz="900" b="1">
                <a:solidFill>
                  <a:srgbClr val="2251FF"/>
                </a:solidFill>
                <a:latin typeface="Arial"/>
              </a:rPr>
              <a:t>EXECUTIVE SUMMARY</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Results withheld: treatment has 7.1% fewer units than the intended split (p &lt; 0.001, sample ratio mismatch)</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417320"/>
            <a:ext cx="3017520" cy="4754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74320"/>
          <a:lstStyle/>
          <a:p>
            <a:pPr algn="l"/>
            <a:r>
              <a:rPr sz="1100" b="1">
                <a:solidFill>
                  <a:srgbClr val="FFFFFF"/>
                </a:solidFill>
                <a:latin typeface="Arial"/>
              </a:rPr>
              <a:t>RECOMMENDATION</a:t>
            </a:r>
          </a:p>
          <a:p>
            <a:pPr algn="l"/>
            <a:r>
              <a:rPr sz="2600" b="1">
                <a:solidFill>
                  <a:srgbClr val="FFFFFF"/>
                </a:solidFill>
                <a:latin typeface="Arial"/>
              </a:rPr>
              <a:t>BLOCKED: DATA ISSUE</a:t>
            </a:r>
          </a:p>
          <a:p>
            <a:pPr algn="l"/>
            <a:r>
              <a:rPr sz="600" b="0">
                <a:solidFill>
                  <a:srgbClr val="FFFFFF"/>
                </a:solidFill>
                <a:latin typeface="Arial"/>
              </a:rPr>
              <a:t/>
            </a:r>
          </a:p>
          <a:p>
            <a:pPr algn="l"/>
            <a:r>
              <a:rPr sz="1300" b="0">
                <a:solidFill>
                  <a:srgbClr val="FFFFFF"/>
                </a:solidFill>
                <a:latin typeface="Arial"/>
              </a:rPr>
              <a:t>The data failed a blocking validation check, so treatment effects cannot be trusted.</a:t>
            </a:r>
          </a:p>
        </p:txBody>
      </p:sp>
      <p:sp>
        <p:nvSpPr>
          <p:cNvPr id="6" name="TextBox 5"/>
          <p:cNvSpPr txBox="1"/>
          <p:nvPr/>
        </p:nvSpPr>
        <p:spPr>
          <a:xfrm>
            <a:off x="3886200" y="1417320"/>
            <a:ext cx="7802575" cy="274320"/>
          </a:xfrm>
          <a:prstGeom prst="rect">
            <a:avLst/>
          </a:prstGeom>
          <a:noFill/>
        </p:spPr>
        <p:txBody>
          <a:bodyPr wrap="square" anchor="t" lIns="18288" rIns="18288" tIns="18288" bIns="18288">
            <a:spAutoFit/>
          </a:bodyPr>
          <a:lstStyle/>
          <a:p>
            <a:pPr algn="l"/>
            <a:r>
              <a:rPr sz="1100" b="1">
                <a:solidFill>
                  <a:srgbClr val="0B2545"/>
                </a:solidFill>
                <a:latin typeface="Arial"/>
              </a:rPr>
              <a:t>THE ASK</a:t>
            </a:r>
          </a:p>
        </p:txBody>
      </p:sp>
      <p:sp>
        <p:nvSpPr>
          <p:cNvPr id="7" name="TextBox 6"/>
          <p:cNvSpPr txBox="1"/>
          <p:nvPr/>
        </p:nvSpPr>
        <p:spPr>
          <a:xfrm>
            <a:off x="3886200" y="1691640"/>
            <a:ext cx="7802575" cy="548640"/>
          </a:xfrm>
          <a:prstGeom prst="rect">
            <a:avLst/>
          </a:prstGeom>
          <a:noFill/>
        </p:spPr>
        <p:txBody>
          <a:bodyPr wrap="square" anchor="t" lIns="18288" rIns="18288" tIns="18288" bIns="18288">
            <a:spAutoFit/>
          </a:bodyPr>
          <a:lstStyle/>
          <a:p>
            <a:pPr algn="l"/>
            <a:r>
              <a:rPr sz="1400" b="0">
                <a:solidFill>
                  <a:srgbClr val="1A1A1A"/>
                </a:solidFill>
                <a:latin typeface="Arial"/>
              </a:rPr>
              <a:t>Does the new onboarding checklist increase 7-day activation?</a:t>
            </a:r>
          </a:p>
        </p:txBody>
      </p:sp>
      <p:sp>
        <p:nvSpPr>
          <p:cNvPr id="8" name="TextBox 7"/>
          <p:cNvSpPr txBox="1"/>
          <p:nvPr/>
        </p:nvSpPr>
        <p:spPr>
          <a:xfrm>
            <a:off x="3886200" y="2286000"/>
            <a:ext cx="7802575" cy="274320"/>
          </a:xfrm>
          <a:prstGeom prst="rect">
            <a:avLst/>
          </a:prstGeom>
          <a:noFill/>
        </p:spPr>
        <p:txBody>
          <a:bodyPr wrap="square" anchor="t" lIns="18288" rIns="18288" tIns="18288" bIns="18288">
            <a:spAutoFit/>
          </a:bodyPr>
          <a:lstStyle/>
          <a:p>
            <a:pPr algn="l"/>
            <a:r>
              <a:rPr sz="1100" b="1">
                <a:solidFill>
                  <a:srgbClr val="0B2545"/>
                </a:solidFill>
                <a:latin typeface="Arial"/>
              </a:rPr>
              <a:t>WHAT WE FOUND</a:t>
            </a:r>
          </a:p>
        </p:txBody>
      </p:sp>
      <p:sp>
        <p:nvSpPr>
          <p:cNvPr id="9" name="TextBox 8"/>
          <p:cNvSpPr txBox="1"/>
          <p:nvPr/>
        </p:nvSpPr>
        <p:spPr>
          <a:xfrm>
            <a:off x="3886200" y="2560320"/>
            <a:ext cx="7802575" cy="1737360"/>
          </a:xfrm>
          <a:prstGeom prst="rect">
            <a:avLst/>
          </a:prstGeom>
          <a:noFill/>
        </p:spPr>
        <p:txBody>
          <a:bodyPr wrap="square" lIns="18288" rIns="18288">
            <a:spAutoFit/>
          </a:bodyPr>
          <a:lstStyle/>
          <a:p>
            <a:pPr>
              <a:spcAft>
                <a:spcPts val="400"/>
              </a:spcAft>
            </a:pPr>
            <a:r>
              <a:rPr sz="1300" b="1">
                <a:solidFill>
                  <a:srgbClr val="2251FF"/>
                </a:solidFill>
                <a:latin typeface="Arial"/>
              </a:rPr>
              <a:t>•  </a:t>
            </a:r>
            <a:r>
              <a:rPr sz="1300" b="1">
                <a:solidFill>
                  <a:srgbClr val="1A1A1A"/>
                </a:solidFill>
                <a:latin typeface="Arial"/>
              </a:rPr>
              <a:t>Observed share control: </a:t>
            </a:r>
            <a:r>
              <a:rPr sz="1300">
                <a:solidFill>
                  <a:srgbClr val="1A1A1A"/>
                </a:solidFill>
                <a:latin typeface="Arial"/>
              </a:rPr>
              <a:t>53.6% (expected 50.0%)</a:t>
            </a:r>
          </a:p>
          <a:p>
            <a:pPr>
              <a:spcAft>
                <a:spcPts val="400"/>
              </a:spcAft>
            </a:pPr>
            <a:r>
              <a:rPr sz="1300" b="1">
                <a:solidFill>
                  <a:srgbClr val="2251FF"/>
                </a:solidFill>
                <a:latin typeface="Arial"/>
              </a:rPr>
              <a:t>•  </a:t>
            </a:r>
            <a:r>
              <a:rPr sz="1300" b="1">
                <a:solidFill>
                  <a:srgbClr val="1A1A1A"/>
                </a:solidFill>
                <a:latin typeface="Arial"/>
              </a:rPr>
              <a:t>Observed share treatment: </a:t>
            </a:r>
            <a:r>
              <a:rPr sz="1300">
                <a:solidFill>
                  <a:srgbClr val="1A1A1A"/>
                </a:solidFill>
                <a:latin typeface="Arial"/>
              </a:rPr>
              <a:t>46.4% (expected 50.0%)</a:t>
            </a:r>
          </a:p>
          <a:p>
            <a:pPr>
              <a:spcAft>
                <a:spcPts val="400"/>
              </a:spcAft>
            </a:pPr>
            <a:r>
              <a:rPr sz="1300" b="1">
                <a:solidFill>
                  <a:srgbClr val="2251FF"/>
                </a:solidFill>
                <a:latin typeface="Arial"/>
              </a:rPr>
              <a:t>•  </a:t>
            </a:r>
            <a:r>
              <a:rPr sz="1300" b="1">
                <a:solidFill>
                  <a:srgbClr val="1A1A1A"/>
                </a:solidFill>
                <a:latin typeface="Arial"/>
              </a:rPr>
              <a:t>SRM test: </a:t>
            </a:r>
            <a:r>
              <a:rPr sz="1300">
                <a:solidFill>
                  <a:srgbClr val="1A1A1A"/>
                </a:solidFill>
                <a:latin typeface="Arial"/>
              </a:rPr>
              <a:t>chi-square p &lt; 0.001 (threshold 0.001)</a:t>
            </a:r>
          </a:p>
          <a:p>
            <a:pPr>
              <a:spcAft>
                <a:spcPts val="400"/>
              </a:spcAft>
            </a:pPr>
            <a:r>
              <a:rPr sz="1300" b="1">
                <a:solidFill>
                  <a:srgbClr val="2251FF"/>
                </a:solidFill>
                <a:latin typeface="Arial"/>
              </a:rPr>
              <a:t>•  </a:t>
            </a:r>
            <a:r>
              <a:rPr sz="1300" b="1">
                <a:solidFill>
                  <a:srgbClr val="1A1A1A"/>
                </a:solidFill>
                <a:latin typeface="Arial"/>
              </a:rPr>
              <a:t>Concentrated in: </a:t>
            </a:r>
            <a:r>
              <a:rPr sz="1300">
                <a:solidFill>
                  <a:srgbClr val="1A1A1A"/>
                </a:solidFill>
                <a:latin typeface="Arial"/>
              </a:rPr>
              <a:t>exposure_date 2026-09-05 to 2026-09-14 (10 of 14 levels); platform=Android</a:t>
            </a:r>
          </a:p>
        </p:txBody>
      </p:sp>
      <p:sp>
        <p:nvSpPr>
          <p:cNvPr id="10" name="TextBox 9"/>
          <p:cNvSpPr txBox="1"/>
          <p:nvPr/>
        </p:nvSpPr>
        <p:spPr>
          <a:xfrm>
            <a:off x="3886200" y="3950208"/>
            <a:ext cx="7802575" cy="274320"/>
          </a:xfrm>
          <a:prstGeom prst="rect">
            <a:avLst/>
          </a:prstGeom>
          <a:noFill/>
        </p:spPr>
        <p:txBody>
          <a:bodyPr wrap="square" anchor="t" lIns="18288" rIns="18288" tIns="18288" bIns="18288">
            <a:spAutoFit/>
          </a:bodyPr>
          <a:lstStyle/>
          <a:p>
            <a:pPr algn="l"/>
            <a:r>
              <a:rPr sz="1100" b="1">
                <a:solidFill>
                  <a:srgbClr val="0B2545"/>
                </a:solidFill>
                <a:latin typeface="Arial"/>
              </a:rPr>
              <a:t>WHAT IT MEANS</a:t>
            </a:r>
          </a:p>
        </p:txBody>
      </p:sp>
      <p:sp>
        <p:nvSpPr>
          <p:cNvPr id="11" name="TextBox 10"/>
          <p:cNvSpPr txBox="1"/>
          <p:nvPr/>
        </p:nvSpPr>
        <p:spPr>
          <a:xfrm>
            <a:off x="3886200" y="4224528"/>
            <a:ext cx="7802575" cy="640080"/>
          </a:xfrm>
          <a:prstGeom prst="rect">
            <a:avLst/>
          </a:prstGeom>
          <a:noFill/>
        </p:spPr>
        <p:txBody>
          <a:bodyPr wrap="square" anchor="t" lIns="18288" rIns="18288" tIns="18288" bIns="18288">
            <a:spAutoFit/>
          </a:bodyPr>
          <a:lstStyle/>
          <a:p>
            <a:pPr algn="l"/>
            <a:r>
              <a:rPr sz="1300" b="0">
                <a:solidFill>
                  <a:srgbClr val="1A1A1A"/>
                </a:solidFill>
                <a:latin typeface="Arial"/>
              </a:rPr>
              <a:t>The groups being compared are not the ones the experiment created, so any difference between them could come from the data problem rather than the change.</a:t>
            </a:r>
          </a:p>
        </p:txBody>
      </p:sp>
      <p:sp>
        <p:nvSpPr>
          <p:cNvPr id="12" name="TextBox 11"/>
          <p:cNvSpPr txBox="1"/>
          <p:nvPr/>
        </p:nvSpPr>
        <p:spPr>
          <a:xfrm>
            <a:off x="3886200" y="4910328"/>
            <a:ext cx="7802575" cy="274320"/>
          </a:xfrm>
          <a:prstGeom prst="rect">
            <a:avLst/>
          </a:prstGeom>
          <a:noFill/>
        </p:spPr>
        <p:txBody>
          <a:bodyPr wrap="square" anchor="t" lIns="18288" rIns="18288" tIns="18288" bIns="18288">
            <a:spAutoFit/>
          </a:bodyPr>
          <a:lstStyle/>
          <a:p>
            <a:pPr algn="l"/>
            <a:r>
              <a:rPr sz="1100" b="1">
                <a:solidFill>
                  <a:srgbClr val="0B2545"/>
                </a:solidFill>
                <a:latin typeface="Arial"/>
              </a:rPr>
              <a:t>WHAT WE RECOMMEND</a:t>
            </a:r>
          </a:p>
        </p:txBody>
      </p:sp>
      <p:sp>
        <p:nvSpPr>
          <p:cNvPr id="13" name="TextBox 12"/>
          <p:cNvSpPr txBox="1"/>
          <p:nvPr/>
        </p:nvSpPr>
        <p:spPr>
          <a:xfrm>
            <a:off x="3886200" y="5184648"/>
            <a:ext cx="7802575" cy="548640"/>
          </a:xfrm>
          <a:prstGeom prst="rect">
            <a:avLst/>
          </a:prstGeom>
          <a:noFill/>
        </p:spPr>
        <p:txBody>
          <a:bodyPr wrap="square" anchor="t" lIns="18288" rIns="18288" tIns="18288" bIns="18288">
            <a:spAutoFit/>
          </a:bodyPr>
          <a:lstStyle/>
          <a:p>
            <a:pPr algn="l"/>
            <a:r>
              <a:rPr sz="1300" b="1">
                <a:solidFill>
                  <a:srgbClr val="1A1A1A"/>
                </a:solidFill>
                <a:latin typeface="Arial"/>
              </a:rPr>
              <a:t>Fix the Android exposure event lost since the 2026-09-05 release (about 3,085 treatment users missing)</a:t>
            </a:r>
          </a:p>
        </p:txBody>
      </p:sp>
      <p:sp>
        <p:nvSpPr>
          <p:cNvPr id="14" name="TextBox 13"/>
          <p:cNvSpPr txBox="1"/>
          <p:nvPr/>
        </p:nvSpPr>
        <p:spPr>
          <a:xfrm>
            <a:off x="3886200" y="5687568"/>
            <a:ext cx="7802575" cy="274320"/>
          </a:xfrm>
          <a:prstGeom prst="rect">
            <a:avLst/>
          </a:prstGeom>
          <a:noFill/>
        </p:spPr>
        <p:txBody>
          <a:bodyPr wrap="square" anchor="t" lIns="18288" rIns="18288" tIns="18288" bIns="18288">
            <a:spAutoFit/>
          </a:bodyPr>
          <a:lstStyle/>
          <a:p>
            <a:pPr algn="l"/>
            <a:r>
              <a:rPr sz="1100" b="1">
                <a:solidFill>
                  <a:srgbClr val="0B2545"/>
                </a:solidFill>
                <a:latin typeface="Arial"/>
              </a:rPr>
              <a:t>MAIN CAVEAT</a:t>
            </a:r>
          </a:p>
        </p:txBody>
      </p:sp>
      <p:sp>
        <p:nvSpPr>
          <p:cNvPr id="15" name="TextBox 14"/>
          <p:cNvSpPr txBox="1"/>
          <p:nvPr/>
        </p:nvSpPr>
        <p:spPr>
          <a:xfrm>
            <a:off x="3886200" y="5961888"/>
            <a:ext cx="7802575" cy="548640"/>
          </a:xfrm>
          <a:prstGeom prst="rect">
            <a:avLst/>
          </a:prstGeom>
          <a:noFill/>
        </p:spPr>
        <p:txBody>
          <a:bodyPr wrap="square" anchor="t" lIns="18288" rIns="18288" tIns="18288" bIns="18288">
            <a:spAutoFit/>
          </a:bodyPr>
          <a:lstStyle/>
          <a:p>
            <a:pPr algn="l"/>
            <a:r>
              <a:rPr sz="1300" b="0">
                <a:solidFill>
                  <a:srgbClr val="C0392B"/>
                </a:solidFill>
                <a:latin typeface="Arial"/>
              </a:rPr>
              <a:t>iOS + Web alone show no mismatch (p = 0.323), but an iOS + Web-only readout would answer a different question (it excludes a whole platform); treat it as a sensitivity check only.</a:t>
            </a:r>
          </a:p>
        </p:txBody>
      </p:sp>
      <p:sp>
        <p:nvSpPr>
          <p:cNvPr id="16" name="Rectangle 15"/>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18" name="TextBox 17"/>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Agenda</a:t>
            </a:r>
          </a:p>
        </p:txBody>
      </p:sp>
      <p:sp>
        <p:nvSpPr>
          <p:cNvPr id="3" name="Rectangle 2"/>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645920"/>
            <a:ext cx="50292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1600" b="1">
                <a:solidFill>
                  <a:srgbClr val="FFFFFF"/>
                </a:solidFill>
                <a:latin typeface="Arial"/>
              </a:rPr>
              <a:t>1</a:t>
            </a:r>
          </a:p>
        </p:txBody>
      </p:sp>
      <p:sp>
        <p:nvSpPr>
          <p:cNvPr id="5" name="TextBox 4"/>
          <p:cNvSpPr txBox="1"/>
          <p:nvPr/>
        </p:nvSpPr>
        <p:spPr>
          <a:xfrm>
            <a:off x="1234440" y="1719072"/>
            <a:ext cx="9144000" cy="411480"/>
          </a:xfrm>
          <a:prstGeom prst="rect">
            <a:avLst/>
          </a:prstGeom>
          <a:noFill/>
        </p:spPr>
        <p:txBody>
          <a:bodyPr wrap="square" anchor="t" lIns="18288" rIns="18288" tIns="18288" bIns="18288">
            <a:spAutoFit/>
          </a:bodyPr>
          <a:lstStyle/>
          <a:p>
            <a:pPr algn="l"/>
            <a:r>
              <a:rPr sz="1800" b="0">
                <a:solidFill>
                  <a:srgbClr val="1A1A1A"/>
                </a:solidFill>
                <a:latin typeface="Arial"/>
              </a:rPr>
              <a:t>The ask: what we were asked to answer</a:t>
            </a:r>
          </a:p>
        </p:txBody>
      </p:sp>
      <p:sp>
        <p:nvSpPr>
          <p:cNvPr id="6" name="Rectangle 5"/>
          <p:cNvSpPr/>
          <p:nvPr/>
        </p:nvSpPr>
        <p:spPr>
          <a:xfrm>
            <a:off x="502920" y="2377440"/>
            <a:ext cx="50292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1600" b="1">
                <a:solidFill>
                  <a:srgbClr val="FFFFFF"/>
                </a:solidFill>
                <a:latin typeface="Arial"/>
              </a:rPr>
              <a:t>2</a:t>
            </a:r>
          </a:p>
        </p:txBody>
      </p:sp>
      <p:sp>
        <p:nvSpPr>
          <p:cNvPr id="7" name="TextBox 6"/>
          <p:cNvSpPr txBox="1"/>
          <p:nvPr/>
        </p:nvSpPr>
        <p:spPr>
          <a:xfrm>
            <a:off x="1234440" y="2450592"/>
            <a:ext cx="9144000" cy="411480"/>
          </a:xfrm>
          <a:prstGeom prst="rect">
            <a:avLst/>
          </a:prstGeom>
          <a:noFill/>
        </p:spPr>
        <p:txBody>
          <a:bodyPr wrap="square" anchor="t" lIns="18288" rIns="18288" tIns="18288" bIns="18288">
            <a:spAutoFit/>
          </a:bodyPr>
          <a:lstStyle/>
          <a:p>
            <a:pPr algn="l"/>
            <a:r>
              <a:rPr sz="1800" b="0">
                <a:solidFill>
                  <a:srgbClr val="1A1A1A"/>
                </a:solidFill>
                <a:latin typeface="Arial"/>
              </a:rPr>
              <a:t>Approach: how we answered it</a:t>
            </a:r>
          </a:p>
        </p:txBody>
      </p:sp>
      <p:sp>
        <p:nvSpPr>
          <p:cNvPr id="8" name="Rectangle 7"/>
          <p:cNvSpPr/>
          <p:nvPr/>
        </p:nvSpPr>
        <p:spPr>
          <a:xfrm>
            <a:off x="502920" y="3108960"/>
            <a:ext cx="50292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1600" b="1">
                <a:solidFill>
                  <a:srgbClr val="FFFFFF"/>
                </a:solidFill>
                <a:latin typeface="Arial"/>
              </a:rPr>
              <a:t>3</a:t>
            </a:r>
          </a:p>
        </p:txBody>
      </p:sp>
      <p:sp>
        <p:nvSpPr>
          <p:cNvPr id="9" name="TextBox 8"/>
          <p:cNvSpPr txBox="1"/>
          <p:nvPr/>
        </p:nvSpPr>
        <p:spPr>
          <a:xfrm>
            <a:off x="1234440" y="3182112"/>
            <a:ext cx="9144000" cy="411480"/>
          </a:xfrm>
          <a:prstGeom prst="rect">
            <a:avLst/>
          </a:prstGeom>
          <a:noFill/>
        </p:spPr>
        <p:txBody>
          <a:bodyPr wrap="square" anchor="t" lIns="18288" rIns="18288" tIns="18288" bIns="18288">
            <a:spAutoFit/>
          </a:bodyPr>
          <a:lstStyle/>
          <a:p>
            <a:pPr algn="l"/>
            <a:r>
              <a:rPr sz="1800" b="0">
                <a:solidFill>
                  <a:srgbClr val="1A1A1A"/>
                </a:solidFill>
                <a:latin typeface="Arial"/>
              </a:rPr>
              <a:t>Findings: what the data shows</a:t>
            </a:r>
          </a:p>
        </p:txBody>
      </p:sp>
      <p:sp>
        <p:nvSpPr>
          <p:cNvPr id="10" name="Rectangle 9"/>
          <p:cNvSpPr/>
          <p:nvPr/>
        </p:nvSpPr>
        <p:spPr>
          <a:xfrm>
            <a:off x="502920" y="3840480"/>
            <a:ext cx="50292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1600" b="1">
                <a:solidFill>
                  <a:srgbClr val="FFFFFF"/>
                </a:solidFill>
                <a:latin typeface="Arial"/>
              </a:rPr>
              <a:t>4</a:t>
            </a:r>
          </a:p>
        </p:txBody>
      </p:sp>
      <p:sp>
        <p:nvSpPr>
          <p:cNvPr id="11" name="TextBox 10"/>
          <p:cNvSpPr txBox="1"/>
          <p:nvPr/>
        </p:nvSpPr>
        <p:spPr>
          <a:xfrm>
            <a:off x="1234440" y="3913632"/>
            <a:ext cx="9144000" cy="411480"/>
          </a:xfrm>
          <a:prstGeom prst="rect">
            <a:avLst/>
          </a:prstGeom>
          <a:noFill/>
        </p:spPr>
        <p:txBody>
          <a:bodyPr wrap="square" anchor="t" lIns="18288" rIns="18288" tIns="18288" bIns="18288">
            <a:spAutoFit/>
          </a:bodyPr>
          <a:lstStyle/>
          <a:p>
            <a:pPr algn="l"/>
            <a:r>
              <a:rPr sz="1800" b="0">
                <a:solidFill>
                  <a:srgbClr val="1A1A1A"/>
                </a:solidFill>
                <a:latin typeface="Arial"/>
              </a:rPr>
              <a:t>Impact: what it means for the business</a:t>
            </a:r>
          </a:p>
        </p:txBody>
      </p:sp>
      <p:sp>
        <p:nvSpPr>
          <p:cNvPr id="12" name="Rectangle 11"/>
          <p:cNvSpPr/>
          <p:nvPr/>
        </p:nvSpPr>
        <p:spPr>
          <a:xfrm>
            <a:off x="502920" y="4572000"/>
            <a:ext cx="502920" cy="5029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1600" b="1">
                <a:solidFill>
                  <a:srgbClr val="FFFFFF"/>
                </a:solidFill>
                <a:latin typeface="Arial"/>
              </a:rPr>
              <a:t>5</a:t>
            </a:r>
          </a:p>
        </p:txBody>
      </p:sp>
      <p:sp>
        <p:nvSpPr>
          <p:cNvPr id="13" name="TextBox 12"/>
          <p:cNvSpPr txBox="1"/>
          <p:nvPr/>
        </p:nvSpPr>
        <p:spPr>
          <a:xfrm>
            <a:off x="1234440" y="4645152"/>
            <a:ext cx="9144000" cy="411480"/>
          </a:xfrm>
          <a:prstGeom prst="rect">
            <a:avLst/>
          </a:prstGeom>
          <a:noFill/>
        </p:spPr>
        <p:txBody>
          <a:bodyPr wrap="square" anchor="t" lIns="18288" rIns="18288" tIns="18288" bIns="18288">
            <a:spAutoFit/>
          </a:bodyPr>
          <a:lstStyle/>
          <a:p>
            <a:pPr algn="l"/>
            <a:r>
              <a:rPr sz="1800" b="0">
                <a:solidFill>
                  <a:srgbClr val="1A1A1A"/>
                </a:solidFill>
                <a:latin typeface="Arial"/>
              </a:rPr>
              <a:t>Recommendation: risks, decision and next steps</a:t>
            </a:r>
          </a:p>
        </p:txBody>
      </p:sp>
      <p:sp>
        <p:nvSpPr>
          <p:cNvPr id="14" name="Rectangle 13"/>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16" name="TextBox 15"/>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1">
                <a:solidFill>
                  <a:srgbClr val="2251FF"/>
                </a:solidFill>
                <a:latin typeface="Arial"/>
              </a:rPr>
              <a:t>1  THE ASK      </a:t>
            </a:r>
            <a:r>
              <a:rPr sz="900" b="0">
                <a:solidFill>
                  <a:srgbClr val="8C8C8C"/>
                </a:solidFill>
                <a:latin typeface="Arial"/>
              </a:rPr>
              <a:t>2  APPROACH      </a:t>
            </a:r>
            <a:r>
              <a:rPr sz="900" b="0">
                <a:solidFill>
                  <a:srgbClr val="8C8C8C"/>
                </a:solidFill>
                <a:latin typeface="Arial"/>
              </a:rPr>
              <a:t>3  FINDINGS      </a:t>
            </a:r>
            <a:r>
              <a:rPr sz="900" b="0">
                <a:solidFill>
                  <a:srgbClr val="8C8C8C"/>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The ask: Does the new onboarding checklist increase 7-day activation?</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4</a:t>
            </a:r>
          </a:p>
        </p:txBody>
      </p:sp>
      <p:sp>
        <p:nvSpPr>
          <p:cNvPr id="8" name="TextBox 7"/>
          <p:cNvSpPr txBox="1"/>
          <p:nvPr/>
        </p:nvSpPr>
        <p:spPr>
          <a:xfrm>
            <a:off x="502920" y="1508760"/>
            <a:ext cx="5394960" cy="274320"/>
          </a:xfrm>
          <a:prstGeom prst="rect">
            <a:avLst/>
          </a:prstGeom>
          <a:noFill/>
        </p:spPr>
        <p:txBody>
          <a:bodyPr wrap="square" anchor="t" lIns="18288" rIns="18288" tIns="18288" bIns="18288">
            <a:spAutoFit/>
          </a:bodyPr>
          <a:lstStyle/>
          <a:p>
            <a:pPr algn="l"/>
            <a:r>
              <a:rPr sz="1100" b="1">
                <a:solidFill>
                  <a:srgbClr val="0B2545"/>
                </a:solidFill>
                <a:latin typeface="Arial"/>
              </a:rPr>
              <a:t>THE DECISION</a:t>
            </a:r>
          </a:p>
        </p:txBody>
      </p:sp>
      <p:sp>
        <p:nvSpPr>
          <p:cNvPr id="9" name="TextBox 8"/>
          <p:cNvSpPr txBox="1"/>
          <p:nvPr/>
        </p:nvSpPr>
        <p:spPr>
          <a:xfrm>
            <a:off x="502920" y="1783080"/>
            <a:ext cx="5394960" cy="822960"/>
          </a:xfrm>
          <a:prstGeom prst="rect">
            <a:avLst/>
          </a:prstGeom>
          <a:noFill/>
        </p:spPr>
        <p:txBody>
          <a:bodyPr wrap="square" anchor="t" lIns="18288" rIns="18288" tIns="18288" bIns="18288">
            <a:spAutoFit/>
          </a:bodyPr>
          <a:lstStyle/>
          <a:p>
            <a:pPr algn="l"/>
            <a:r>
              <a:rPr sz="1400" b="0">
                <a:solidFill>
                  <a:srgbClr val="1A1A1A"/>
                </a:solidFill>
                <a:latin typeface="Arial"/>
              </a:rPr>
              <a:t>Ship / don't ship the checklist.</a:t>
            </a:r>
          </a:p>
        </p:txBody>
      </p:sp>
      <p:sp>
        <p:nvSpPr>
          <p:cNvPr id="10" name="TextBox 9"/>
          <p:cNvSpPr txBox="1"/>
          <p:nvPr/>
        </p:nvSpPr>
        <p:spPr>
          <a:xfrm>
            <a:off x="502920" y="2697480"/>
            <a:ext cx="5394960" cy="274320"/>
          </a:xfrm>
          <a:prstGeom prst="rect">
            <a:avLst/>
          </a:prstGeom>
          <a:noFill/>
        </p:spPr>
        <p:txBody>
          <a:bodyPr wrap="square" anchor="t" lIns="18288" rIns="18288" tIns="18288" bIns="18288">
            <a:spAutoFit/>
          </a:bodyPr>
          <a:lstStyle/>
          <a:p>
            <a:pPr algn="l"/>
            <a:r>
              <a:rPr sz="1100" b="1">
                <a:solidFill>
                  <a:srgbClr val="0B2545"/>
                </a:solidFill>
                <a:latin typeface="Arial"/>
              </a:rPr>
              <a:t>OUR HYPOTHESIS</a:t>
            </a:r>
          </a:p>
        </p:txBody>
      </p:sp>
      <p:sp>
        <p:nvSpPr>
          <p:cNvPr id="11" name="TextBox 10"/>
          <p:cNvSpPr txBox="1"/>
          <p:nvPr/>
        </p:nvSpPr>
        <p:spPr>
          <a:xfrm>
            <a:off x="502920" y="2971800"/>
            <a:ext cx="5394960" cy="822960"/>
          </a:xfrm>
          <a:prstGeom prst="rect">
            <a:avLst/>
          </a:prstGeom>
          <a:noFill/>
        </p:spPr>
        <p:txBody>
          <a:bodyPr wrap="square" anchor="t" lIns="18288" rIns="18288" tIns="18288" bIns="18288">
            <a:spAutoFit/>
          </a:bodyPr>
          <a:lstStyle/>
          <a:p>
            <a:pPr algn="l"/>
            <a:r>
              <a:rPr sz="1400" b="0">
                <a:solidFill>
                  <a:srgbClr val="1A1A1A"/>
                </a:solidFill>
                <a:latin typeface="Arial"/>
              </a:rPr>
              <a:t>Showing a checklist during onboarding raises the share of new users who activate within 7 days.</a:t>
            </a:r>
          </a:p>
        </p:txBody>
      </p:sp>
      <p:sp>
        <p:nvSpPr>
          <p:cNvPr id="12" name="TextBox 11"/>
          <p:cNvSpPr txBox="1"/>
          <p:nvPr/>
        </p:nvSpPr>
        <p:spPr>
          <a:xfrm>
            <a:off x="502920" y="3886200"/>
            <a:ext cx="5394960" cy="274320"/>
          </a:xfrm>
          <a:prstGeom prst="rect">
            <a:avLst/>
          </a:prstGeom>
          <a:noFill/>
        </p:spPr>
        <p:txBody>
          <a:bodyPr wrap="square" anchor="t" lIns="18288" rIns="18288" tIns="18288" bIns="18288">
            <a:spAutoFit/>
          </a:bodyPr>
          <a:lstStyle/>
          <a:p>
            <a:pPr algn="l"/>
            <a:r>
              <a:rPr sz="1100" b="1">
                <a:solidFill>
                  <a:srgbClr val="0B2545"/>
                </a:solidFill>
                <a:latin typeface="Arial"/>
              </a:rPr>
              <a:t>WHAT SUCCESS LOOKS LIKE</a:t>
            </a:r>
          </a:p>
        </p:txBody>
      </p:sp>
      <p:sp>
        <p:nvSpPr>
          <p:cNvPr id="13" name="TextBox 12"/>
          <p:cNvSpPr txBox="1"/>
          <p:nvPr/>
        </p:nvSpPr>
        <p:spPr>
          <a:xfrm>
            <a:off x="502920" y="4160520"/>
            <a:ext cx="5394960" cy="822960"/>
          </a:xfrm>
          <a:prstGeom prst="rect">
            <a:avLst/>
          </a:prstGeom>
          <a:noFill/>
        </p:spPr>
        <p:txBody>
          <a:bodyPr wrap="square" anchor="t" lIns="18288" rIns="18288" tIns="18288" bIns="18288">
            <a:spAutoFit/>
          </a:bodyPr>
          <a:lstStyle/>
          <a:p>
            <a:pPr algn="l"/>
            <a:r>
              <a:rPr sz="1400" b="0">
                <a:solidFill>
                  <a:srgbClr val="1A1A1A"/>
                </a:solidFill>
                <a:latin typeface="Arial"/>
              </a:rPr>
              <a:t>7-day activation must rise by at least 3% (relative).</a:t>
            </a:r>
          </a:p>
        </p:txBody>
      </p:sp>
      <p:sp>
        <p:nvSpPr>
          <p:cNvPr id="14" name="TextBox 13"/>
          <p:cNvSpPr txBox="1"/>
          <p:nvPr/>
        </p:nvSpPr>
        <p:spPr>
          <a:xfrm>
            <a:off x="6446520" y="1508760"/>
            <a:ext cx="5242255" cy="274320"/>
          </a:xfrm>
          <a:prstGeom prst="rect">
            <a:avLst/>
          </a:prstGeom>
          <a:noFill/>
        </p:spPr>
        <p:txBody>
          <a:bodyPr wrap="square" anchor="t" lIns="18288" rIns="18288" tIns="18288" bIns="18288">
            <a:spAutoFit/>
          </a:bodyPr>
          <a:lstStyle/>
          <a:p>
            <a:pPr algn="l"/>
            <a:r>
              <a:rPr sz="1100" b="1">
                <a:solidFill>
                  <a:srgbClr val="0B2545"/>
                </a:solidFill>
                <a:latin typeface="Arial"/>
              </a:rPr>
              <a:t>WHAT WAS TESTED</a:t>
            </a:r>
          </a:p>
        </p:txBody>
      </p:sp>
      <p:graphicFrame>
        <p:nvGraphicFramePr>
          <p:cNvPr id="15" name="Table 14"/>
          <p:cNvGraphicFramePr>
            <a:graphicFrameLocks noGrp="1"/>
          </p:cNvGraphicFramePr>
          <p:nvPr/>
        </p:nvGraphicFramePr>
        <p:xfrm>
          <a:off x="6446520" y="1828800"/>
          <a:ext cx="5242255" cy="2304288"/>
        </p:xfrm>
        <a:graphic>
          <a:graphicData uri="http://schemas.openxmlformats.org/drawingml/2006/table">
            <a:tbl>
              <a:tblPr firstRow="1" bandRow="1">
                <a:tableStyleId>{5C22544A-7EE6-4342-B048-85BDC9FD1C3A}</a:tableStyleId>
              </a:tblPr>
              <a:tblGrid>
                <a:gridCol w="1887211"/>
                <a:gridCol w="3355044"/>
              </a:tblGrid>
              <a:tr h="384048">
                <a:tc>
                  <a:txBody>
                    <a:bodyPr/>
                    <a:lstStyle/>
                    <a:p>
                      <a:r>
                        <a:rPr sz="1200" b="1">
                          <a:solidFill>
                            <a:srgbClr val="0B2545"/>
                          </a:solidFill>
                          <a:latin typeface="Arial"/>
                        </a:rPr>
                        <a:t>Groups</a:t>
                      </a:r>
                    </a:p>
                  </a:txBody>
                  <a:tcPr marL="91440" anchor="ctr">
                    <a:solidFill>
                      <a:srgbClr val="E3E3E3"/>
                    </a:solidFill>
                  </a:tcPr>
                </a:tc>
                <a:tc>
                  <a:txBody>
                    <a:bodyPr/>
                    <a:lstStyle/>
                    <a:p>
                      <a:r>
                        <a:rPr sz="1200" b="0">
                          <a:solidFill>
                            <a:srgbClr val="1A1A1A"/>
                          </a:solidFill>
                          <a:latin typeface="Arial"/>
                        </a:rPr>
                        <a:t>control: 20,838, treatment: 18,073</a:t>
                      </a:r>
                    </a:p>
                  </a:txBody>
                  <a:tcPr marL="91440" anchor="ctr">
                    <a:solidFill>
                      <a:srgbClr val="E3E3E3"/>
                    </a:solidFill>
                  </a:tcPr>
                </a:tc>
              </a:tr>
              <a:tr h="384048">
                <a:tc>
                  <a:txBody>
                    <a:bodyPr/>
                    <a:lstStyle/>
                    <a:p>
                      <a:r>
                        <a:rPr sz="1200" b="1">
                          <a:solidFill>
                            <a:srgbClr val="0B2545"/>
                          </a:solidFill>
                          <a:latin typeface="Arial"/>
                        </a:rPr>
                        <a:t>Unit</a:t>
                      </a:r>
                    </a:p>
                  </a:txBody>
                  <a:tcPr marL="91440" anchor="ctr">
                    <a:solidFill>
                      <a:srgbClr val="FFFFFF"/>
                    </a:solidFill>
                  </a:tcPr>
                </a:tc>
                <a:tc>
                  <a:txBody>
                    <a:bodyPr/>
                    <a:lstStyle/>
                    <a:p>
                      <a:r>
                        <a:rPr sz="1200" b="0">
                          <a:solidFill>
                            <a:srgbClr val="1A1A1A"/>
                          </a:solidFill>
                          <a:latin typeface="Arial"/>
                        </a:rPr>
                        <a:t>users</a:t>
                      </a:r>
                    </a:p>
                  </a:txBody>
                  <a:tcPr marL="91440" anchor="ctr">
                    <a:solidFill>
                      <a:srgbClr val="FFFFFF"/>
                    </a:solidFill>
                  </a:tcPr>
                </a:tc>
              </a:tr>
              <a:tr h="384048">
                <a:tc>
                  <a:txBody>
                    <a:bodyPr/>
                    <a:lstStyle/>
                    <a:p>
                      <a:r>
                        <a:rPr sz="1200" b="1">
                          <a:solidFill>
                            <a:srgbClr val="0B2545"/>
                          </a:solidFill>
                          <a:latin typeface="Arial"/>
                        </a:rPr>
                        <a:t>Period</a:t>
                      </a:r>
                    </a:p>
                  </a:txBody>
                  <a:tcPr marL="91440" anchor="ctr">
                    <a:solidFill>
                      <a:srgbClr val="E3E3E3"/>
                    </a:solidFill>
                  </a:tcPr>
                </a:tc>
                <a:tc>
                  <a:txBody>
                    <a:bodyPr/>
                    <a:lstStyle/>
                    <a:p>
                      <a:r>
                        <a:rPr sz="1200" b="0">
                          <a:solidFill>
                            <a:srgbClr val="1A1A1A"/>
                          </a:solidFill>
                          <a:latin typeface="Arial"/>
                        </a:rPr>
                        <a:t>2026-09-01 to 2026-09-14</a:t>
                      </a:r>
                    </a:p>
                  </a:txBody>
                  <a:tcPr marL="91440" anchor="ctr">
                    <a:solidFill>
                      <a:srgbClr val="E3E3E3"/>
                    </a:solidFill>
                  </a:tcPr>
                </a:tc>
              </a:tr>
              <a:tr h="384048">
                <a:tc>
                  <a:txBody>
                    <a:bodyPr/>
                    <a:lstStyle/>
                    <a:p>
                      <a:r>
                        <a:rPr sz="1200" b="1">
                          <a:solidFill>
                            <a:srgbClr val="0B2545"/>
                          </a:solidFill>
                          <a:latin typeface="Arial"/>
                        </a:rPr>
                        <a:t>Primary metric</a:t>
                      </a:r>
                    </a:p>
                  </a:txBody>
                  <a:tcPr marL="91440" anchor="ctr">
                    <a:solidFill>
                      <a:srgbClr val="FFFFFF"/>
                    </a:solidFill>
                  </a:tcPr>
                </a:tc>
                <a:tc>
                  <a:txBody>
                    <a:bodyPr/>
                    <a:lstStyle/>
                    <a:p>
                      <a:r>
                        <a:rPr sz="1200" b="0">
                          <a:solidFill>
                            <a:srgbClr val="1A1A1A"/>
                          </a:solidFill>
                          <a:latin typeface="Arial"/>
                        </a:rPr>
                        <a:t>7-day activation</a:t>
                      </a:r>
                    </a:p>
                  </a:txBody>
                  <a:tcPr marL="91440" anchor="ctr">
                    <a:solidFill>
                      <a:srgbClr val="FFFFFF"/>
                    </a:solidFill>
                  </a:tcPr>
                </a:tc>
              </a:tr>
              <a:tr h="384048">
                <a:tc>
                  <a:txBody>
                    <a:bodyPr/>
                    <a:lstStyle/>
                    <a:p>
                      <a:r>
                        <a:rPr sz="1200" b="1">
                          <a:solidFill>
                            <a:srgbClr val="0B2545"/>
                          </a:solidFill>
                          <a:latin typeface="Arial"/>
                        </a:rPr>
                        <a:t>Guardrails</a:t>
                      </a:r>
                    </a:p>
                  </a:txBody>
                  <a:tcPr marL="91440" anchor="ctr">
                    <a:solidFill>
                      <a:srgbClr val="E3E3E3"/>
                    </a:solidFill>
                  </a:tcPr>
                </a:tc>
                <a:tc>
                  <a:txBody>
                    <a:bodyPr/>
                    <a:lstStyle/>
                    <a:p>
                      <a:r>
                        <a:rPr sz="1200" b="0">
                          <a:solidFill>
                            <a:srgbClr val="1A1A1A"/>
                          </a:solidFill>
                          <a:latin typeface="Arial"/>
                        </a:rPr>
                        <a:t>none defined</a:t>
                      </a:r>
                    </a:p>
                  </a:txBody>
                  <a:tcPr marL="91440" anchor="ctr">
                    <a:solidFill>
                      <a:srgbClr val="E3E3E3"/>
                    </a:solidFill>
                  </a:tcPr>
                </a:tc>
              </a:tr>
              <a:tr h="384048">
                <a:tc>
                  <a:txBody>
                    <a:bodyPr/>
                    <a:lstStyle/>
                    <a:p>
                      <a:r>
                        <a:rPr sz="1200" b="1">
                          <a:solidFill>
                            <a:srgbClr val="0B2545"/>
                          </a:solidFill>
                          <a:latin typeface="Arial"/>
                        </a:rPr>
                        <a:t>Practical threshold</a:t>
                      </a:r>
                    </a:p>
                  </a:txBody>
                  <a:tcPr marL="91440" anchor="ctr">
                    <a:solidFill>
                      <a:srgbClr val="FFFFFF"/>
                    </a:solidFill>
                  </a:tcPr>
                </a:tc>
                <a:tc>
                  <a:txBody>
                    <a:bodyPr/>
                    <a:lstStyle/>
                    <a:p>
                      <a:r>
                        <a:rPr sz="1200" b="0">
                          <a:solidFill>
                            <a:srgbClr val="1A1A1A"/>
                          </a:solidFill>
                          <a:latin typeface="Arial"/>
                        </a:rPr>
                        <a:t>+3% relative</a:t>
                      </a:r>
                    </a:p>
                  </a:txBody>
                  <a:tcPr marL="9144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1">
                <a:solidFill>
                  <a:srgbClr val="2251FF"/>
                </a:solidFill>
                <a:latin typeface="Arial"/>
              </a:rPr>
              <a:t>2  APPROACH      </a:t>
            </a:r>
            <a:r>
              <a:rPr sz="900" b="0">
                <a:solidFill>
                  <a:srgbClr val="8C8C8C"/>
                </a:solidFill>
                <a:latin typeface="Arial"/>
              </a:rPr>
              <a:t>3  FINDINGS      </a:t>
            </a:r>
            <a:r>
              <a:rPr sz="900" b="0">
                <a:solidFill>
                  <a:srgbClr val="8C8C8C"/>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We answered it with a randomised comparison of 38,911 users, quality checks and an independent review</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5</a:t>
            </a:r>
          </a:p>
        </p:txBody>
      </p:sp>
      <p:sp>
        <p:nvSpPr>
          <p:cNvPr id="8" name="Pentagon 7"/>
          <p:cNvSpPr/>
          <p:nvPr/>
        </p:nvSpPr>
        <p:spPr>
          <a:xfrm>
            <a:off x="502920" y="1737360"/>
            <a:ext cx="2762173" cy="731520"/>
          </a:xfrm>
          <a:prstGeom prst="homePlat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500" b="1">
                <a:solidFill>
                  <a:srgbClr val="FFFFFF"/>
                </a:solidFill>
                <a:latin typeface="Arial"/>
              </a:rPr>
              <a:t>1. Data</a:t>
            </a:r>
          </a:p>
        </p:txBody>
      </p:sp>
      <p:sp>
        <p:nvSpPr>
          <p:cNvPr id="9" name="TextBox 8"/>
          <p:cNvSpPr txBox="1"/>
          <p:nvPr/>
        </p:nvSpPr>
        <p:spPr>
          <a:xfrm>
            <a:off x="640080" y="2697480"/>
            <a:ext cx="2487853" cy="2926080"/>
          </a:xfrm>
          <a:prstGeom prst="rect">
            <a:avLst/>
          </a:prstGeom>
          <a:noFill/>
        </p:spPr>
        <p:txBody>
          <a:bodyPr wrap="square" anchor="t" lIns="18288" rIns="18288" tIns="18288" bIns="18288">
            <a:spAutoFit/>
          </a:bodyPr>
          <a:lstStyle/>
          <a:p>
            <a:pPr algn="l"/>
            <a:r>
              <a:rPr sz="1300" b="0">
                <a:solidFill>
                  <a:srgbClr val="1A1A1A"/>
                </a:solidFill>
                <a:latin typeface="Arial"/>
              </a:rPr>
              <a:t>38,911 users in 2 groups (control, treatment). Period: 2026-09-01 to 2026-09-14.</a:t>
            </a:r>
          </a:p>
        </p:txBody>
      </p:sp>
      <p:sp>
        <p:nvSpPr>
          <p:cNvPr id="10" name="Chevron 9"/>
          <p:cNvSpPr/>
          <p:nvPr/>
        </p:nvSpPr>
        <p:spPr>
          <a:xfrm>
            <a:off x="3310813" y="1737360"/>
            <a:ext cx="2762173" cy="731520"/>
          </a:xfrm>
          <a:prstGeom prst="chevron">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500" b="1">
                <a:solidFill>
                  <a:srgbClr val="FFFFFF"/>
                </a:solidFill>
                <a:latin typeface="Arial"/>
              </a:rPr>
              <a:t>2. Quality checks</a:t>
            </a:r>
          </a:p>
        </p:txBody>
      </p:sp>
      <p:sp>
        <p:nvSpPr>
          <p:cNvPr id="11" name="TextBox 10"/>
          <p:cNvSpPr txBox="1"/>
          <p:nvPr/>
        </p:nvSpPr>
        <p:spPr>
          <a:xfrm>
            <a:off x="3447973" y="2697480"/>
            <a:ext cx="2487853" cy="2926080"/>
          </a:xfrm>
          <a:prstGeom prst="rect">
            <a:avLst/>
          </a:prstGeom>
          <a:noFill/>
        </p:spPr>
        <p:txBody>
          <a:bodyPr wrap="square" anchor="t" lIns="18288" rIns="18288" tIns="18288" bIns="18288">
            <a:spAutoFit/>
          </a:bodyPr>
          <a:lstStyle/>
          <a:p>
            <a:pPr algn="l"/>
            <a:r>
              <a:rPr sz="1300" b="0">
                <a:solidFill>
                  <a:srgbClr val="1A1A1A"/>
                </a:solidFill>
                <a:latin typeface="Arial"/>
              </a:rPr>
              <a:t>12 data checks: overall BLOCK. Traffic split does NOT match the design (p &lt; 0.001).</a:t>
            </a:r>
          </a:p>
        </p:txBody>
      </p:sp>
      <p:sp>
        <p:nvSpPr>
          <p:cNvPr id="12" name="Chevron 11"/>
          <p:cNvSpPr/>
          <p:nvPr/>
        </p:nvSpPr>
        <p:spPr>
          <a:xfrm>
            <a:off x="6118706" y="1737360"/>
            <a:ext cx="2762173" cy="731520"/>
          </a:xfrm>
          <a:prstGeom prst="chevron">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500" b="1">
                <a:solidFill>
                  <a:srgbClr val="FFFFFF"/>
                </a:solidFill>
                <a:latin typeface="Arial"/>
              </a:rPr>
              <a:t>3. Analysis</a:t>
            </a:r>
          </a:p>
        </p:txBody>
      </p:sp>
      <p:sp>
        <p:nvSpPr>
          <p:cNvPr id="13" name="TextBox 12"/>
          <p:cNvSpPr txBox="1"/>
          <p:nvPr/>
        </p:nvSpPr>
        <p:spPr>
          <a:xfrm>
            <a:off x="6255866" y="2697480"/>
            <a:ext cx="2487853" cy="2926080"/>
          </a:xfrm>
          <a:prstGeom prst="rect">
            <a:avLst/>
          </a:prstGeom>
          <a:noFill/>
        </p:spPr>
        <p:txBody>
          <a:bodyPr wrap="square" anchor="t" lIns="18288" rIns="18288" tIns="18288" bIns="18288">
            <a:spAutoFit/>
          </a:bodyPr>
          <a:lstStyle/>
          <a:p>
            <a:pPr algn="l"/>
            <a:r>
              <a:rPr sz="1300" b="0">
                <a:solidFill>
                  <a:srgbClr val="1A1A1A"/>
                </a:solidFill>
                <a:latin typeface="Arial"/>
              </a:rPr>
              <a:t>No effect estimated.</a:t>
            </a:r>
          </a:p>
        </p:txBody>
      </p:sp>
      <p:sp>
        <p:nvSpPr>
          <p:cNvPr id="14" name="Chevron 13"/>
          <p:cNvSpPr/>
          <p:nvPr/>
        </p:nvSpPr>
        <p:spPr>
          <a:xfrm>
            <a:off x="8926599" y="1737360"/>
            <a:ext cx="2762173" cy="731520"/>
          </a:xfrm>
          <a:prstGeom prst="chevron">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500" b="1">
                <a:solidFill>
                  <a:srgbClr val="FFFFFF"/>
                </a:solidFill>
                <a:latin typeface="Arial"/>
              </a:rPr>
              <a:t>4. Review</a:t>
            </a:r>
          </a:p>
        </p:txBody>
      </p:sp>
      <p:sp>
        <p:nvSpPr>
          <p:cNvPr id="15" name="TextBox 14"/>
          <p:cNvSpPr txBox="1"/>
          <p:nvPr/>
        </p:nvSpPr>
        <p:spPr>
          <a:xfrm>
            <a:off x="9063759" y="2697480"/>
            <a:ext cx="2487853" cy="2926080"/>
          </a:xfrm>
          <a:prstGeom prst="rect">
            <a:avLst/>
          </a:prstGeom>
          <a:noFill/>
        </p:spPr>
        <p:txBody>
          <a:bodyPr wrap="square" anchor="t" lIns="18288" rIns="18288" tIns="18288" bIns="18288">
            <a:spAutoFit/>
          </a:bodyPr>
          <a:lstStyle/>
          <a:p>
            <a:pPr algn="l"/>
            <a:r>
              <a:rPr sz="1300" b="0">
                <a:solidFill>
                  <a:srgbClr val="1A1A1A"/>
                </a:solidFill>
                <a:latin typeface="Arial"/>
              </a:rPr>
              <a:t>Independent reviewer re-checked the numbers from the raw data: 1 round, passed.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1">
                <a:solidFill>
                  <a:srgbClr val="2251FF"/>
                </a:solidFill>
                <a:latin typeface="Arial"/>
              </a:rPr>
              <a:t>3  FINDINGS      </a:t>
            </a:r>
            <a:r>
              <a:rPr sz="900" b="0">
                <a:solidFill>
                  <a:srgbClr val="8C8C8C"/>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Treatment is missing 7.1% of its expected users: results cannot be trusted until this is fixed</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chi-square goodness-of-fit vs intended 50/50</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6</a:t>
            </a:r>
          </a:p>
        </p:txBody>
      </p:sp>
      <p:pic>
        <p:nvPicPr>
          <p:cNvPr id="8" name="Picture 7" descr="srm_bar.png"/>
          <p:cNvPicPr>
            <a:picLocks noChangeAspect="1"/>
          </p:cNvPicPr>
          <p:nvPr/>
        </p:nvPicPr>
        <p:blipFill>
          <a:blip r:embed="rId3"/>
          <a:srcRect t="16900"/>
          <a:stretch>
            <a:fillRect/>
          </a:stretch>
        </p:blipFill>
        <p:spPr>
          <a:xfrm>
            <a:off x="502920" y="1463040"/>
            <a:ext cx="7589520" cy="3547626"/>
          </a:xfrm>
          <a:prstGeom prst="rect">
            <a:avLst/>
          </a:prstGeom>
        </p:spPr>
      </p:pic>
      <p:sp>
        <p:nvSpPr>
          <p:cNvPr id="9" name="TextBox 8"/>
          <p:cNvSpPr txBox="1"/>
          <p:nvPr/>
        </p:nvSpPr>
        <p:spPr>
          <a:xfrm>
            <a:off x="8412480" y="1508760"/>
            <a:ext cx="3276295" cy="274320"/>
          </a:xfrm>
          <a:prstGeom prst="rect">
            <a:avLst/>
          </a:prstGeom>
          <a:noFill/>
        </p:spPr>
        <p:txBody>
          <a:bodyPr wrap="square" anchor="t" lIns="18288" rIns="18288" tIns="18288" bIns="18288">
            <a:spAutoFit/>
          </a:bodyPr>
          <a:lstStyle/>
          <a:p>
            <a:pPr algn="l"/>
            <a:r>
              <a:rPr sz="1100" b="1">
                <a:solidFill>
                  <a:srgbClr val="0B2545"/>
                </a:solidFill>
                <a:latin typeface="Arial"/>
              </a:rPr>
              <a:t>KEY TAKEAWAYS</a:t>
            </a:r>
          </a:p>
        </p:txBody>
      </p:sp>
      <p:sp>
        <p:nvSpPr>
          <p:cNvPr id="10" name="TextBox 9"/>
          <p:cNvSpPr txBox="1"/>
          <p:nvPr/>
        </p:nvSpPr>
        <p:spPr>
          <a:xfrm>
            <a:off x="8412480" y="1920240"/>
            <a:ext cx="3276295" cy="4114800"/>
          </a:xfrm>
          <a:prstGeom prst="rect">
            <a:avLst/>
          </a:prstGeom>
          <a:noFill/>
        </p:spPr>
        <p:txBody>
          <a:bodyPr wrap="square" lIns="18288" rIns="18288">
            <a:spAutoFit/>
          </a:bodyPr>
          <a:lstStyle/>
          <a:p>
            <a:pPr>
              <a:spcAft>
                <a:spcPts val="1000"/>
              </a:spcAft>
            </a:pPr>
            <a:r>
              <a:rPr sz="1400" b="1">
                <a:solidFill>
                  <a:srgbClr val="2251FF"/>
                </a:solidFill>
                <a:latin typeface="Arial"/>
              </a:rPr>
              <a:t>1.  </a:t>
            </a:r>
            <a:r>
              <a:rPr sz="1400">
                <a:solidFill>
                  <a:srgbClr val="1A1A1A"/>
                </a:solidFill>
                <a:latin typeface="Arial"/>
              </a:rPr>
              <a:t>Treatment share 46.4% vs 50.0% intended</a:t>
            </a:r>
          </a:p>
          <a:p>
            <a:pPr>
              <a:spcAft>
                <a:spcPts val="1000"/>
              </a:spcAft>
            </a:pPr>
            <a:r>
              <a:rPr sz="1400" b="1">
                <a:solidFill>
                  <a:srgbClr val="2251FF"/>
                </a:solidFill>
                <a:latin typeface="Arial"/>
              </a:rPr>
              <a:t>2.  </a:t>
            </a:r>
            <a:r>
              <a:rPr sz="1400">
                <a:solidFill>
                  <a:srgbClr val="1A1A1A"/>
                </a:solidFill>
                <a:latin typeface="Arial"/>
              </a:rPr>
              <a:t>Chi-square p &lt; 0.001 (threshold 0.001)</a:t>
            </a:r>
          </a:p>
          <a:p>
            <a:pPr>
              <a:spcAft>
                <a:spcPts val="1000"/>
              </a:spcAft>
            </a:pPr>
            <a:r>
              <a:rPr sz="1400" b="1">
                <a:solidFill>
                  <a:srgbClr val="2251FF"/>
                </a:solidFill>
                <a:latin typeface="Arial"/>
              </a:rPr>
              <a:t>3.  </a:t>
            </a:r>
            <a:r>
              <a:rPr sz="1400">
                <a:solidFill>
                  <a:srgbClr val="1A1A1A"/>
                </a:solidFill>
                <a:latin typeface="Arial"/>
              </a:rPr>
              <a:t>Effect estimates are withheld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1">
                <a:solidFill>
                  <a:srgbClr val="2251FF"/>
                </a:solidFill>
                <a:latin typeface="Arial"/>
              </a:rPr>
              <a:t>3  FINDINGS      </a:t>
            </a:r>
            <a:r>
              <a:rPr sz="900" b="0">
                <a:solidFill>
                  <a:srgbClr val="8C8C8C"/>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The loss is on Android: treatment has 37.4% of Android users; iOS and Web are balanced</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chi-square goodness-of-fit vs intended 50/50</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7</a:t>
            </a:r>
          </a:p>
        </p:txBody>
      </p:sp>
      <p:pic>
        <p:nvPicPr>
          <p:cNvPr id="8" name="Picture 7" descr="srm_bar_android.png"/>
          <p:cNvPicPr>
            <a:picLocks noChangeAspect="1"/>
          </p:cNvPicPr>
          <p:nvPr/>
        </p:nvPicPr>
        <p:blipFill>
          <a:blip r:embed="rId3"/>
          <a:srcRect t="11100"/>
          <a:stretch>
            <a:fillRect/>
          </a:stretch>
        </p:blipFill>
        <p:spPr>
          <a:xfrm>
            <a:off x="502920" y="1463040"/>
            <a:ext cx="7589520" cy="3795234"/>
          </a:xfrm>
          <a:prstGeom prst="rect">
            <a:avLst/>
          </a:prstGeom>
        </p:spPr>
      </p:pic>
      <p:sp>
        <p:nvSpPr>
          <p:cNvPr id="9" name="TextBox 8"/>
          <p:cNvSpPr txBox="1"/>
          <p:nvPr/>
        </p:nvSpPr>
        <p:spPr>
          <a:xfrm>
            <a:off x="8412480" y="1508760"/>
            <a:ext cx="3276295" cy="274320"/>
          </a:xfrm>
          <a:prstGeom prst="rect">
            <a:avLst/>
          </a:prstGeom>
          <a:noFill/>
        </p:spPr>
        <p:txBody>
          <a:bodyPr wrap="square" anchor="t" lIns="18288" rIns="18288" tIns="18288" bIns="18288">
            <a:spAutoFit/>
          </a:bodyPr>
          <a:lstStyle/>
          <a:p>
            <a:pPr algn="l"/>
            <a:r>
              <a:rPr sz="1100" b="1">
                <a:solidFill>
                  <a:srgbClr val="0B2545"/>
                </a:solidFill>
                <a:latin typeface="Arial"/>
              </a:rPr>
              <a:t>KEY TAKEAWAYS</a:t>
            </a:r>
          </a:p>
        </p:txBody>
      </p:sp>
      <p:sp>
        <p:nvSpPr>
          <p:cNvPr id="10" name="TextBox 9"/>
          <p:cNvSpPr txBox="1"/>
          <p:nvPr/>
        </p:nvSpPr>
        <p:spPr>
          <a:xfrm>
            <a:off x="8412480" y="1920240"/>
            <a:ext cx="3276295" cy="4114800"/>
          </a:xfrm>
          <a:prstGeom prst="rect">
            <a:avLst/>
          </a:prstGeom>
          <a:noFill/>
        </p:spPr>
        <p:txBody>
          <a:bodyPr wrap="square" lIns="18288" rIns="18288">
            <a:spAutoFit/>
          </a:bodyPr>
          <a:lstStyle/>
          <a:p>
            <a:pPr>
              <a:spcAft>
                <a:spcPts val="1000"/>
              </a:spcAft>
            </a:pPr>
            <a:r>
              <a:rPr sz="1400" b="1">
                <a:solidFill>
                  <a:srgbClr val="2251FF"/>
                </a:solidFill>
                <a:latin typeface="Arial"/>
              </a:rPr>
              <a:t>1.  </a:t>
            </a:r>
            <a:r>
              <a:rPr sz="1400" b="1">
                <a:solidFill>
                  <a:srgbClr val="1A1A1A"/>
                </a:solidFill>
                <a:latin typeface="Arial"/>
              </a:rPr>
              <a:t>Android: </a:t>
            </a:r>
            <a:r>
              <a:rPr sz="1400">
                <a:solidFill>
                  <a:srgbClr val="1A1A1A"/>
                </a:solidFill>
                <a:latin typeface="Arial"/>
              </a:rPr>
              <a:t>p &lt; 0.001</a:t>
            </a:r>
          </a:p>
          <a:p>
            <a:pPr>
              <a:spcAft>
                <a:spcPts val="1000"/>
              </a:spcAft>
            </a:pPr>
            <a:r>
              <a:rPr sz="1400" b="1">
                <a:solidFill>
                  <a:srgbClr val="2251FF"/>
                </a:solidFill>
                <a:latin typeface="Arial"/>
              </a:rPr>
              <a:t>2.  </a:t>
            </a:r>
            <a:r>
              <a:rPr sz="1400" b="1">
                <a:solidFill>
                  <a:srgbClr val="1A1A1A"/>
                </a:solidFill>
                <a:latin typeface="Arial"/>
              </a:rPr>
              <a:t>iOS + Web: </a:t>
            </a:r>
            <a:r>
              <a:rPr sz="1400">
                <a:solidFill>
                  <a:srgbClr val="1A1A1A"/>
                </a:solidFill>
                <a:latin typeface="Arial"/>
              </a:rPr>
              <a:t>p = 0.323</a:t>
            </a:r>
          </a:p>
          <a:p>
            <a:pPr>
              <a:spcAft>
                <a:spcPts val="1000"/>
              </a:spcAft>
            </a:pPr>
            <a:r>
              <a:rPr sz="1400" b="1">
                <a:solidFill>
                  <a:srgbClr val="2251FF"/>
                </a:solidFill>
                <a:latin typeface="Arial"/>
              </a:rPr>
              <a:t>3.  </a:t>
            </a:r>
            <a:r>
              <a:rPr sz="1400">
                <a:solidFill>
                  <a:srgbClr val="1A1A1A"/>
                </a:solidFill>
                <a:latin typeface="Arial"/>
              </a:rPr>
              <a:t>About 3,085 Android treatment users missing since 5 Sep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1">
                <a:solidFill>
                  <a:srgbClr val="2251FF"/>
                </a:solidFill>
                <a:latin typeface="Arial"/>
              </a:rPr>
              <a:t>3  FINDINGS      </a:t>
            </a:r>
            <a:r>
              <a:rPr sz="900" b="0">
                <a:solidFill>
                  <a:srgbClr val="8C8C8C"/>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Data validation: overall verdict BLOCK</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8</a:t>
            </a:r>
          </a:p>
        </p:txBody>
      </p:sp>
      <p:graphicFrame>
        <p:nvGraphicFramePr>
          <p:cNvPr id="8" name="Table 7"/>
          <p:cNvGraphicFramePr>
            <a:graphicFrameLocks noGrp="1"/>
          </p:cNvGraphicFramePr>
          <p:nvPr/>
        </p:nvGraphicFramePr>
        <p:xfrm>
          <a:off x="502920" y="1508760"/>
          <a:ext cx="11185854" cy="3803904"/>
        </p:xfrm>
        <a:graphic>
          <a:graphicData uri="http://schemas.openxmlformats.org/drawingml/2006/table">
            <a:tbl>
              <a:tblPr firstRow="1" bandRow="1">
                <a:tableStyleId>{5C22544A-7EE6-4342-B048-85BDC9FD1C3A}</a:tableStyleId>
              </a:tblPr>
              <a:tblGrid>
                <a:gridCol w="1917575"/>
                <a:gridCol w="1278383"/>
                <a:gridCol w="7989896"/>
              </a:tblGrid>
              <a:tr h="292608">
                <a:tc>
                  <a:txBody>
                    <a:bodyPr/>
                    <a:lstStyle/>
                    <a:p>
                      <a:r>
                        <a:rPr sz="900" b="1">
                          <a:solidFill>
                            <a:srgbClr val="FFFFFF"/>
                          </a:solidFill>
                          <a:latin typeface="Arial"/>
                        </a:rPr>
                        <a:t>Check</a:t>
                      </a:r>
                    </a:p>
                  </a:txBody>
                  <a:tcPr marL="73152" marR="73152" anchor="ctr">
                    <a:solidFill>
                      <a:srgbClr val="0B2545"/>
                    </a:solidFill>
                  </a:tcPr>
                </a:tc>
                <a:tc>
                  <a:txBody>
                    <a:bodyPr/>
                    <a:lstStyle/>
                    <a:p>
                      <a:r>
                        <a:rPr sz="900" b="1">
                          <a:solidFill>
                            <a:srgbClr val="FFFFFF"/>
                          </a:solidFill>
                          <a:latin typeface="Arial"/>
                        </a:rPr>
                        <a:t>Verdict</a:t>
                      </a:r>
                    </a:p>
                  </a:txBody>
                  <a:tcPr marL="73152" marR="73152" anchor="ctr">
                    <a:solidFill>
                      <a:srgbClr val="0B2545"/>
                    </a:solidFill>
                  </a:tcPr>
                </a:tc>
                <a:tc>
                  <a:txBody>
                    <a:bodyPr/>
                    <a:lstStyle/>
                    <a:p>
                      <a:r>
                        <a:rPr sz="900" b="1">
                          <a:solidFill>
                            <a:srgbClr val="FFFFFF"/>
                          </a:solidFill>
                          <a:latin typeface="Arial"/>
                        </a:rPr>
                        <a:t>Detail</a:t>
                      </a:r>
                    </a:p>
                  </a:txBody>
                  <a:tcPr marL="73152" marR="73152" anchor="ctr">
                    <a:solidFill>
                      <a:srgbClr val="0B2545"/>
                    </a:solidFill>
                  </a:tcPr>
                </a:tc>
              </a:tr>
              <a:tr h="292608">
                <a:tc>
                  <a:txBody>
                    <a:bodyPr/>
                    <a:lstStyle/>
                    <a:p>
                      <a:r>
                        <a:rPr sz="1000" b="0">
                          <a:solidFill>
                            <a:srgbClr val="1A1A1A"/>
                          </a:solidFill>
                          <a:latin typeface="Arial"/>
                        </a:rPr>
                        <a:t>schema</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5 columns, 38,911 rows</a:t>
                      </a:r>
                    </a:p>
                  </a:txBody>
                  <a:tcPr marL="73152" marR="73152" anchor="ctr">
                    <a:solidFill>
                      <a:srgbClr val="FFFFFF"/>
                    </a:solidFill>
                  </a:tcPr>
                </a:tc>
              </a:tr>
              <a:tr h="292608">
                <a:tc>
                  <a:txBody>
                    <a:bodyPr/>
                    <a:lstStyle/>
                    <a:p>
                      <a:r>
                        <a:rPr sz="1000" b="0">
                          <a:solidFill>
                            <a:srgbClr val="1A1A1A"/>
                          </a:solidFill>
                          <a:latin typeface="Arial"/>
                        </a:rPr>
                        <a:t>dtypes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All metric columns numeric</a:t>
                      </a:r>
                    </a:p>
                  </a:txBody>
                  <a:tcPr marL="73152" marR="73152" anchor="ctr">
                    <a:solidFill>
                      <a:srgbClr val="FFFFFF"/>
                    </a:solidFill>
                  </a:tcPr>
                </a:tc>
              </a:tr>
              <a:tr h="292608">
                <a:tc>
                  <a:txBody>
                    <a:bodyPr/>
                    <a:lstStyle/>
                    <a:p>
                      <a:r>
                        <a:rPr sz="1000" b="0">
                          <a:solidFill>
                            <a:srgbClr val="1A1A1A"/>
                          </a:solidFill>
                          <a:latin typeface="Arial"/>
                        </a:rPr>
                        <a:t>missing values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No missing values</a:t>
                      </a:r>
                    </a:p>
                  </a:txBody>
                  <a:tcPr marL="73152" marR="73152" anchor="ctr">
                    <a:solidFill>
                      <a:srgbClr val="FFFFFF"/>
                    </a:solidFill>
                  </a:tcPr>
                </a:tc>
              </a:tr>
              <a:tr h="292608">
                <a:tc>
                  <a:txBody>
                    <a:bodyPr/>
                    <a:lstStyle/>
                    <a:p>
                      <a:r>
                        <a:rPr sz="1000" b="0">
                          <a:solidFill>
                            <a:srgbClr val="1A1A1A"/>
                          </a:solidFill>
                          <a:latin typeface="Arial"/>
                        </a:rPr>
                        <a:t>duplicates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38,911 units, one row each</a:t>
                      </a:r>
                    </a:p>
                  </a:txBody>
                  <a:tcPr marL="73152" marR="73152" anchor="ctr">
                    <a:solidFill>
                      <a:srgbClr val="FFFFFF"/>
                    </a:solidFill>
                  </a:tcPr>
                </a:tc>
              </a:tr>
              <a:tr h="292608">
                <a:tc>
                  <a:txBody>
                    <a:bodyPr/>
                    <a:lstStyle/>
                    <a:p>
                      <a:r>
                        <a:rPr sz="1000" b="0">
                          <a:solidFill>
                            <a:srgbClr val="1A1A1A"/>
                          </a:solidFill>
                          <a:latin typeface="Arial"/>
                        </a:rPr>
                        <a:t>contamination</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No unit appears in more than one variant</a:t>
                      </a:r>
                    </a:p>
                  </a:txBody>
                  <a:tcPr marL="73152" marR="73152" anchor="ctr">
                    <a:solidFill>
                      <a:srgbClr val="FFFFFF"/>
                    </a:solidFill>
                  </a:tcPr>
                </a:tc>
              </a:tr>
              <a:tr h="292608">
                <a:tc>
                  <a:txBody>
                    <a:bodyPr/>
                    <a:lstStyle/>
                    <a:p>
                      <a:r>
                        <a:rPr sz="1000" b="0">
                          <a:solidFill>
                            <a:srgbClr val="1A1A1A"/>
                          </a:solidFill>
                          <a:latin typeface="Arial"/>
                        </a:rPr>
                        <a:t>variants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Counts {'control': 20838, 'treatment': 18073}</a:t>
                      </a:r>
                    </a:p>
                  </a:txBody>
                  <a:tcPr marL="73152" marR="73152" anchor="ctr">
                    <a:solidFill>
                      <a:srgbClr val="FFFFFF"/>
                    </a:solidFill>
                  </a:tcPr>
                </a:tc>
              </a:tr>
              <a:tr h="292608">
                <a:tc>
                  <a:txBody>
                    <a:bodyPr/>
                    <a:lstStyle/>
                    <a:p>
                      <a:r>
                        <a:rPr sz="1000" b="0">
                          <a:solidFill>
                            <a:srgbClr val="1A1A1A"/>
                          </a:solidFill>
                          <a:latin typeface="Arial"/>
                        </a:rPr>
                        <a:t>SRM</a:t>
                      </a:r>
                    </a:p>
                  </a:txBody>
                  <a:tcPr marL="73152" marR="73152" anchor="ctr">
                    <a:solidFill>
                      <a:srgbClr val="FFFFFF"/>
                    </a:solidFill>
                  </a:tcPr>
                </a:tc>
                <a:tc>
                  <a:txBody>
                    <a:bodyPr/>
                    <a:lstStyle/>
                    <a:p>
                      <a:r>
                        <a:rPr sz="1000" b="1">
                          <a:solidFill>
                            <a:srgbClr val="C0392B"/>
                          </a:solidFill>
                          <a:latin typeface="Arial"/>
                        </a:rPr>
                        <a:t>BLOCK</a:t>
                      </a:r>
                    </a:p>
                  </a:txBody>
                  <a:tcPr marL="73152" marR="73152" anchor="ctr">
                    <a:solidFill>
                      <a:srgbClr val="FFFFFF"/>
                    </a:solidFill>
                  </a:tcPr>
                </a:tc>
                <a:tc>
                  <a:txBody>
                    <a:bodyPr/>
                    <a:lstStyle/>
                    <a:p>
                      <a:r>
                        <a:rPr sz="1000" b="0">
                          <a:solidFill>
                            <a:srgbClr val="1A1A1A"/>
                          </a:solidFill>
                          <a:latin typeface="Arial"/>
                        </a:rPr>
                        <a:t>Sample ratio mismatch: p = 1.22e-44 &lt; 0.001; observed shares {'control': 0.5355, 'treatment': 0.4645}. Concent</a:t>
                      </a:r>
                    </a:p>
                  </a:txBody>
                  <a:tcPr marL="73152" marR="73152" anchor="ctr">
                    <a:solidFill>
                      <a:srgbClr val="FFFFFF"/>
                    </a:solidFill>
                  </a:tcPr>
                </a:tc>
              </a:tr>
              <a:tr h="292608">
                <a:tc>
                  <a:txBody>
                    <a:bodyPr/>
                    <a:lstStyle/>
                    <a:p>
                      <a:r>
                        <a:rPr sz="1000" b="0">
                          <a:solidFill>
                            <a:srgbClr val="1A1A1A"/>
                          </a:solidFill>
                          <a:latin typeface="Arial"/>
                        </a:rPr>
                        <a:t>dates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2026-09-01 to 2026-09-14 (14 days)</a:t>
                      </a:r>
                    </a:p>
                  </a:txBody>
                  <a:tcPr marL="73152" marR="73152" anchor="ctr">
                    <a:solidFill>
                      <a:srgbClr val="FFFFFF"/>
                    </a:solidFill>
                  </a:tcPr>
                </a:tc>
              </a:tr>
              <a:tr h="292608">
                <a:tc>
                  <a:txBody>
                    <a:bodyPr/>
                    <a:lstStyle/>
                    <a:p>
                      <a:r>
                        <a:rPr sz="1000" b="0">
                          <a:solidFill>
                            <a:srgbClr val="1A1A1A"/>
                          </a:solidFill>
                          <a:latin typeface="Arial"/>
                        </a:rPr>
                        <a:t>outliers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No continuous metrics</a:t>
                      </a:r>
                    </a:p>
                  </a:txBody>
                  <a:tcPr marL="73152" marR="73152" anchor="ctr">
                    <a:solidFill>
                      <a:srgbClr val="FFFFFF"/>
                    </a:solidFill>
                  </a:tcPr>
                </a:tc>
              </a:tr>
              <a:tr h="292608">
                <a:tc>
                  <a:txBody>
                    <a:bodyPr/>
                    <a:lstStyle/>
                    <a:p>
                      <a:r>
                        <a:rPr sz="1000" b="0">
                          <a:solidFill>
                            <a:srgbClr val="1A1A1A"/>
                          </a:solidFill>
                          <a:latin typeface="Arial"/>
                        </a:rPr>
                        <a:t>impossible values</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Metric values within valid ranges</a:t>
                      </a:r>
                    </a:p>
                  </a:txBody>
                  <a:tcPr marL="73152" marR="73152" anchor="ctr">
                    <a:solidFill>
                      <a:srgbClr val="FFFFFF"/>
                    </a:solidFill>
                  </a:tcPr>
                </a:tc>
              </a:tr>
              <a:tr h="292608">
                <a:tc>
                  <a:txBody>
                    <a:bodyPr/>
                    <a:lstStyle/>
                    <a:p>
                      <a:r>
                        <a:rPr sz="1000" b="0">
                          <a:solidFill>
                            <a:srgbClr val="1A1A1A"/>
                          </a:solidFill>
                          <a:latin typeface="Arial"/>
                        </a:rPr>
                        <a:t>pre-period data</a:t>
                      </a:r>
                    </a:p>
                  </a:txBody>
                  <a:tcPr marL="73152" marR="73152" anchor="ctr">
                    <a:solidFill>
                      <a:srgbClr val="FFFFFF"/>
                    </a:solidFill>
                  </a:tcPr>
                </a:tc>
                <a:tc>
                  <a:txBody>
                    <a:bodyPr/>
                    <a:lstStyle/>
                    <a:p>
                      <a:r>
                        <a:rPr sz="1000" b="1">
                          <a:solidFill>
                            <a:srgbClr val="1B7F5A"/>
                          </a:solidFill>
                          <a:latin typeface="Arial"/>
                        </a:rPr>
                        <a:t>PASS</a:t>
                      </a:r>
                    </a:p>
                  </a:txBody>
                  <a:tcPr marL="73152" marR="73152" anchor="ctr">
                    <a:solidFill>
                      <a:srgbClr val="FFFFFF"/>
                    </a:solidFill>
                  </a:tcPr>
                </a:tc>
                <a:tc>
                  <a:txBody>
                    <a:bodyPr/>
                    <a:lstStyle/>
                    <a:p>
                      <a:r>
                        <a:rPr sz="1000" b="0">
                          <a:solidFill>
                            <a:srgbClr val="1A1A1A"/>
                          </a:solidFill>
                          <a:latin typeface="Arial"/>
                        </a:rPr>
                        <a:t>None described (CUPED not possible)</a:t>
                      </a:r>
                    </a:p>
                  </a:txBody>
                  <a:tcPr marL="73152" marR="73152" anchor="ctr">
                    <a:solidFill>
                      <a:srgbClr val="FFFFFF"/>
                    </a:solidFill>
                  </a:tcPr>
                </a:tc>
              </a:tr>
              <a:tr h="292608">
                <a:tc>
                  <a:txBody>
                    <a:bodyPr/>
                    <a:lstStyle/>
                    <a:p>
                      <a:r>
                        <a:rPr sz="1000" b="0">
                          <a:solidFill>
                            <a:srgbClr val="1A1A1A"/>
                          </a:solidFill>
                          <a:latin typeface="Arial"/>
                        </a:rPr>
                        <a:t>covariate balance</a:t>
                      </a:r>
                    </a:p>
                  </a:txBody>
                  <a:tcPr marL="73152" marR="73152" anchor="ctr">
                    <a:solidFill>
                      <a:srgbClr val="FFFFFF"/>
                    </a:solidFill>
                  </a:tcPr>
                </a:tc>
                <a:tc>
                  <a:txBody>
                    <a:bodyPr/>
                    <a:lstStyle/>
                    <a:p>
                      <a:r>
                        <a:rPr sz="1000" b="1">
                          <a:solidFill>
                            <a:srgbClr val="B08900"/>
                          </a:solidFill>
                          <a:latin typeface="Arial"/>
                        </a:rPr>
                        <a:t>WARN</a:t>
                      </a:r>
                    </a:p>
                  </a:txBody>
                  <a:tcPr marL="73152" marR="73152" anchor="ctr">
                    <a:solidFill>
                      <a:srgbClr val="FFFFFF"/>
                    </a:solidFill>
                  </a:tcPr>
                </a:tc>
                <a:tc>
                  <a:txBody>
                    <a:bodyPr/>
                    <a:lstStyle/>
                    <a:p>
                      <a:r>
                        <a:rPr sz="1000" b="0">
                          <a:solidFill>
                            <a:srgbClr val="1A1A1A"/>
                          </a:solidFill>
                          <a:latin typeface="Arial"/>
                        </a:rPr>
                        <a:t>Segment mix differs between variants: platform (p = 5.6e-119) (can indicate an assignment or logging problem, </a:t>
                      </a:r>
                    </a:p>
                  </a:txBody>
                  <a:tcPr marL="73152" marR="7315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0">
                <a:solidFill>
                  <a:srgbClr val="8C8C8C"/>
                </a:solidFill>
                <a:latin typeface="Arial"/>
              </a:rPr>
              <a:t>3  FINDINGS      </a:t>
            </a:r>
            <a:r>
              <a:rPr sz="900" b="1">
                <a:solidFill>
                  <a:srgbClr val="2251FF"/>
                </a:solidFill>
                <a:latin typeface="Arial"/>
              </a:rPr>
              <a:t>4  IMPACT      </a:t>
            </a:r>
            <a:r>
              <a:rPr sz="900" b="0">
                <a:solidFill>
                  <a:srgbClr val="8C8C8C"/>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What we can and cannot conclude from this data</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9</a:t>
            </a:r>
          </a:p>
        </p:txBody>
      </p:sp>
      <p:sp>
        <p:nvSpPr>
          <p:cNvPr id="8" name="Rectangle 7"/>
          <p:cNvSpPr/>
          <p:nvPr/>
        </p:nvSpPr>
        <p:spPr>
          <a:xfrm>
            <a:off x="502920" y="1691640"/>
            <a:ext cx="3545738" cy="508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74520"/>
            <a:ext cx="3545738" cy="822960"/>
          </a:xfrm>
          <a:prstGeom prst="rect">
            <a:avLst/>
          </a:prstGeom>
          <a:noFill/>
        </p:spPr>
        <p:txBody>
          <a:bodyPr wrap="square" anchor="t" lIns="18288" rIns="18288" tIns="18288" bIns="18288">
            <a:spAutoFit/>
          </a:bodyPr>
          <a:lstStyle/>
          <a:p>
            <a:pPr algn="l"/>
            <a:r>
              <a:rPr sz="2400" b="1">
                <a:solidFill>
                  <a:srgbClr val="2251FF"/>
                </a:solidFill>
                <a:latin typeface="Arial"/>
              </a:rPr>
              <a:t>53.6% (expected 50.0%)</a:t>
            </a:r>
          </a:p>
        </p:txBody>
      </p:sp>
      <p:sp>
        <p:nvSpPr>
          <p:cNvPr id="10" name="TextBox 9"/>
          <p:cNvSpPr txBox="1"/>
          <p:nvPr/>
        </p:nvSpPr>
        <p:spPr>
          <a:xfrm>
            <a:off x="502920" y="2743200"/>
            <a:ext cx="3545738" cy="640080"/>
          </a:xfrm>
          <a:prstGeom prst="rect">
            <a:avLst/>
          </a:prstGeom>
          <a:noFill/>
        </p:spPr>
        <p:txBody>
          <a:bodyPr wrap="square" anchor="t" lIns="18288" rIns="18288" tIns="18288" bIns="18288">
            <a:spAutoFit/>
          </a:bodyPr>
          <a:lstStyle/>
          <a:p>
            <a:pPr algn="l"/>
            <a:r>
              <a:rPr sz="1400" b="1">
                <a:solidFill>
                  <a:srgbClr val="1A1A1A"/>
                </a:solidFill>
                <a:latin typeface="Arial"/>
              </a:rPr>
              <a:t>Observed share control</a:t>
            </a:r>
          </a:p>
        </p:txBody>
      </p:sp>
      <p:sp>
        <p:nvSpPr>
          <p:cNvPr id="11" name="TextBox 10"/>
          <p:cNvSpPr txBox="1"/>
          <p:nvPr/>
        </p:nvSpPr>
        <p:spPr>
          <a:xfrm>
            <a:off x="502920" y="3383280"/>
            <a:ext cx="3545738" cy="731520"/>
          </a:xfrm>
          <a:prstGeom prst="rect">
            <a:avLst/>
          </a:prstGeom>
          <a:noFill/>
        </p:spPr>
        <p:txBody>
          <a:bodyPr wrap="square" anchor="t" lIns="18288" rIns="18288" tIns="18288" bIns="18288">
            <a:spAutoFit/>
          </a:bodyPr>
          <a:lstStyle/>
          <a:p>
            <a:pPr algn="l"/>
            <a:r>
              <a:rPr sz="1200" b="0">
                <a:solidFill>
                  <a:srgbClr val="8C8C8C"/>
                </a:solidFill>
                <a:latin typeface="Arial"/>
              </a:rPr>
              <a:t/>
            </a:r>
          </a:p>
        </p:txBody>
      </p:sp>
      <p:sp>
        <p:nvSpPr>
          <p:cNvPr id="12" name="Rectangle 11"/>
          <p:cNvSpPr/>
          <p:nvPr/>
        </p:nvSpPr>
        <p:spPr>
          <a:xfrm>
            <a:off x="4322978" y="1691640"/>
            <a:ext cx="3545738" cy="508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22978" y="1874520"/>
            <a:ext cx="3545738" cy="822960"/>
          </a:xfrm>
          <a:prstGeom prst="rect">
            <a:avLst/>
          </a:prstGeom>
          <a:noFill/>
        </p:spPr>
        <p:txBody>
          <a:bodyPr wrap="square" anchor="t" lIns="18288" rIns="18288" tIns="18288" bIns="18288">
            <a:spAutoFit/>
          </a:bodyPr>
          <a:lstStyle/>
          <a:p>
            <a:pPr algn="l"/>
            <a:r>
              <a:rPr sz="2400" b="1">
                <a:solidFill>
                  <a:srgbClr val="0B2545"/>
                </a:solidFill>
                <a:latin typeface="Arial"/>
              </a:rPr>
              <a:t>46.4% (expected 50.0%)</a:t>
            </a:r>
          </a:p>
        </p:txBody>
      </p:sp>
      <p:sp>
        <p:nvSpPr>
          <p:cNvPr id="14" name="TextBox 13"/>
          <p:cNvSpPr txBox="1"/>
          <p:nvPr/>
        </p:nvSpPr>
        <p:spPr>
          <a:xfrm>
            <a:off x="4322978" y="2743200"/>
            <a:ext cx="3545738" cy="640080"/>
          </a:xfrm>
          <a:prstGeom prst="rect">
            <a:avLst/>
          </a:prstGeom>
          <a:noFill/>
        </p:spPr>
        <p:txBody>
          <a:bodyPr wrap="square" anchor="t" lIns="18288" rIns="18288" tIns="18288" bIns="18288">
            <a:spAutoFit/>
          </a:bodyPr>
          <a:lstStyle/>
          <a:p>
            <a:pPr algn="l"/>
            <a:r>
              <a:rPr sz="1400" b="1">
                <a:solidFill>
                  <a:srgbClr val="1A1A1A"/>
                </a:solidFill>
                <a:latin typeface="Arial"/>
              </a:rPr>
              <a:t>Observed share treatment</a:t>
            </a:r>
          </a:p>
        </p:txBody>
      </p:sp>
      <p:sp>
        <p:nvSpPr>
          <p:cNvPr id="15" name="TextBox 14"/>
          <p:cNvSpPr txBox="1"/>
          <p:nvPr/>
        </p:nvSpPr>
        <p:spPr>
          <a:xfrm>
            <a:off x="4322978" y="3383280"/>
            <a:ext cx="3545738" cy="731520"/>
          </a:xfrm>
          <a:prstGeom prst="rect">
            <a:avLst/>
          </a:prstGeom>
          <a:noFill/>
        </p:spPr>
        <p:txBody>
          <a:bodyPr wrap="square" anchor="t" lIns="18288" rIns="18288" tIns="18288" bIns="18288">
            <a:spAutoFit/>
          </a:bodyPr>
          <a:lstStyle/>
          <a:p>
            <a:pPr algn="l"/>
            <a:r>
              <a:rPr sz="1200" b="0">
                <a:solidFill>
                  <a:srgbClr val="8C8C8C"/>
                </a:solidFill>
                <a:latin typeface="Arial"/>
              </a:rPr>
              <a:t/>
            </a:r>
          </a:p>
        </p:txBody>
      </p:sp>
      <p:sp>
        <p:nvSpPr>
          <p:cNvPr id="16" name="Rectangle 15"/>
          <p:cNvSpPr/>
          <p:nvPr/>
        </p:nvSpPr>
        <p:spPr>
          <a:xfrm>
            <a:off x="8143036" y="1691640"/>
            <a:ext cx="3545738" cy="508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3036" y="1874520"/>
            <a:ext cx="3545738" cy="822960"/>
          </a:xfrm>
          <a:prstGeom prst="rect">
            <a:avLst/>
          </a:prstGeom>
          <a:noFill/>
        </p:spPr>
        <p:txBody>
          <a:bodyPr wrap="square" anchor="t" lIns="18288" rIns="18288" tIns="18288" bIns="18288">
            <a:spAutoFit/>
          </a:bodyPr>
          <a:lstStyle/>
          <a:p>
            <a:pPr algn="l"/>
            <a:r>
              <a:rPr sz="2400" b="1">
                <a:solidFill>
                  <a:srgbClr val="0B2545"/>
                </a:solidFill>
                <a:latin typeface="Arial"/>
              </a:rPr>
              <a:t>chi-square p &lt; 0.001 (threshold 0.001)</a:t>
            </a:r>
          </a:p>
        </p:txBody>
      </p:sp>
      <p:sp>
        <p:nvSpPr>
          <p:cNvPr id="18" name="TextBox 17"/>
          <p:cNvSpPr txBox="1"/>
          <p:nvPr/>
        </p:nvSpPr>
        <p:spPr>
          <a:xfrm>
            <a:off x="8143036" y="2743200"/>
            <a:ext cx="3545738" cy="640080"/>
          </a:xfrm>
          <a:prstGeom prst="rect">
            <a:avLst/>
          </a:prstGeom>
          <a:noFill/>
        </p:spPr>
        <p:txBody>
          <a:bodyPr wrap="square" anchor="t" lIns="18288" rIns="18288" tIns="18288" bIns="18288">
            <a:spAutoFit/>
          </a:bodyPr>
          <a:lstStyle/>
          <a:p>
            <a:pPr algn="l"/>
            <a:r>
              <a:rPr sz="1400" b="1">
                <a:solidFill>
                  <a:srgbClr val="1A1A1A"/>
                </a:solidFill>
                <a:latin typeface="Arial"/>
              </a:rPr>
              <a:t>SRM test</a:t>
            </a:r>
          </a:p>
        </p:txBody>
      </p:sp>
      <p:sp>
        <p:nvSpPr>
          <p:cNvPr id="19" name="TextBox 18"/>
          <p:cNvSpPr txBox="1"/>
          <p:nvPr/>
        </p:nvSpPr>
        <p:spPr>
          <a:xfrm>
            <a:off x="8143036" y="3383280"/>
            <a:ext cx="3545738" cy="731520"/>
          </a:xfrm>
          <a:prstGeom prst="rect">
            <a:avLst/>
          </a:prstGeom>
          <a:noFill/>
        </p:spPr>
        <p:txBody>
          <a:bodyPr wrap="square" anchor="t" lIns="18288" rIns="18288" tIns="18288" bIns="18288">
            <a:spAutoFit/>
          </a:bodyPr>
          <a:lstStyle/>
          <a:p>
            <a:pPr algn="l"/>
            <a:r>
              <a:rPr sz="1200" b="0">
                <a:solidFill>
                  <a:srgbClr val="8C8C8C"/>
                </a:solidFill>
                <a:latin typeface="Arial"/>
              </a:rPr>
              <a:t/>
            </a:r>
          </a:p>
        </p:txBody>
      </p:sp>
      <p:sp>
        <p:nvSpPr>
          <p:cNvPr id="20" name="Rectangle 19"/>
          <p:cNvSpPr/>
          <p:nvPr/>
        </p:nvSpPr>
        <p:spPr>
          <a:xfrm>
            <a:off x="502920" y="4389120"/>
            <a:ext cx="11185855" cy="91440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100" b="1">
                <a:solidFill>
                  <a:srgbClr val="1A1A1A"/>
                </a:solidFill>
                <a:latin typeface="Arial"/>
              </a:rPr>
              <a:t>SO WHAT</a:t>
            </a:r>
          </a:p>
          <a:p>
            <a:pPr algn="l"/>
            <a:r>
              <a:rPr sz="1500" b="0">
                <a:solidFill>
                  <a:srgbClr val="1A1A1A"/>
                </a:solidFill>
                <a:latin typeface="Arial"/>
              </a:rPr>
              <a:t>The data failed a blocking validation check, so treatment effects cannot be trusted.</a:t>
            </a:r>
          </a:p>
        </p:txBody>
      </p:sp>
      <p:sp>
        <p:nvSpPr>
          <p:cNvPr id="21" name="TextBox 20"/>
          <p:cNvSpPr txBox="1"/>
          <p:nvPr/>
        </p:nvSpPr>
        <p:spPr>
          <a:xfrm>
            <a:off x="502920" y="5440679"/>
            <a:ext cx="11185855" cy="365760"/>
          </a:xfrm>
          <a:prstGeom prst="rect">
            <a:avLst/>
          </a:prstGeom>
          <a:noFill/>
        </p:spPr>
        <p:txBody>
          <a:bodyPr wrap="square" anchor="t" lIns="18288" rIns="18288" tIns="18288" bIns="18288">
            <a:spAutoFit/>
          </a:bodyPr>
          <a:lstStyle/>
          <a:p>
            <a:pPr algn="l"/>
            <a:r>
              <a:rPr sz="1000" b="0">
                <a:solidFill>
                  <a:srgbClr val="8C8C8C"/>
                </a:solidFill>
                <a:latin typeface="Arial"/>
              </a:rPr>
              <a:t>Read with the 2 caveats on the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0">
                <a:solidFill>
                  <a:srgbClr val="8C8C8C"/>
                </a:solidFill>
                <a:latin typeface="Arial"/>
              </a:rPr>
              <a:t>3  FINDINGS      </a:t>
            </a:r>
            <a:r>
              <a:rPr sz="900" b="0">
                <a:solidFill>
                  <a:srgbClr val="8C8C8C"/>
                </a:solidFill>
                <a:latin typeface="Arial"/>
              </a:rPr>
              <a:t>4  IMPACT      </a:t>
            </a:r>
            <a:r>
              <a:rPr sz="900" b="1">
                <a:solidFill>
                  <a:srgbClr val="2251FF"/>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2 caveats could change or qualify this conclusion</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10</a:t>
            </a:r>
          </a:p>
        </p:txBody>
      </p:sp>
      <p:sp>
        <p:nvSpPr>
          <p:cNvPr id="8" name="TextBox 7"/>
          <p:cNvSpPr txBox="1"/>
          <p:nvPr/>
        </p:nvSpPr>
        <p:spPr>
          <a:xfrm>
            <a:off x="502920" y="1554480"/>
            <a:ext cx="11185855" cy="4572000"/>
          </a:xfrm>
          <a:prstGeom prst="rect">
            <a:avLst/>
          </a:prstGeom>
          <a:noFill/>
        </p:spPr>
        <p:txBody>
          <a:bodyPr wrap="square" lIns="18288" rIns="18288">
            <a:spAutoFit/>
          </a:bodyPr>
          <a:lstStyle/>
          <a:p>
            <a:pPr>
              <a:spcAft>
                <a:spcPts val="1000"/>
              </a:spcAft>
            </a:pPr>
            <a:r>
              <a:rPr sz="1600" b="1">
                <a:solidFill>
                  <a:srgbClr val="2251FF"/>
                </a:solidFill>
                <a:latin typeface="Arial"/>
              </a:rPr>
              <a:t>•  </a:t>
            </a:r>
            <a:r>
              <a:rPr sz="1600">
                <a:solidFill>
                  <a:srgbClr val="1A1A1A"/>
                </a:solidFill>
                <a:latin typeface="Arial"/>
              </a:rPr>
              <a:t>iOS + Web alone show no mismatch (p = 0.323), but an iOS + Web-only readout would answer a different question (it excludes a whole platform); treat it as a sensitivity check only.</a:t>
            </a:r>
          </a:p>
          <a:p>
            <a:pPr>
              <a:spcAft>
                <a:spcPts val="1000"/>
              </a:spcAft>
            </a:pPr>
            <a:r>
              <a:rPr sz="1600" b="1">
                <a:solidFill>
                  <a:srgbClr val="2251FF"/>
                </a:solidFill>
                <a:latin typeface="Arial"/>
              </a:rPr>
              <a:t>•  </a:t>
            </a:r>
            <a:r>
              <a:rPr sz="1600" b="1">
                <a:solidFill>
                  <a:srgbClr val="1A1A1A"/>
                </a:solidFill>
                <a:latin typeface="Arial"/>
              </a:rPr>
              <a:t>Activation results were not computed: </a:t>
            </a:r>
            <a:r>
              <a:rPr sz="1600">
                <a:solidFill>
                  <a:srgbClr val="1A1A1A"/>
                </a:solidFill>
                <a:latin typeface="Arial"/>
              </a:rPr>
              <a:t>with units missing non-randomly, any difference could be caused by the loss.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09728"/>
            <a:ext cx="11185855" cy="256032"/>
          </a:xfrm>
          <a:prstGeom prst="rect">
            <a:avLst/>
          </a:prstGeom>
          <a:noFill/>
        </p:spPr>
        <p:txBody>
          <a:bodyPr wrap="none" lIns="0" rIns="0" tIns="0" bIns="0">
            <a:spAutoFit/>
          </a:bodyPr>
          <a:lstStyle/>
          <a:p>
            <a:r>
              <a:rPr sz="900" b="0">
                <a:solidFill>
                  <a:srgbClr val="8C8C8C"/>
                </a:solidFill>
                <a:latin typeface="Arial"/>
              </a:rPr>
              <a:t>1  THE ASK      </a:t>
            </a:r>
            <a:r>
              <a:rPr sz="900" b="0">
                <a:solidFill>
                  <a:srgbClr val="8C8C8C"/>
                </a:solidFill>
                <a:latin typeface="Arial"/>
              </a:rPr>
              <a:t>2  APPROACH      </a:t>
            </a:r>
            <a:r>
              <a:rPr sz="900" b="0">
                <a:solidFill>
                  <a:srgbClr val="8C8C8C"/>
                </a:solidFill>
                <a:latin typeface="Arial"/>
              </a:rPr>
              <a:t>3  FINDINGS      </a:t>
            </a:r>
            <a:r>
              <a:rPr sz="900" b="0">
                <a:solidFill>
                  <a:srgbClr val="8C8C8C"/>
                </a:solidFill>
                <a:latin typeface="Arial"/>
              </a:rPr>
              <a:t>4  IMPACT      </a:t>
            </a:r>
            <a:r>
              <a:rPr sz="900" b="1">
                <a:solidFill>
                  <a:srgbClr val="2251FF"/>
                </a:solidFill>
                <a:latin typeface="Arial"/>
              </a:rPr>
              <a:t>5  RECOMMENDATION</a:t>
            </a:r>
          </a:p>
        </p:txBody>
      </p:sp>
      <p:sp>
        <p:nvSpPr>
          <p:cNvPr id="3" name="TextBox 2"/>
          <p:cNvSpPr txBox="1"/>
          <p:nvPr/>
        </p:nvSpPr>
        <p:spPr>
          <a:xfrm>
            <a:off x="502920" y="384048"/>
            <a:ext cx="11185855" cy="868680"/>
          </a:xfrm>
          <a:prstGeom prst="rect">
            <a:avLst/>
          </a:prstGeom>
          <a:noFill/>
        </p:spPr>
        <p:txBody>
          <a:bodyPr wrap="square" anchor="t" lIns="18288" rIns="18288" tIns="18288" bIns="18288">
            <a:spAutoFit/>
          </a:bodyPr>
          <a:lstStyle/>
          <a:p>
            <a:pPr algn="l"/>
            <a:r>
              <a:rPr sz="2400" b="1">
                <a:solidFill>
                  <a:srgbClr val="1A1A1A"/>
                </a:solidFill>
                <a:latin typeface="Arial"/>
              </a:rPr>
              <a:t>Recommendation: fix the data before any decision, with 4 next steps</a:t>
            </a:r>
          </a:p>
        </p:txBody>
      </p:sp>
      <p:sp>
        <p:nvSpPr>
          <p:cNvPr id="4" name="Rectangle 3"/>
          <p:cNvSpPr/>
          <p:nvPr/>
        </p:nvSpPr>
        <p:spPr>
          <a:xfrm>
            <a:off x="502920" y="1216152"/>
            <a:ext cx="822960" cy="3810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327648"/>
            <a:ext cx="11185855" cy="6350"/>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9875520" cy="320040"/>
          </a:xfrm>
          <a:prstGeom prst="rect">
            <a:avLst/>
          </a:prstGeom>
          <a:noFill/>
        </p:spPr>
        <p:txBody>
          <a:bodyPr wrap="square" anchor="t" lIns="18288" rIns="18288" tIns="18288" bIns="18288">
            <a:spAutoFit/>
          </a:bodyPr>
          <a:lstStyle/>
          <a:p>
            <a:pPr algn="l"/>
            <a:r>
              <a:rPr sz="900" b="0">
                <a:solidFill>
                  <a:srgbClr val="8C8C8C"/>
                </a:solidFill>
                <a:latin typeface="Arial"/>
              </a:rPr>
              <a:t>Source: srm_broken.csv, 2026-09-01 to 2026-09-14; run 2026-10-01_onboarding-checklist</a:t>
            </a:r>
          </a:p>
        </p:txBody>
      </p:sp>
      <p:sp>
        <p:nvSpPr>
          <p:cNvPr id="7" name="TextBox 6"/>
          <p:cNvSpPr txBox="1"/>
          <p:nvPr/>
        </p:nvSpPr>
        <p:spPr>
          <a:xfrm>
            <a:off x="10957255" y="6400800"/>
            <a:ext cx="731520" cy="320040"/>
          </a:xfrm>
          <a:prstGeom prst="rect">
            <a:avLst/>
          </a:prstGeom>
          <a:noFill/>
        </p:spPr>
        <p:txBody>
          <a:bodyPr wrap="square" anchor="t" lIns="18288" rIns="18288" tIns="18288" bIns="18288">
            <a:spAutoFit/>
          </a:bodyPr>
          <a:lstStyle/>
          <a:p>
            <a:pPr algn="r"/>
            <a:r>
              <a:rPr sz="900" b="0">
                <a:solidFill>
                  <a:srgbClr val="8C8C8C"/>
                </a:solidFill>
                <a:latin typeface="Arial"/>
              </a:rPr>
              <a:t>11</a:t>
            </a:r>
          </a:p>
        </p:txBody>
      </p:sp>
      <p:sp>
        <p:nvSpPr>
          <p:cNvPr id="8" name="Rectangle 7"/>
          <p:cNvSpPr/>
          <p:nvPr/>
        </p:nvSpPr>
        <p:spPr>
          <a:xfrm>
            <a:off x="502920" y="1463040"/>
            <a:ext cx="11185855" cy="7772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2000" b="1">
                <a:solidFill>
                  <a:srgbClr val="FFFFFF"/>
                </a:solidFill>
                <a:latin typeface="Arial"/>
              </a:rPr>
              <a:t>DECISION: BLOCKED: DATA ISSUE</a:t>
            </a:r>
          </a:p>
        </p:txBody>
      </p:sp>
      <p:sp>
        <p:nvSpPr>
          <p:cNvPr id="9" name="TextBox 8"/>
          <p:cNvSpPr txBox="1"/>
          <p:nvPr/>
        </p:nvSpPr>
        <p:spPr>
          <a:xfrm>
            <a:off x="502920" y="2377440"/>
            <a:ext cx="11185855" cy="457200"/>
          </a:xfrm>
          <a:prstGeom prst="rect">
            <a:avLst/>
          </a:prstGeom>
          <a:noFill/>
        </p:spPr>
        <p:txBody>
          <a:bodyPr wrap="square" anchor="t" lIns="18288" rIns="18288" tIns="18288" bIns="18288">
            <a:spAutoFit/>
          </a:bodyPr>
          <a:lstStyle/>
          <a:p>
            <a:pPr algn="l"/>
            <a:r>
              <a:rPr sz="1400" b="0">
                <a:solidFill>
                  <a:srgbClr val="1A1A1A"/>
                </a:solidFill>
                <a:latin typeface="Arial"/>
              </a:rPr>
              <a:t>The data failed a blocking validation check, so treatment effects cannot be trusted.</a:t>
            </a:r>
          </a:p>
        </p:txBody>
      </p:sp>
      <p:sp>
        <p:nvSpPr>
          <p:cNvPr id="10" name="TextBox 9"/>
          <p:cNvSpPr txBox="1"/>
          <p:nvPr/>
        </p:nvSpPr>
        <p:spPr>
          <a:xfrm>
            <a:off x="502920" y="2926080"/>
            <a:ext cx="3657600" cy="274320"/>
          </a:xfrm>
          <a:prstGeom prst="rect">
            <a:avLst/>
          </a:prstGeom>
          <a:noFill/>
        </p:spPr>
        <p:txBody>
          <a:bodyPr wrap="square" anchor="t" lIns="18288" rIns="18288" tIns="18288" bIns="18288">
            <a:spAutoFit/>
          </a:bodyPr>
          <a:lstStyle/>
          <a:p>
            <a:pPr algn="l"/>
            <a:r>
              <a:rPr sz="1100" b="1">
                <a:solidFill>
                  <a:srgbClr val="0B2545"/>
                </a:solidFill>
                <a:latin typeface="Arial"/>
              </a:rPr>
              <a:t>NEXT STEPS</a:t>
            </a:r>
          </a:p>
        </p:txBody>
      </p:sp>
      <p:graphicFrame>
        <p:nvGraphicFramePr>
          <p:cNvPr id="11" name="Table 10"/>
          <p:cNvGraphicFramePr>
            <a:graphicFrameLocks noGrp="1"/>
          </p:cNvGraphicFramePr>
          <p:nvPr/>
        </p:nvGraphicFramePr>
        <p:xfrm>
          <a:off x="502920" y="3246119"/>
          <a:ext cx="11185853" cy="1920240"/>
        </p:xfrm>
        <a:graphic>
          <a:graphicData uri="http://schemas.openxmlformats.org/drawingml/2006/table">
            <a:tbl>
              <a:tblPr firstRow="1" bandRow="1">
                <a:tableStyleId>{5C22544A-7EE6-4342-B048-85BDC9FD1C3A}</a:tableStyleId>
              </a:tblPr>
              <a:tblGrid>
                <a:gridCol w="559292"/>
                <a:gridCol w="7270805"/>
                <a:gridCol w="1901595"/>
                <a:gridCol w="1454161"/>
              </a:tblGrid>
              <a:tr h="384048">
                <a:tc>
                  <a:txBody>
                    <a:bodyPr/>
                    <a:lstStyle/>
                    <a:p>
                      <a:r>
                        <a:rPr sz="1200" b="1">
                          <a:solidFill>
                            <a:srgbClr val="FFFFFF"/>
                          </a:solidFill>
                          <a:latin typeface="Arial"/>
                        </a:rPr>
                        <a:t>#</a:t>
                      </a:r>
                    </a:p>
                  </a:txBody>
                  <a:tcPr marL="91440" anchor="ctr">
                    <a:solidFill>
                      <a:srgbClr val="0B2545"/>
                    </a:solidFill>
                  </a:tcPr>
                </a:tc>
                <a:tc>
                  <a:txBody>
                    <a:bodyPr/>
                    <a:lstStyle/>
                    <a:p>
                      <a:r>
                        <a:rPr sz="1200" b="1">
                          <a:solidFill>
                            <a:srgbClr val="FFFFFF"/>
                          </a:solidFill>
                          <a:latin typeface="Arial"/>
                        </a:rPr>
                        <a:t>Action</a:t>
                      </a:r>
                    </a:p>
                  </a:txBody>
                  <a:tcPr marL="91440" anchor="ctr">
                    <a:solidFill>
                      <a:srgbClr val="0B2545"/>
                    </a:solidFill>
                  </a:tcPr>
                </a:tc>
                <a:tc>
                  <a:txBody>
                    <a:bodyPr/>
                    <a:lstStyle/>
                    <a:p>
                      <a:r>
                        <a:rPr sz="1200" b="1">
                          <a:solidFill>
                            <a:srgbClr val="FFFFFF"/>
                          </a:solidFill>
                          <a:latin typeface="Arial"/>
                        </a:rPr>
                        <a:t>Owner</a:t>
                      </a:r>
                    </a:p>
                  </a:txBody>
                  <a:tcPr marL="91440" anchor="ctr">
                    <a:solidFill>
                      <a:srgbClr val="0B2545"/>
                    </a:solidFill>
                  </a:tcPr>
                </a:tc>
                <a:tc>
                  <a:txBody>
                    <a:bodyPr/>
                    <a:lstStyle/>
                    <a:p>
                      <a:r>
                        <a:rPr sz="1200" b="1">
                          <a:solidFill>
                            <a:srgbClr val="FFFFFF"/>
                          </a:solidFill>
                          <a:latin typeface="Arial"/>
                        </a:rPr>
                        <a:t>Timing</a:t>
                      </a:r>
                    </a:p>
                  </a:txBody>
                  <a:tcPr marL="91440" anchor="ctr">
                    <a:solidFill>
                      <a:srgbClr val="0B2545"/>
                    </a:solidFill>
                  </a:tcPr>
                </a:tc>
              </a:tr>
              <a:tr h="384048">
                <a:tc>
                  <a:txBody>
                    <a:bodyPr/>
                    <a:lstStyle/>
                    <a:p>
                      <a:r>
                        <a:rPr sz="1300" b="1">
                          <a:solidFill>
                            <a:srgbClr val="2251FF"/>
                          </a:solidFill>
                          <a:latin typeface="Arial"/>
                        </a:rPr>
                        <a:t>1</a:t>
                      </a:r>
                    </a:p>
                  </a:txBody>
                  <a:tcPr marL="91440" anchor="ctr">
                    <a:solidFill>
                      <a:srgbClr val="FFFFFF"/>
                    </a:solidFill>
                  </a:tcPr>
                </a:tc>
                <a:tc>
                  <a:txBody>
                    <a:bodyPr/>
                    <a:lstStyle/>
                    <a:p>
                      <a:r>
                        <a:rPr sz="1300" b="0">
                          <a:solidFill>
                            <a:srgbClr val="1A1A1A"/>
                          </a:solidFill>
                          <a:latin typeface="Arial"/>
                        </a:rPr>
                        <a:t>Fix the Android exposure event lost since the 2026-09-05 release (about 3,085 treatment users missing)</a:t>
                      </a:r>
                    </a:p>
                  </a:txBody>
                  <a:tcPr marL="91440" anchor="ctr">
                    <a:solidFill>
                      <a:srgbClr val="FFFFFF"/>
                    </a:solidFill>
                  </a:tcPr>
                </a:tc>
                <a:tc>
                  <a:txBody>
                    <a:bodyPr/>
                    <a:lstStyle/>
                    <a:p>
                      <a:r>
                        <a:rPr sz="1300" b="0">
                          <a:solidFill>
                            <a:srgbClr val="1A1A1A"/>
                          </a:solidFill>
                          <a:latin typeface="Arial"/>
                        </a:rPr>
                        <a:t>Engineering</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r>
              <a:tr h="384048">
                <a:tc>
                  <a:txBody>
                    <a:bodyPr/>
                    <a:lstStyle/>
                    <a:p>
                      <a:r>
                        <a:rPr sz="1300" b="1">
                          <a:solidFill>
                            <a:srgbClr val="2251FF"/>
                          </a:solidFill>
                          <a:latin typeface="Arial"/>
                        </a:rPr>
                        <a:t>2</a:t>
                      </a:r>
                    </a:p>
                  </a:txBody>
                  <a:tcPr marL="91440" anchor="ctr">
                    <a:solidFill>
                      <a:srgbClr val="FFFFFF"/>
                    </a:solidFill>
                  </a:tcPr>
                </a:tc>
                <a:tc>
                  <a:txBody>
                    <a:bodyPr/>
                    <a:lstStyle/>
                    <a:p>
                      <a:r>
                        <a:rPr sz="1300" b="0">
                          <a:solidFill>
                            <a:srgbClr val="1A1A1A"/>
                          </a:solidFill>
                          <a:latin typeface="Arial"/>
                        </a:rPr>
                        <a:t>Re-extract exposures from server-side assignment logs and rerun this workflow on the corrected data</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r>
              <a:tr h="384048">
                <a:tc>
                  <a:txBody>
                    <a:bodyPr/>
                    <a:lstStyle/>
                    <a:p>
                      <a:r>
                        <a:rPr sz="1300" b="1">
                          <a:solidFill>
                            <a:srgbClr val="2251FF"/>
                          </a:solidFill>
                          <a:latin typeface="Arial"/>
                        </a:rPr>
                        <a:t>3</a:t>
                      </a:r>
                    </a:p>
                  </a:txBody>
                  <a:tcPr marL="91440" anchor="ctr">
                    <a:solidFill>
                      <a:srgbClr val="FFFFFF"/>
                    </a:solidFill>
                  </a:tcPr>
                </a:tc>
                <a:tc>
                  <a:txBody>
                    <a:bodyPr/>
                    <a:lstStyle/>
                    <a:p>
                      <a:r>
                        <a:rPr sz="1300" b="0">
                          <a:solidFill>
                            <a:srgbClr val="1A1A1A"/>
                          </a:solidFill>
                          <a:latin typeface="Arial"/>
                        </a:rPr>
                        <a:t>If the logs cannot be repaired, rerun the test for two full weeks after the fix</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r>
              <a:tr h="384048">
                <a:tc>
                  <a:txBody>
                    <a:bodyPr/>
                    <a:lstStyle/>
                    <a:p>
                      <a:r>
                        <a:rPr sz="1300" b="1">
                          <a:solidFill>
                            <a:srgbClr val="2251FF"/>
                          </a:solidFill>
                          <a:latin typeface="Arial"/>
                        </a:rPr>
                        <a:t>4</a:t>
                      </a:r>
                    </a:p>
                  </a:txBody>
                  <a:tcPr marL="91440" anchor="ctr">
                    <a:solidFill>
                      <a:srgbClr val="FFFFFF"/>
                    </a:solidFill>
                  </a:tcPr>
                </a:tc>
                <a:tc>
                  <a:txBody>
                    <a:bodyPr/>
                    <a:lstStyle/>
                    <a:p>
                      <a:r>
                        <a:rPr sz="1300" b="0">
                          <a:solidFill>
                            <a:srgbClr val="1A1A1A"/>
                          </a:solidFill>
                          <a:latin typeface="Arial"/>
                        </a:rPr>
                        <a:t>Add an automated daily SRM alert (by platform) to the experiment dashboard</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c>
                  <a:txBody>
                    <a:bodyPr/>
                    <a:lstStyle/>
                    <a:p>
                      <a:r>
                        <a:rPr sz="1300" b="0">
                          <a:solidFill>
                            <a:srgbClr val="1A1A1A"/>
                          </a:solidFill>
                          <a:latin typeface="Arial"/>
                        </a:rPr>
                        <a:t>To agree</a:t>
                      </a:r>
                    </a:p>
                  </a:txBody>
                  <a:tcPr marL="91440"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