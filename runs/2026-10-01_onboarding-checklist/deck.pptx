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Blocked: data issue. The data failed a blocking validation check, so treatment effects cannot be trusted. The groups being compared are not the ones the experiment created, so any difference between them could come from the data problem rather than the change. iOS + Web alone show no mismatch (p = 0.323), but an iOS + Web-only readout would answer a different question (it excludes a whole platform); treat it as a sensitivity check only. Activation results were not computed: with units missing non-randomly, any difference could be caused by the loss.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story: units went missing unevenly, so the comparison is broken.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engineering at the Android exposure event after the 5 September release.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data quality: anything flagged here limits how far the results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decision and owners. The data failed a blocking validation check, so treatment effects cannot be trusted.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097280" cy="508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058400" cy="1737360"/>
          </a:xfrm>
          <a:prstGeom prst="rect">
            <a:avLst/>
          </a:prstGeom>
          <a:noFill/>
        </p:spPr>
        <p:txBody>
          <a:bodyPr wrap="square" anchor="b" lIns="18288" rIns="18288" tIns="18288" bIns="18288">
            <a:spAutoFit/>
          </a:bodyPr>
          <a:lstStyle/>
          <a:p>
            <a:pPr algn="l"/>
            <a:r>
              <a:rPr sz="3600" b="1">
                <a:solidFill>
                  <a:srgbClr val="1A1A1A"/>
                </a:solidFill>
                <a:latin typeface="Arial"/>
              </a:rPr>
              <a:t>Onboarding checklist test</a:t>
            </a:r>
          </a:p>
        </p:txBody>
      </p:sp>
      <p:sp>
        <p:nvSpPr>
          <p:cNvPr id="5" name="TextBox 4"/>
          <p:cNvSpPr txBox="1"/>
          <p:nvPr/>
        </p:nvSpPr>
        <p:spPr>
          <a:xfrm>
            <a:off x="822960" y="3474720"/>
            <a:ext cx="10058400" cy="731520"/>
          </a:xfrm>
          <a:prstGeom prst="rect">
            <a:avLst/>
          </a:prstGeom>
          <a:noFill/>
        </p:spPr>
        <p:txBody>
          <a:bodyPr wrap="square" anchor="t" lIns="18288" rIns="18288" tIns="18288" bIns="18288">
            <a:spAutoFit/>
          </a:bodyPr>
          <a:lstStyle/>
          <a:p>
            <a:pPr algn="l"/>
            <a:r>
              <a:rPr sz="1800" b="0">
                <a:solidFill>
                  <a:srgbClr val="8C8C8C"/>
                </a:solidFill>
                <a:latin typeface="Arial"/>
              </a:rPr>
              <a:t>Results withheld: treatment has 7.1% fewer units than the intended split (p &lt; 0.001, sample ratio mismatch)</a:t>
            </a:r>
          </a:p>
        </p:txBody>
      </p:sp>
      <p:sp>
        <p:nvSpPr>
          <p:cNvPr id="6" name="TextBox 5"/>
          <p:cNvSpPr txBox="1"/>
          <p:nvPr/>
        </p:nvSpPr>
        <p:spPr>
          <a:xfrm>
            <a:off x="822960" y="6035040"/>
            <a:ext cx="5486400" cy="365760"/>
          </a:xfrm>
          <a:prstGeom prst="rect">
            <a:avLst/>
          </a:prstGeom>
          <a:noFill/>
        </p:spPr>
        <p:txBody>
          <a:bodyPr wrap="square" anchor="t" lIns="18288" rIns="18288" tIns="18288" bIns="18288">
            <a:spAutoFit/>
          </a:bodyPr>
          <a:lstStyle/>
          <a:p>
            <a:pPr algn="l"/>
            <a:r>
              <a:rPr sz="1200" b="0">
                <a:solidFill>
                  <a:srgbClr val="8C8C8C"/>
                </a:solidFill>
                <a:latin typeface="Arial"/>
              </a:rPr>
              <a:t>01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85855" cy="868680"/>
          </a:xfrm>
          <a:prstGeom prst="rect">
            <a:avLst/>
          </a:prstGeom>
          <a:noFill/>
        </p:spPr>
        <p:txBody>
          <a:bodyPr wrap="square" anchor="t" lIns="18288" rIns="18288" tIns="18288" bIns="18288">
            <a:spAutoFit/>
          </a:bodyPr>
          <a:lstStyle/>
          <a:p>
            <a:pPr algn="l"/>
            <a:r>
              <a:rPr sz="2400" b="1">
                <a:solidFill>
                  <a:srgbClr val="1A1A1A"/>
                </a:solidFill>
                <a:latin typeface="Arial"/>
              </a:rPr>
              <a:t>Results withheld: treatment has 7.1% fewer units than the intended split (p &lt; 0.001, sample ratio mismatch)</a:t>
            </a:r>
          </a:p>
        </p:txBody>
      </p:sp>
      <p:sp>
        <p:nvSpPr>
          <p:cNvPr id="3" name="Rectangle 2"/>
          <p:cNvSpPr/>
          <p:nvPr/>
        </p:nvSpPr>
        <p:spPr>
          <a:xfrm>
            <a:off x="502920" y="1170432"/>
            <a:ext cx="822960" cy="381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417320"/>
            <a:ext cx="11185855"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a:lstStyle/>
          <a:p>
            <a:pPr algn="l"/>
            <a:r>
              <a:rPr sz="2200" b="1">
                <a:solidFill>
                  <a:srgbClr val="FFFFFF"/>
                </a:solidFill>
                <a:latin typeface="Arial"/>
              </a:rPr>
              <a:t>Recommendation: BLOCKED: DATA ISSUE</a:t>
            </a:r>
            <a:r>
              <a:rPr sz="1300">
                <a:solidFill>
                  <a:srgbClr val="FFFFFF"/>
                </a:solidFill>
                <a:latin typeface="Arial"/>
              </a:rPr>
              <a:t>   The data failed a blocking validation check, so treatment effects cannot be trusted.</a:t>
            </a:r>
          </a:p>
        </p:txBody>
      </p:sp>
      <p:sp>
        <p:nvSpPr>
          <p:cNvPr id="5" name="TextBox 4"/>
          <p:cNvSpPr txBox="1"/>
          <p:nvPr/>
        </p:nvSpPr>
        <p:spPr>
          <a:xfrm>
            <a:off x="502920" y="2651760"/>
            <a:ext cx="11185855" cy="3657600"/>
          </a:xfrm>
          <a:prstGeom prst="rect">
            <a:avLst/>
          </a:prstGeom>
          <a:noFill/>
        </p:spPr>
        <p:txBody>
          <a:bodyPr wrap="square">
            <a:spAutoFit/>
          </a:bodyPr>
          <a:lstStyle/>
          <a:p>
            <a:pPr>
              <a:spcAft>
                <a:spcPts val="1000"/>
              </a:spcAft>
            </a:pPr>
            <a:r>
              <a:rPr sz="1700" b="1">
                <a:solidFill>
                  <a:srgbClr val="2251FF"/>
                </a:solidFill>
                <a:latin typeface="Arial"/>
              </a:rPr>
              <a:t>•  </a:t>
            </a:r>
            <a:r>
              <a:rPr sz="1700" b="1">
                <a:solidFill>
                  <a:srgbClr val="1A1A1A"/>
                </a:solidFill>
                <a:latin typeface="Arial"/>
              </a:rPr>
              <a:t>Observed share control: </a:t>
            </a:r>
            <a:r>
              <a:rPr sz="1700">
                <a:solidFill>
                  <a:srgbClr val="1A1A1A"/>
                </a:solidFill>
                <a:latin typeface="Arial"/>
              </a:rPr>
              <a:t>53.6% (expected 50.0%)</a:t>
            </a:r>
          </a:p>
          <a:p>
            <a:pPr>
              <a:spcAft>
                <a:spcPts val="1000"/>
              </a:spcAft>
            </a:pPr>
            <a:r>
              <a:rPr sz="1700" b="1">
                <a:solidFill>
                  <a:srgbClr val="2251FF"/>
                </a:solidFill>
                <a:latin typeface="Arial"/>
              </a:rPr>
              <a:t>•  </a:t>
            </a:r>
            <a:r>
              <a:rPr sz="1700" b="1">
                <a:solidFill>
                  <a:srgbClr val="1A1A1A"/>
                </a:solidFill>
                <a:latin typeface="Arial"/>
              </a:rPr>
              <a:t>Observed share treatment: </a:t>
            </a:r>
            <a:r>
              <a:rPr sz="1700">
                <a:solidFill>
                  <a:srgbClr val="1A1A1A"/>
                </a:solidFill>
                <a:latin typeface="Arial"/>
              </a:rPr>
              <a:t>46.4% (expected 50.0%)</a:t>
            </a:r>
          </a:p>
          <a:p>
            <a:pPr>
              <a:spcAft>
                <a:spcPts val="1000"/>
              </a:spcAft>
            </a:pPr>
            <a:r>
              <a:rPr sz="1700" b="1">
                <a:solidFill>
                  <a:srgbClr val="2251FF"/>
                </a:solidFill>
                <a:latin typeface="Arial"/>
              </a:rPr>
              <a:t>•  </a:t>
            </a:r>
            <a:r>
              <a:rPr sz="1700" b="1">
                <a:solidFill>
                  <a:srgbClr val="1A1A1A"/>
                </a:solidFill>
                <a:latin typeface="Arial"/>
              </a:rPr>
              <a:t>SRM test: </a:t>
            </a:r>
            <a:r>
              <a:rPr sz="1700">
                <a:solidFill>
                  <a:srgbClr val="1A1A1A"/>
                </a:solidFill>
                <a:latin typeface="Arial"/>
              </a:rPr>
              <a:t>chi-square p &lt; 0.001 (threshold 0.001)</a:t>
            </a:r>
          </a:p>
          <a:p>
            <a:pPr>
              <a:spcAft>
                <a:spcPts val="1000"/>
              </a:spcAft>
            </a:pPr>
            <a:r>
              <a:rPr sz="1700" b="1">
                <a:solidFill>
                  <a:srgbClr val="2251FF"/>
                </a:solidFill>
                <a:latin typeface="Arial"/>
              </a:rPr>
              <a:t>•  </a:t>
            </a:r>
            <a:r>
              <a:rPr sz="1700" b="1">
                <a:solidFill>
                  <a:srgbClr val="1A1A1A"/>
                </a:solidFill>
                <a:latin typeface="Arial"/>
              </a:rPr>
              <a:t>Concentrated in: </a:t>
            </a:r>
            <a:r>
              <a:rPr sz="1700">
                <a:solidFill>
                  <a:srgbClr val="1A1A1A"/>
                </a:solidFill>
                <a:latin typeface="Arial"/>
              </a:rPr>
              <a:t>exposure_date 2026-09-05 to 2026-09-14 (10 of 14 levels); platform=Android</a:t>
            </a:r>
          </a:p>
        </p:txBody>
      </p:sp>
      <p:sp>
        <p:nvSpPr>
          <p:cNvPr id="6" name="Rectangle 5"/>
          <p:cNvSpPr/>
          <p:nvPr/>
        </p:nvSpPr>
        <p:spPr>
          <a:xfrm>
            <a:off x="502920" y="6327648"/>
            <a:ext cx="11185855" cy="6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0"/>
            <a:ext cx="9875520" cy="320040"/>
          </a:xfrm>
          <a:prstGeom prst="rect">
            <a:avLst/>
          </a:prstGeom>
          <a:noFill/>
        </p:spPr>
        <p:txBody>
          <a:bodyPr wrap="square" anchor="t" lIns="18288" rIns="18288" tIns="18288" bIns="18288">
            <a:spAutoFit/>
          </a:bodyPr>
          <a:lstStyle/>
          <a:p>
            <a:pPr algn="l"/>
            <a:r>
              <a:rPr sz="900" b="0">
                <a:solidFill>
                  <a:srgbClr val="8C8C8C"/>
                </a:solidFill>
                <a:latin typeface="Arial"/>
              </a:rPr>
              <a:t>Source: srm_broken.csv, 2026-09-01 to 2026-09-14; run 2026-10-01_onboarding-checklist</a:t>
            </a:r>
          </a:p>
        </p:txBody>
      </p:sp>
      <p:sp>
        <p:nvSpPr>
          <p:cNvPr id="8" name="TextBox 7"/>
          <p:cNvSpPr txBox="1"/>
          <p:nvPr/>
        </p:nvSpPr>
        <p:spPr>
          <a:xfrm>
            <a:off x="10957255" y="6400800"/>
            <a:ext cx="731520" cy="320040"/>
          </a:xfrm>
          <a:prstGeom prst="rect">
            <a:avLst/>
          </a:prstGeom>
          <a:noFill/>
        </p:spPr>
        <p:txBody>
          <a:bodyPr wrap="square" anchor="t" lIns="18288" rIns="18288" tIns="18288" bIns="18288">
            <a:spAutoFit/>
          </a:bodyPr>
          <a:lstStyle/>
          <a:p>
            <a:pPr algn="r"/>
            <a:r>
              <a:rPr sz="900" b="0">
                <a:solidFill>
                  <a:srgbClr val="8C8C8C"/>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85855" cy="868680"/>
          </a:xfrm>
          <a:prstGeom prst="rect">
            <a:avLst/>
          </a:prstGeom>
          <a:noFill/>
        </p:spPr>
        <p:txBody>
          <a:bodyPr wrap="square" anchor="t" lIns="18288" rIns="18288" tIns="18288" bIns="18288">
            <a:spAutoFit/>
          </a:bodyPr>
          <a:lstStyle/>
          <a:p>
            <a:pPr algn="l"/>
            <a:r>
              <a:rPr sz="2400" b="1">
                <a:solidFill>
                  <a:srgbClr val="1A1A1A"/>
                </a:solidFill>
                <a:latin typeface="Arial"/>
              </a:rPr>
              <a:t>Treatment is missing 7.1% of its expected users: results cannot be trusted until this is fixed</a:t>
            </a:r>
          </a:p>
        </p:txBody>
      </p:sp>
      <p:sp>
        <p:nvSpPr>
          <p:cNvPr id="3" name="Rectangle 2"/>
          <p:cNvSpPr/>
          <p:nvPr/>
        </p:nvSpPr>
        <p:spPr>
          <a:xfrm>
            <a:off x="502920" y="1170432"/>
            <a:ext cx="822960" cy="381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rm_bar.png"/>
          <p:cNvPicPr>
            <a:picLocks noChangeAspect="1"/>
          </p:cNvPicPr>
          <p:nvPr/>
        </p:nvPicPr>
        <p:blipFill>
          <a:blip r:embed="rId2"/>
          <a:srcRect t="16900"/>
          <a:stretch>
            <a:fillRect/>
          </a:stretch>
        </p:blipFill>
        <p:spPr>
          <a:xfrm>
            <a:off x="502920" y="1417320"/>
            <a:ext cx="7589520" cy="3547626"/>
          </a:xfrm>
          <a:prstGeom prst="rect">
            <a:avLst/>
          </a:prstGeom>
        </p:spPr>
      </p:pic>
      <p:sp>
        <p:nvSpPr>
          <p:cNvPr id="5" name="TextBox 4"/>
          <p:cNvSpPr txBox="1"/>
          <p:nvPr/>
        </p:nvSpPr>
        <p:spPr>
          <a:xfrm>
            <a:off x="8412480" y="1463040"/>
            <a:ext cx="3276295" cy="365760"/>
          </a:xfrm>
          <a:prstGeom prst="rect">
            <a:avLst/>
          </a:prstGeom>
          <a:noFill/>
        </p:spPr>
        <p:txBody>
          <a:bodyPr wrap="square" anchor="t" lIns="18288" rIns="18288" tIns="18288" bIns="18288">
            <a:spAutoFit/>
          </a:bodyPr>
          <a:lstStyle/>
          <a:p>
            <a:pPr algn="l"/>
            <a:r>
              <a:rPr sz="1100" b="1">
                <a:solidFill>
                  <a:srgbClr val="8C8C8C"/>
                </a:solidFill>
                <a:latin typeface="Arial"/>
              </a:rPr>
              <a:t>KEY TAKEAWAYS</a:t>
            </a:r>
          </a:p>
        </p:txBody>
      </p:sp>
      <p:sp>
        <p:nvSpPr>
          <p:cNvPr id="6" name="TextBox 5"/>
          <p:cNvSpPr txBox="1"/>
          <p:nvPr/>
        </p:nvSpPr>
        <p:spPr>
          <a:xfrm>
            <a:off x="8412480" y="1874520"/>
            <a:ext cx="3276295" cy="4114800"/>
          </a:xfrm>
          <a:prstGeom prst="rect">
            <a:avLst/>
          </a:prstGeom>
          <a:noFill/>
        </p:spPr>
        <p:txBody>
          <a:bodyPr wrap="square">
            <a:spAutoFit/>
          </a:bodyPr>
          <a:lstStyle/>
          <a:p>
            <a:pPr>
              <a:spcAft>
                <a:spcPts val="1000"/>
              </a:spcAft>
            </a:pPr>
            <a:r>
              <a:rPr sz="1400" b="1">
                <a:solidFill>
                  <a:srgbClr val="2251FF"/>
                </a:solidFill>
                <a:latin typeface="Arial"/>
              </a:rPr>
              <a:t>1.  </a:t>
            </a:r>
            <a:r>
              <a:rPr sz="1400">
                <a:solidFill>
                  <a:srgbClr val="1A1A1A"/>
                </a:solidFill>
                <a:latin typeface="Arial"/>
              </a:rPr>
              <a:t>Treatment share 46.4% vs 50.0% intended</a:t>
            </a:r>
          </a:p>
          <a:p>
            <a:pPr>
              <a:spcAft>
                <a:spcPts val="1000"/>
              </a:spcAft>
            </a:pPr>
            <a:r>
              <a:rPr sz="1400" b="1">
                <a:solidFill>
                  <a:srgbClr val="2251FF"/>
                </a:solidFill>
                <a:latin typeface="Arial"/>
              </a:rPr>
              <a:t>2.  </a:t>
            </a:r>
            <a:r>
              <a:rPr sz="1400">
                <a:solidFill>
                  <a:srgbClr val="1A1A1A"/>
                </a:solidFill>
                <a:latin typeface="Arial"/>
              </a:rPr>
              <a:t>Chi-square p &lt; 0.001 (threshold 0.001)</a:t>
            </a:r>
          </a:p>
          <a:p>
            <a:pPr>
              <a:spcAft>
                <a:spcPts val="1000"/>
              </a:spcAft>
            </a:pPr>
            <a:r>
              <a:rPr sz="1400" b="1">
                <a:solidFill>
                  <a:srgbClr val="2251FF"/>
                </a:solidFill>
                <a:latin typeface="Arial"/>
              </a:rPr>
              <a:t>3.  </a:t>
            </a:r>
            <a:r>
              <a:rPr sz="1400">
                <a:solidFill>
                  <a:srgbClr val="1A1A1A"/>
                </a:solidFill>
                <a:latin typeface="Arial"/>
              </a:rPr>
              <a:t>Effect estimates are withheld</a:t>
            </a:r>
          </a:p>
        </p:txBody>
      </p:sp>
      <p:sp>
        <p:nvSpPr>
          <p:cNvPr id="7" name="Rectangle 6"/>
          <p:cNvSpPr/>
          <p:nvPr/>
        </p:nvSpPr>
        <p:spPr>
          <a:xfrm>
            <a:off x="502920" y="6327648"/>
            <a:ext cx="11185855" cy="6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00800"/>
            <a:ext cx="9875520" cy="320040"/>
          </a:xfrm>
          <a:prstGeom prst="rect">
            <a:avLst/>
          </a:prstGeom>
          <a:noFill/>
        </p:spPr>
        <p:txBody>
          <a:bodyPr wrap="square" anchor="t" lIns="18288" rIns="18288" tIns="18288" bIns="18288">
            <a:spAutoFit/>
          </a:bodyPr>
          <a:lstStyle/>
          <a:p>
            <a:pPr algn="l"/>
            <a:r>
              <a:rPr sz="900" b="0">
                <a:solidFill>
                  <a:srgbClr val="8C8C8C"/>
                </a:solidFill>
                <a:latin typeface="Arial"/>
              </a:rPr>
              <a:t>Source: srm_broken.csv, 2026-09-01 to 2026-09-14; chi-square goodness-of-fit vs intended 50/50</a:t>
            </a:r>
          </a:p>
        </p:txBody>
      </p:sp>
      <p:sp>
        <p:nvSpPr>
          <p:cNvPr id="9" name="TextBox 8"/>
          <p:cNvSpPr txBox="1"/>
          <p:nvPr/>
        </p:nvSpPr>
        <p:spPr>
          <a:xfrm>
            <a:off x="10957255" y="6400800"/>
            <a:ext cx="731520" cy="320040"/>
          </a:xfrm>
          <a:prstGeom prst="rect">
            <a:avLst/>
          </a:prstGeom>
          <a:noFill/>
        </p:spPr>
        <p:txBody>
          <a:bodyPr wrap="square" anchor="t" lIns="18288" rIns="18288" tIns="18288" bIns="18288">
            <a:spAutoFit/>
          </a:bodyPr>
          <a:lstStyle/>
          <a:p>
            <a:pPr algn="r"/>
            <a:r>
              <a:rPr sz="900" b="0">
                <a:solidFill>
                  <a:srgbClr val="8C8C8C"/>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85855" cy="868680"/>
          </a:xfrm>
          <a:prstGeom prst="rect">
            <a:avLst/>
          </a:prstGeom>
          <a:noFill/>
        </p:spPr>
        <p:txBody>
          <a:bodyPr wrap="square" anchor="t" lIns="18288" rIns="18288" tIns="18288" bIns="18288">
            <a:spAutoFit/>
          </a:bodyPr>
          <a:lstStyle/>
          <a:p>
            <a:pPr algn="l"/>
            <a:r>
              <a:rPr sz="2400" b="1">
                <a:solidFill>
                  <a:srgbClr val="1A1A1A"/>
                </a:solidFill>
                <a:latin typeface="Arial"/>
              </a:rPr>
              <a:t>The loss is on Android: treatment has 37.4% of Android users; iOS and Web are balanced</a:t>
            </a:r>
          </a:p>
        </p:txBody>
      </p:sp>
      <p:sp>
        <p:nvSpPr>
          <p:cNvPr id="3" name="Rectangle 2"/>
          <p:cNvSpPr/>
          <p:nvPr/>
        </p:nvSpPr>
        <p:spPr>
          <a:xfrm>
            <a:off x="502920" y="1170432"/>
            <a:ext cx="822960" cy="381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rm_bar_android.png"/>
          <p:cNvPicPr>
            <a:picLocks noChangeAspect="1"/>
          </p:cNvPicPr>
          <p:nvPr/>
        </p:nvPicPr>
        <p:blipFill>
          <a:blip r:embed="rId2"/>
          <a:srcRect t="11100"/>
          <a:stretch>
            <a:fillRect/>
          </a:stretch>
        </p:blipFill>
        <p:spPr>
          <a:xfrm>
            <a:off x="502920" y="1417320"/>
            <a:ext cx="7589520" cy="3795234"/>
          </a:xfrm>
          <a:prstGeom prst="rect">
            <a:avLst/>
          </a:prstGeom>
        </p:spPr>
      </p:pic>
      <p:sp>
        <p:nvSpPr>
          <p:cNvPr id="5" name="TextBox 4"/>
          <p:cNvSpPr txBox="1"/>
          <p:nvPr/>
        </p:nvSpPr>
        <p:spPr>
          <a:xfrm>
            <a:off x="8412480" y="1463040"/>
            <a:ext cx="3276295" cy="365760"/>
          </a:xfrm>
          <a:prstGeom prst="rect">
            <a:avLst/>
          </a:prstGeom>
          <a:noFill/>
        </p:spPr>
        <p:txBody>
          <a:bodyPr wrap="square" anchor="t" lIns="18288" rIns="18288" tIns="18288" bIns="18288">
            <a:spAutoFit/>
          </a:bodyPr>
          <a:lstStyle/>
          <a:p>
            <a:pPr algn="l"/>
            <a:r>
              <a:rPr sz="1100" b="1">
                <a:solidFill>
                  <a:srgbClr val="8C8C8C"/>
                </a:solidFill>
                <a:latin typeface="Arial"/>
              </a:rPr>
              <a:t>KEY TAKEAWAYS</a:t>
            </a:r>
          </a:p>
        </p:txBody>
      </p:sp>
      <p:sp>
        <p:nvSpPr>
          <p:cNvPr id="6" name="TextBox 5"/>
          <p:cNvSpPr txBox="1"/>
          <p:nvPr/>
        </p:nvSpPr>
        <p:spPr>
          <a:xfrm>
            <a:off x="8412480" y="1874520"/>
            <a:ext cx="3276295" cy="4114800"/>
          </a:xfrm>
          <a:prstGeom prst="rect">
            <a:avLst/>
          </a:prstGeom>
          <a:noFill/>
        </p:spPr>
        <p:txBody>
          <a:bodyPr wrap="square">
            <a:spAutoFit/>
          </a:bodyPr>
          <a:lstStyle/>
          <a:p>
            <a:pPr>
              <a:spcAft>
                <a:spcPts val="1000"/>
              </a:spcAft>
            </a:pPr>
            <a:r>
              <a:rPr sz="1400" b="1">
                <a:solidFill>
                  <a:srgbClr val="2251FF"/>
                </a:solidFill>
                <a:latin typeface="Arial"/>
              </a:rPr>
              <a:t>1.  </a:t>
            </a:r>
            <a:r>
              <a:rPr sz="1400" b="1">
                <a:solidFill>
                  <a:srgbClr val="1A1A1A"/>
                </a:solidFill>
                <a:latin typeface="Arial"/>
              </a:rPr>
              <a:t>Android: </a:t>
            </a:r>
            <a:r>
              <a:rPr sz="1400">
                <a:solidFill>
                  <a:srgbClr val="1A1A1A"/>
                </a:solidFill>
                <a:latin typeface="Arial"/>
              </a:rPr>
              <a:t>p &lt; 0.001</a:t>
            </a:r>
          </a:p>
          <a:p>
            <a:pPr>
              <a:spcAft>
                <a:spcPts val="1000"/>
              </a:spcAft>
            </a:pPr>
            <a:r>
              <a:rPr sz="1400" b="1">
                <a:solidFill>
                  <a:srgbClr val="2251FF"/>
                </a:solidFill>
                <a:latin typeface="Arial"/>
              </a:rPr>
              <a:t>2.  </a:t>
            </a:r>
            <a:r>
              <a:rPr sz="1400" b="1">
                <a:solidFill>
                  <a:srgbClr val="1A1A1A"/>
                </a:solidFill>
                <a:latin typeface="Arial"/>
              </a:rPr>
              <a:t>iOS + Web: </a:t>
            </a:r>
            <a:r>
              <a:rPr sz="1400">
                <a:solidFill>
                  <a:srgbClr val="1A1A1A"/>
                </a:solidFill>
                <a:latin typeface="Arial"/>
              </a:rPr>
              <a:t>p = 0.323</a:t>
            </a:r>
          </a:p>
          <a:p>
            <a:pPr>
              <a:spcAft>
                <a:spcPts val="1000"/>
              </a:spcAft>
            </a:pPr>
            <a:r>
              <a:rPr sz="1400" b="1">
                <a:solidFill>
                  <a:srgbClr val="2251FF"/>
                </a:solidFill>
                <a:latin typeface="Arial"/>
              </a:rPr>
              <a:t>3.  </a:t>
            </a:r>
            <a:r>
              <a:rPr sz="1400">
                <a:solidFill>
                  <a:srgbClr val="1A1A1A"/>
                </a:solidFill>
                <a:latin typeface="Arial"/>
              </a:rPr>
              <a:t>About 3,085 Android treatment users missing since 5 Sep</a:t>
            </a:r>
          </a:p>
        </p:txBody>
      </p:sp>
      <p:sp>
        <p:nvSpPr>
          <p:cNvPr id="7" name="Rectangle 6"/>
          <p:cNvSpPr/>
          <p:nvPr/>
        </p:nvSpPr>
        <p:spPr>
          <a:xfrm>
            <a:off x="502920" y="6327648"/>
            <a:ext cx="11185855" cy="6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00800"/>
            <a:ext cx="9875520" cy="320040"/>
          </a:xfrm>
          <a:prstGeom prst="rect">
            <a:avLst/>
          </a:prstGeom>
          <a:noFill/>
        </p:spPr>
        <p:txBody>
          <a:bodyPr wrap="square" anchor="t" lIns="18288" rIns="18288" tIns="18288" bIns="18288">
            <a:spAutoFit/>
          </a:bodyPr>
          <a:lstStyle/>
          <a:p>
            <a:pPr algn="l"/>
            <a:r>
              <a:rPr sz="900" b="0">
                <a:solidFill>
                  <a:srgbClr val="8C8C8C"/>
                </a:solidFill>
                <a:latin typeface="Arial"/>
              </a:rPr>
              <a:t>Source: srm_broken.csv, 2026-09-01 to 2026-09-14; chi-square goodness-of-fit vs intended 50/50</a:t>
            </a:r>
          </a:p>
        </p:txBody>
      </p:sp>
      <p:sp>
        <p:nvSpPr>
          <p:cNvPr id="9" name="TextBox 8"/>
          <p:cNvSpPr txBox="1"/>
          <p:nvPr/>
        </p:nvSpPr>
        <p:spPr>
          <a:xfrm>
            <a:off x="10957255" y="6400800"/>
            <a:ext cx="731520" cy="320040"/>
          </a:xfrm>
          <a:prstGeom prst="rect">
            <a:avLst/>
          </a:prstGeom>
          <a:noFill/>
        </p:spPr>
        <p:txBody>
          <a:bodyPr wrap="square" anchor="t" lIns="18288" rIns="18288" tIns="18288" bIns="18288">
            <a:spAutoFit/>
          </a:bodyPr>
          <a:lstStyle/>
          <a:p>
            <a:pPr algn="r"/>
            <a:r>
              <a:rPr sz="900" b="0">
                <a:solidFill>
                  <a:srgbClr val="8C8C8C"/>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85855" cy="868680"/>
          </a:xfrm>
          <a:prstGeom prst="rect">
            <a:avLst/>
          </a:prstGeom>
          <a:noFill/>
        </p:spPr>
        <p:txBody>
          <a:bodyPr wrap="square" anchor="t" lIns="18288" rIns="18288" tIns="18288" bIns="18288">
            <a:spAutoFit/>
          </a:bodyPr>
          <a:lstStyle/>
          <a:p>
            <a:pPr algn="l"/>
            <a:r>
              <a:rPr sz="2400" b="1">
                <a:solidFill>
                  <a:srgbClr val="1A1A1A"/>
                </a:solidFill>
                <a:latin typeface="Arial"/>
              </a:rPr>
              <a:t>Data validation: overall verdict BLOCK</a:t>
            </a:r>
          </a:p>
        </p:txBody>
      </p:sp>
      <p:sp>
        <p:nvSpPr>
          <p:cNvPr id="3" name="Rectangle 2"/>
          <p:cNvSpPr/>
          <p:nvPr/>
        </p:nvSpPr>
        <p:spPr>
          <a:xfrm>
            <a:off x="502920" y="1170432"/>
            <a:ext cx="822960" cy="381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02920" y="1463040"/>
          <a:ext cx="11185854" cy="3803904"/>
        </p:xfrm>
        <a:graphic>
          <a:graphicData uri="http://schemas.openxmlformats.org/drawingml/2006/table">
            <a:tbl>
              <a:tblPr firstRow="1" bandRow="1">
                <a:tableStyleId>{5C22544A-7EE6-4342-B048-85BDC9FD1C3A}</a:tableStyleId>
              </a:tblPr>
              <a:tblGrid>
                <a:gridCol w="1917575"/>
                <a:gridCol w="1278383"/>
                <a:gridCol w="7989896"/>
              </a:tblGrid>
              <a:tr h="292608">
                <a:tc>
                  <a:txBody>
                    <a:bodyPr/>
                    <a:lstStyle/>
                    <a:p>
                      <a:r>
                        <a:rPr sz="900" b="1">
                          <a:solidFill>
                            <a:srgbClr val="FFFFFF"/>
                          </a:solidFill>
                          <a:latin typeface="Arial"/>
                        </a:rPr>
                        <a:t>Check</a:t>
                      </a:r>
                    </a:p>
                  </a:txBody>
                  <a:tcPr marL="73152" marR="73152" anchor="ctr">
                    <a:solidFill>
                      <a:srgbClr val="0B2545"/>
                    </a:solidFill>
                  </a:tcPr>
                </a:tc>
                <a:tc>
                  <a:txBody>
                    <a:bodyPr/>
                    <a:lstStyle/>
                    <a:p>
                      <a:r>
                        <a:rPr sz="900" b="1">
                          <a:solidFill>
                            <a:srgbClr val="FFFFFF"/>
                          </a:solidFill>
                          <a:latin typeface="Arial"/>
                        </a:rPr>
                        <a:t>Verdict</a:t>
                      </a:r>
                    </a:p>
                  </a:txBody>
                  <a:tcPr marL="73152" marR="73152" anchor="ctr">
                    <a:solidFill>
                      <a:srgbClr val="0B2545"/>
                    </a:solidFill>
                  </a:tcPr>
                </a:tc>
                <a:tc>
                  <a:txBody>
                    <a:bodyPr/>
                    <a:lstStyle/>
                    <a:p>
                      <a:r>
                        <a:rPr sz="900" b="1">
                          <a:solidFill>
                            <a:srgbClr val="FFFFFF"/>
                          </a:solidFill>
                          <a:latin typeface="Arial"/>
                        </a:rPr>
                        <a:t>Detail</a:t>
                      </a:r>
                    </a:p>
                  </a:txBody>
                  <a:tcPr marL="73152" marR="73152" anchor="ctr">
                    <a:solidFill>
                      <a:srgbClr val="0B2545"/>
                    </a:solidFill>
                  </a:tcPr>
                </a:tc>
              </a:tr>
              <a:tr h="292608">
                <a:tc>
                  <a:txBody>
                    <a:bodyPr/>
                    <a:lstStyle/>
                    <a:p>
                      <a:r>
                        <a:rPr sz="1000" b="0">
                          <a:solidFill>
                            <a:srgbClr val="1A1A1A"/>
                          </a:solidFill>
                          <a:latin typeface="Arial"/>
                        </a:rPr>
                        <a:t>schema</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5 columns, 38,911 rows</a:t>
                      </a:r>
                    </a:p>
                  </a:txBody>
                  <a:tcPr marL="73152" marR="73152" anchor="ctr">
                    <a:solidFill>
                      <a:srgbClr val="FFFFFF"/>
                    </a:solidFill>
                  </a:tcPr>
                </a:tc>
              </a:tr>
              <a:tr h="292608">
                <a:tc>
                  <a:txBody>
                    <a:bodyPr/>
                    <a:lstStyle/>
                    <a:p>
                      <a:r>
                        <a:rPr sz="1000" b="0">
                          <a:solidFill>
                            <a:srgbClr val="1A1A1A"/>
                          </a:solidFill>
                          <a:latin typeface="Arial"/>
                        </a:rPr>
                        <a:t>dtypes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All metric columns numeric</a:t>
                      </a:r>
                    </a:p>
                  </a:txBody>
                  <a:tcPr marL="73152" marR="73152" anchor="ctr">
                    <a:solidFill>
                      <a:srgbClr val="FFFFFF"/>
                    </a:solidFill>
                  </a:tcPr>
                </a:tc>
              </a:tr>
              <a:tr h="292608">
                <a:tc>
                  <a:txBody>
                    <a:bodyPr/>
                    <a:lstStyle/>
                    <a:p>
                      <a:r>
                        <a:rPr sz="1000" b="0">
                          <a:solidFill>
                            <a:srgbClr val="1A1A1A"/>
                          </a:solidFill>
                          <a:latin typeface="Arial"/>
                        </a:rPr>
                        <a:t>missing values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No missing values</a:t>
                      </a:r>
                    </a:p>
                  </a:txBody>
                  <a:tcPr marL="73152" marR="73152" anchor="ctr">
                    <a:solidFill>
                      <a:srgbClr val="FFFFFF"/>
                    </a:solidFill>
                  </a:tcPr>
                </a:tc>
              </a:tr>
              <a:tr h="292608">
                <a:tc>
                  <a:txBody>
                    <a:bodyPr/>
                    <a:lstStyle/>
                    <a:p>
                      <a:r>
                        <a:rPr sz="1000" b="0">
                          <a:solidFill>
                            <a:srgbClr val="1A1A1A"/>
                          </a:solidFill>
                          <a:latin typeface="Arial"/>
                        </a:rPr>
                        <a:t>duplicates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38,911 units, one row each</a:t>
                      </a:r>
                    </a:p>
                  </a:txBody>
                  <a:tcPr marL="73152" marR="73152" anchor="ctr">
                    <a:solidFill>
                      <a:srgbClr val="FFFFFF"/>
                    </a:solidFill>
                  </a:tcPr>
                </a:tc>
              </a:tr>
              <a:tr h="292608">
                <a:tc>
                  <a:txBody>
                    <a:bodyPr/>
                    <a:lstStyle/>
                    <a:p>
                      <a:r>
                        <a:rPr sz="1000" b="0">
                          <a:solidFill>
                            <a:srgbClr val="1A1A1A"/>
                          </a:solidFill>
                          <a:latin typeface="Arial"/>
                        </a:rPr>
                        <a:t>contamination</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No unit appears in more than one variant</a:t>
                      </a:r>
                    </a:p>
                  </a:txBody>
                  <a:tcPr marL="73152" marR="73152" anchor="ctr">
                    <a:solidFill>
                      <a:srgbClr val="FFFFFF"/>
                    </a:solidFill>
                  </a:tcPr>
                </a:tc>
              </a:tr>
              <a:tr h="292608">
                <a:tc>
                  <a:txBody>
                    <a:bodyPr/>
                    <a:lstStyle/>
                    <a:p>
                      <a:r>
                        <a:rPr sz="1000" b="0">
                          <a:solidFill>
                            <a:srgbClr val="1A1A1A"/>
                          </a:solidFill>
                          <a:latin typeface="Arial"/>
                        </a:rPr>
                        <a:t>variants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Counts {'control': 20838, 'treatment': 18073}</a:t>
                      </a:r>
                    </a:p>
                  </a:txBody>
                  <a:tcPr marL="73152" marR="73152" anchor="ctr">
                    <a:solidFill>
                      <a:srgbClr val="FFFFFF"/>
                    </a:solidFill>
                  </a:tcPr>
                </a:tc>
              </a:tr>
              <a:tr h="292608">
                <a:tc>
                  <a:txBody>
                    <a:bodyPr/>
                    <a:lstStyle/>
                    <a:p>
                      <a:r>
                        <a:rPr sz="1000" b="0">
                          <a:solidFill>
                            <a:srgbClr val="1A1A1A"/>
                          </a:solidFill>
                          <a:latin typeface="Arial"/>
                        </a:rPr>
                        <a:t>SRM</a:t>
                      </a:r>
                    </a:p>
                  </a:txBody>
                  <a:tcPr marL="73152" marR="73152" anchor="ctr">
                    <a:solidFill>
                      <a:srgbClr val="FFFFFF"/>
                    </a:solidFill>
                  </a:tcPr>
                </a:tc>
                <a:tc>
                  <a:txBody>
                    <a:bodyPr/>
                    <a:lstStyle/>
                    <a:p>
                      <a:r>
                        <a:rPr sz="1000" b="1">
                          <a:solidFill>
                            <a:srgbClr val="C0392B"/>
                          </a:solidFill>
                          <a:latin typeface="Arial"/>
                        </a:rPr>
                        <a:t>BLOCK</a:t>
                      </a:r>
                    </a:p>
                  </a:txBody>
                  <a:tcPr marL="73152" marR="73152" anchor="ctr">
                    <a:solidFill>
                      <a:srgbClr val="FFFFFF"/>
                    </a:solidFill>
                  </a:tcPr>
                </a:tc>
                <a:tc>
                  <a:txBody>
                    <a:bodyPr/>
                    <a:lstStyle/>
                    <a:p>
                      <a:r>
                        <a:rPr sz="1000" b="0">
                          <a:solidFill>
                            <a:srgbClr val="1A1A1A"/>
                          </a:solidFill>
                          <a:latin typeface="Arial"/>
                        </a:rPr>
                        <a:t>Sample ratio mismatch: p = 1.22e-44 &lt; 0.001; observed shares {'control': 0.5355, 'treatment': 0.4645}. Concent</a:t>
                      </a:r>
                    </a:p>
                  </a:txBody>
                  <a:tcPr marL="73152" marR="73152" anchor="ctr">
                    <a:solidFill>
                      <a:srgbClr val="FFFFFF"/>
                    </a:solidFill>
                  </a:tcPr>
                </a:tc>
              </a:tr>
              <a:tr h="292608">
                <a:tc>
                  <a:txBody>
                    <a:bodyPr/>
                    <a:lstStyle/>
                    <a:p>
                      <a:r>
                        <a:rPr sz="1000" b="0">
                          <a:solidFill>
                            <a:srgbClr val="1A1A1A"/>
                          </a:solidFill>
                          <a:latin typeface="Arial"/>
                        </a:rPr>
                        <a:t>dates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2026-09-01 to 2026-09-14 (14 days)</a:t>
                      </a:r>
                    </a:p>
                  </a:txBody>
                  <a:tcPr marL="73152" marR="73152" anchor="ctr">
                    <a:solidFill>
                      <a:srgbClr val="FFFFFF"/>
                    </a:solidFill>
                  </a:tcPr>
                </a:tc>
              </a:tr>
              <a:tr h="292608">
                <a:tc>
                  <a:txBody>
                    <a:bodyPr/>
                    <a:lstStyle/>
                    <a:p>
                      <a:r>
                        <a:rPr sz="1000" b="0">
                          <a:solidFill>
                            <a:srgbClr val="1A1A1A"/>
                          </a:solidFill>
                          <a:latin typeface="Arial"/>
                        </a:rPr>
                        <a:t>outliers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No continuous metrics</a:t>
                      </a:r>
                    </a:p>
                  </a:txBody>
                  <a:tcPr marL="73152" marR="73152" anchor="ctr">
                    <a:solidFill>
                      <a:srgbClr val="FFFFFF"/>
                    </a:solidFill>
                  </a:tcPr>
                </a:tc>
              </a:tr>
              <a:tr h="292608">
                <a:tc>
                  <a:txBody>
                    <a:bodyPr/>
                    <a:lstStyle/>
                    <a:p>
                      <a:r>
                        <a:rPr sz="1000" b="0">
                          <a:solidFill>
                            <a:srgbClr val="1A1A1A"/>
                          </a:solidFill>
                          <a:latin typeface="Arial"/>
                        </a:rPr>
                        <a:t>impossible values</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Metric values within valid ranges</a:t>
                      </a:r>
                    </a:p>
                  </a:txBody>
                  <a:tcPr marL="73152" marR="73152" anchor="ctr">
                    <a:solidFill>
                      <a:srgbClr val="FFFFFF"/>
                    </a:solidFill>
                  </a:tcPr>
                </a:tc>
              </a:tr>
              <a:tr h="292608">
                <a:tc>
                  <a:txBody>
                    <a:bodyPr/>
                    <a:lstStyle/>
                    <a:p>
                      <a:r>
                        <a:rPr sz="1000" b="0">
                          <a:solidFill>
                            <a:srgbClr val="1A1A1A"/>
                          </a:solidFill>
                          <a:latin typeface="Arial"/>
                        </a:rPr>
                        <a:t>pre-period data</a:t>
                      </a:r>
                    </a:p>
                  </a:txBody>
                  <a:tcPr marL="73152" marR="73152" anchor="ctr">
                    <a:solidFill>
                      <a:srgbClr val="FFFFFF"/>
                    </a:solidFill>
                  </a:tcPr>
                </a:tc>
                <a:tc>
                  <a:txBody>
                    <a:bodyPr/>
                    <a:lstStyle/>
                    <a:p>
                      <a:r>
                        <a:rPr sz="1000" b="1">
                          <a:solidFill>
                            <a:srgbClr val="1B7F5A"/>
                          </a:solidFill>
                          <a:latin typeface="Arial"/>
                        </a:rPr>
                        <a:t>PASS</a:t>
                      </a:r>
                    </a:p>
                  </a:txBody>
                  <a:tcPr marL="73152" marR="73152" anchor="ctr">
                    <a:solidFill>
                      <a:srgbClr val="FFFFFF"/>
                    </a:solidFill>
                  </a:tcPr>
                </a:tc>
                <a:tc>
                  <a:txBody>
                    <a:bodyPr/>
                    <a:lstStyle/>
                    <a:p>
                      <a:r>
                        <a:rPr sz="1000" b="0">
                          <a:solidFill>
                            <a:srgbClr val="1A1A1A"/>
                          </a:solidFill>
                          <a:latin typeface="Arial"/>
                        </a:rPr>
                        <a:t>None described (CUPED not possible)</a:t>
                      </a:r>
                    </a:p>
                  </a:txBody>
                  <a:tcPr marL="73152" marR="73152" anchor="ctr">
                    <a:solidFill>
                      <a:srgbClr val="FFFFFF"/>
                    </a:solidFill>
                  </a:tcPr>
                </a:tc>
              </a:tr>
              <a:tr h="292608">
                <a:tc>
                  <a:txBody>
                    <a:bodyPr/>
                    <a:lstStyle/>
                    <a:p>
                      <a:r>
                        <a:rPr sz="1000" b="0">
                          <a:solidFill>
                            <a:srgbClr val="1A1A1A"/>
                          </a:solidFill>
                          <a:latin typeface="Arial"/>
                        </a:rPr>
                        <a:t>covariate balance</a:t>
                      </a:r>
                    </a:p>
                  </a:txBody>
                  <a:tcPr marL="73152" marR="73152" anchor="ctr">
                    <a:solidFill>
                      <a:srgbClr val="FFFFFF"/>
                    </a:solidFill>
                  </a:tcPr>
                </a:tc>
                <a:tc>
                  <a:txBody>
                    <a:bodyPr/>
                    <a:lstStyle/>
                    <a:p>
                      <a:r>
                        <a:rPr sz="1000" b="1">
                          <a:solidFill>
                            <a:srgbClr val="B08900"/>
                          </a:solidFill>
                          <a:latin typeface="Arial"/>
                        </a:rPr>
                        <a:t>WARN</a:t>
                      </a:r>
                    </a:p>
                  </a:txBody>
                  <a:tcPr marL="73152" marR="73152" anchor="ctr">
                    <a:solidFill>
                      <a:srgbClr val="FFFFFF"/>
                    </a:solidFill>
                  </a:tcPr>
                </a:tc>
                <a:tc>
                  <a:txBody>
                    <a:bodyPr/>
                    <a:lstStyle/>
                    <a:p>
                      <a:r>
                        <a:rPr sz="1000" b="0">
                          <a:solidFill>
                            <a:srgbClr val="1A1A1A"/>
                          </a:solidFill>
                          <a:latin typeface="Arial"/>
                        </a:rPr>
                        <a:t>Segment mix differs between variants: platform (p = 5.6e-119) (can indicate an assignment or logging problem, </a:t>
                      </a:r>
                    </a:p>
                  </a:txBody>
                  <a:tcPr marL="73152" marR="73152" anchor="ctr">
                    <a:solidFill>
                      <a:srgbClr val="FFFFFF"/>
                    </a:solidFill>
                  </a:tcPr>
                </a:tc>
              </a:tr>
            </a:tbl>
          </a:graphicData>
        </a:graphic>
      </p:graphicFrame>
      <p:sp>
        <p:nvSpPr>
          <p:cNvPr id="5" name="Rectangle 4"/>
          <p:cNvSpPr/>
          <p:nvPr/>
        </p:nvSpPr>
        <p:spPr>
          <a:xfrm>
            <a:off x="502920" y="6327648"/>
            <a:ext cx="11185855" cy="6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9875520" cy="320040"/>
          </a:xfrm>
          <a:prstGeom prst="rect">
            <a:avLst/>
          </a:prstGeom>
          <a:noFill/>
        </p:spPr>
        <p:txBody>
          <a:bodyPr wrap="square" anchor="t" lIns="18288" rIns="18288" tIns="18288" bIns="18288">
            <a:spAutoFit/>
          </a:bodyPr>
          <a:lstStyle/>
          <a:p>
            <a:pPr algn="l"/>
            <a:r>
              <a:rPr sz="900" b="0">
                <a:solidFill>
                  <a:srgbClr val="8C8C8C"/>
                </a:solidFill>
                <a:latin typeface="Arial"/>
              </a:rPr>
              <a:t>Source: srm_broken.csv, 2026-09-01 to 2026-09-14; run 2026-10-01_onboarding-checklist</a:t>
            </a:r>
          </a:p>
        </p:txBody>
      </p:sp>
      <p:sp>
        <p:nvSpPr>
          <p:cNvPr id="7" name="TextBox 6"/>
          <p:cNvSpPr txBox="1"/>
          <p:nvPr/>
        </p:nvSpPr>
        <p:spPr>
          <a:xfrm>
            <a:off x="10957255" y="6400800"/>
            <a:ext cx="731520" cy="320040"/>
          </a:xfrm>
          <a:prstGeom prst="rect">
            <a:avLst/>
          </a:prstGeom>
          <a:noFill/>
        </p:spPr>
        <p:txBody>
          <a:bodyPr wrap="square" anchor="t" lIns="18288" rIns="18288" tIns="18288" bIns="18288">
            <a:spAutoFit/>
          </a:bodyPr>
          <a:lstStyle/>
          <a:p>
            <a:pPr algn="r"/>
            <a:r>
              <a:rPr sz="900" b="0">
                <a:solidFill>
                  <a:srgbClr val="8C8C8C"/>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85855" cy="868680"/>
          </a:xfrm>
          <a:prstGeom prst="rect">
            <a:avLst/>
          </a:prstGeom>
          <a:noFill/>
        </p:spPr>
        <p:txBody>
          <a:bodyPr wrap="square" anchor="t" lIns="18288" rIns="18288" tIns="18288" bIns="18288">
            <a:spAutoFit/>
          </a:bodyPr>
          <a:lstStyle/>
          <a:p>
            <a:pPr algn="l"/>
            <a:r>
              <a:rPr sz="2400" b="1">
                <a:solidFill>
                  <a:srgbClr val="1A1A1A"/>
                </a:solidFill>
                <a:latin typeface="Arial"/>
              </a:rPr>
              <a:t>Recommendation: Blocked: data issue</a:t>
            </a:r>
          </a:p>
        </p:txBody>
      </p:sp>
      <p:sp>
        <p:nvSpPr>
          <p:cNvPr id="3" name="Rectangle 2"/>
          <p:cNvSpPr/>
          <p:nvPr/>
        </p:nvSpPr>
        <p:spPr>
          <a:xfrm>
            <a:off x="502920" y="1170432"/>
            <a:ext cx="822960" cy="381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508760"/>
            <a:ext cx="5486400" cy="365760"/>
          </a:xfrm>
          <a:prstGeom prst="rect">
            <a:avLst/>
          </a:prstGeom>
          <a:noFill/>
        </p:spPr>
        <p:txBody>
          <a:bodyPr wrap="square" anchor="t" lIns="18288" rIns="18288" tIns="18288" bIns="18288">
            <a:spAutoFit/>
          </a:bodyPr>
          <a:lstStyle/>
          <a:p>
            <a:pPr algn="l"/>
            <a:r>
              <a:rPr sz="1100" b="1">
                <a:solidFill>
                  <a:srgbClr val="8C8C8C"/>
                </a:solidFill>
                <a:latin typeface="Arial"/>
              </a:rPr>
              <a:t>NEXT STEPS</a:t>
            </a:r>
          </a:p>
        </p:txBody>
      </p:sp>
      <p:sp>
        <p:nvSpPr>
          <p:cNvPr id="5" name="TextBox 4"/>
          <p:cNvSpPr txBox="1"/>
          <p:nvPr/>
        </p:nvSpPr>
        <p:spPr>
          <a:xfrm>
            <a:off x="502920" y="1920240"/>
            <a:ext cx="11185855" cy="4572000"/>
          </a:xfrm>
          <a:prstGeom prst="rect">
            <a:avLst/>
          </a:prstGeom>
          <a:noFill/>
        </p:spPr>
        <p:txBody>
          <a:bodyPr wrap="square">
            <a:spAutoFit/>
          </a:bodyPr>
          <a:lstStyle/>
          <a:p>
            <a:pPr>
              <a:spcAft>
                <a:spcPts val="1000"/>
              </a:spcAft>
            </a:pPr>
            <a:r>
              <a:rPr sz="1600" b="1">
                <a:solidFill>
                  <a:srgbClr val="2251FF"/>
                </a:solidFill>
                <a:latin typeface="Arial"/>
              </a:rPr>
              <a:t>1.  </a:t>
            </a:r>
            <a:r>
              <a:rPr sz="1600" b="1">
                <a:solidFill>
                  <a:srgbClr val="1A1A1A"/>
                </a:solidFill>
                <a:latin typeface="Arial"/>
              </a:rPr>
              <a:t>Engineering: </a:t>
            </a:r>
            <a:r>
              <a:rPr sz="1600">
                <a:solidFill>
                  <a:srgbClr val="1A1A1A"/>
                </a:solidFill>
                <a:latin typeface="Arial"/>
              </a:rPr>
              <a:t>fix the Android exposure event lost since the 2026-09-05 release (about 3,085 treatment users missing)</a:t>
            </a:r>
          </a:p>
          <a:p>
            <a:pPr>
              <a:spcAft>
                <a:spcPts val="1000"/>
              </a:spcAft>
            </a:pPr>
            <a:r>
              <a:rPr sz="1600" b="1">
                <a:solidFill>
                  <a:srgbClr val="2251FF"/>
                </a:solidFill>
                <a:latin typeface="Arial"/>
              </a:rPr>
              <a:t>2.  </a:t>
            </a:r>
            <a:r>
              <a:rPr sz="1600">
                <a:solidFill>
                  <a:srgbClr val="1A1A1A"/>
                </a:solidFill>
                <a:latin typeface="Arial"/>
              </a:rPr>
              <a:t>Re-extract exposures from server-side assignment logs and rerun this workflow on the corrected data</a:t>
            </a:r>
          </a:p>
          <a:p>
            <a:pPr>
              <a:spcAft>
                <a:spcPts val="1000"/>
              </a:spcAft>
            </a:pPr>
            <a:r>
              <a:rPr sz="1600" b="1">
                <a:solidFill>
                  <a:srgbClr val="2251FF"/>
                </a:solidFill>
                <a:latin typeface="Arial"/>
              </a:rPr>
              <a:t>3.  </a:t>
            </a:r>
            <a:r>
              <a:rPr sz="1600">
                <a:solidFill>
                  <a:srgbClr val="1A1A1A"/>
                </a:solidFill>
                <a:latin typeface="Arial"/>
              </a:rPr>
              <a:t>If the logs cannot be repaired, rerun the test for two full weeks after the fix</a:t>
            </a:r>
          </a:p>
          <a:p>
            <a:pPr>
              <a:spcAft>
                <a:spcPts val="1000"/>
              </a:spcAft>
            </a:pPr>
            <a:r>
              <a:rPr sz="1600" b="1">
                <a:solidFill>
                  <a:srgbClr val="2251FF"/>
                </a:solidFill>
                <a:latin typeface="Arial"/>
              </a:rPr>
              <a:t>4.  </a:t>
            </a:r>
            <a:r>
              <a:rPr sz="1600">
                <a:solidFill>
                  <a:srgbClr val="1A1A1A"/>
                </a:solidFill>
                <a:latin typeface="Arial"/>
              </a:rPr>
              <a:t>Add an automated daily SRM alert (by platform) to the experiment dashboard</a:t>
            </a:r>
          </a:p>
        </p:txBody>
      </p:sp>
      <p:sp>
        <p:nvSpPr>
          <p:cNvPr id="6" name="Rectangle 5"/>
          <p:cNvSpPr/>
          <p:nvPr/>
        </p:nvSpPr>
        <p:spPr>
          <a:xfrm>
            <a:off x="502920" y="6327648"/>
            <a:ext cx="11185855" cy="6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0"/>
            <a:ext cx="9875520" cy="320040"/>
          </a:xfrm>
          <a:prstGeom prst="rect">
            <a:avLst/>
          </a:prstGeom>
          <a:noFill/>
        </p:spPr>
        <p:txBody>
          <a:bodyPr wrap="square" anchor="t" lIns="18288" rIns="18288" tIns="18288" bIns="18288">
            <a:spAutoFit/>
          </a:bodyPr>
          <a:lstStyle/>
          <a:p>
            <a:pPr algn="l"/>
            <a:r>
              <a:rPr sz="900" b="0">
                <a:solidFill>
                  <a:srgbClr val="8C8C8C"/>
                </a:solidFill>
                <a:latin typeface="Arial"/>
              </a:rPr>
              <a:t>Source: srm_broken.csv, 2026-09-01 to 2026-09-14; run 2026-10-01_onboarding-checklist</a:t>
            </a:r>
          </a:p>
        </p:txBody>
      </p:sp>
      <p:sp>
        <p:nvSpPr>
          <p:cNvPr id="8" name="TextBox 7"/>
          <p:cNvSpPr txBox="1"/>
          <p:nvPr/>
        </p:nvSpPr>
        <p:spPr>
          <a:xfrm>
            <a:off x="10957255" y="6400800"/>
            <a:ext cx="731520" cy="320040"/>
          </a:xfrm>
          <a:prstGeom prst="rect">
            <a:avLst/>
          </a:prstGeom>
          <a:noFill/>
        </p:spPr>
        <p:txBody>
          <a:bodyPr wrap="square" anchor="t" lIns="18288" rIns="18288" tIns="18288" bIns="18288">
            <a:spAutoFit/>
          </a:bodyPr>
          <a:lstStyle/>
          <a:p>
            <a:pPr algn="r"/>
            <a:r>
              <a:rPr sz="900" b="0">
                <a:solidFill>
                  <a:srgbClr val="8C8C8C"/>
                </a:solidFill>
                <a:latin typeface="Arial"/>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